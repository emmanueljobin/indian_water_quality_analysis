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 id="271" r:id="rIdSlide16"/>
    <p:sldId id="272" r:id="rIdSlide17"/>
    <p:sldId id="273" r:id="rIdSlide18"/>
  </p:sldIdLst>
  <p:sldSz cx="9144000" cy="5143500" type="screen16x9"/>
  <p:notesSz cx="6858000" cy="9144000"/>
  <p:defaultTextStyle>
    <a:defPPr>
      <a:defRPr lang="en-US"/>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3" autoAdjust="0"/>
    <p:restoredTop sz="94694" autoAdjust="0"/>
  </p:normalViewPr>
  <p:slideViewPr>
    <p:cSldViewPr snapToGrid="0" snapToObjects="1">
      <p:cViewPr varScale="1">
        <p:scale>
          <a:sx n="161" d="100"/>
          <a:sy n="161" d="100"/>
        </p:scale>
        <p:origin x="560" y="200"/>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 Id="rIdSlide16" Type="http://schemas.openxmlformats.org/officeDocument/2006/relationships/slide" Target="slides/slide16.xml"/><Relationship Id="rIdSlide17" Type="http://schemas.openxmlformats.org/officeDocument/2006/relationships/slide" Target="slides/slide17.xml"/><Relationship Id="rIdSlide18"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sz="1100" b="1" dirty="0"/>
              <a:t>[Slide 1 — Title Slide]</a:t>
            </a:r>
          </a:p>
          <a:p>
            <a:r>
              <a:rPr lang="en-US" sz="1100" b="0" dirty="0"/>
              <a:t>What to say: Good morning/afternoon Professor and classmates. My name is Emmanuel Jobin (Register Number 2026EMAI20054). Today I am presenting my DSC 513 Introduction to Data Science mini project titled 'Geographic and Seasonal Analysis of Surface Water Quality in India Using CPCB Monitoring Data'.</a:t>
            </a:r>
          </a:p>
          <a:p>
            <a:r>
              <a:rPr lang="en-US" sz="1100" b="0" dirty="0"/>
              <a:t>Project Scope: This study uses R and R Markdown to inspect, clean, analyze, and model 315 official CPCB/NWDP CSV files (311,379 raw rows consolidated into 109,422 station-date records across 4,017 stations in 36 States/UTs) alongside a supplementary 1,990-row historical Kaggle dataset (2003–2014).</a:t>
            </a:r>
          </a:p>
          <a:p>
            <a:r>
              <a:rPr lang="en-US" sz="1100" b="0" dirty="0"/>
              <a:t>Likely Lecturer Question: Why did you choose surface water quality in India? -&gt; Because CPCB monitors thousands of river and lake stations nationwide, providing a rich, real-world multi-file dataset with realistic data-quality challenges (encoding, OCR errors, missing values, skewed distributions) ideal for demonstrating an end-to-end R data science workflow.</a:t>
            </a:r>
          </a:p>
        </p:txBody>
      </p:sp>
      <p:sp>
        <p:nvSpPr>
          <p:cNvPr id="4" name="Slide Number Placeholder 3"/>
          <p:cNvSpPr>
            <a:spLocks noGrp="1"/>
          </p:cNvSpPr>
          <p:nvPr>
            <p:ph type="sldNum" sz="quarter" idx="10"/>
          </p:nvPr>
        </p:nvSpPr>
        <p:spPr/>
        <p:txBody>
          <a:bodyPr/>
          <a:lstStyle/>
          <a:p>
            <a:r>
              <a:rPr lang="en-US"/>
              <a:t>1</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sz="1100" b="1" dirty="0"/>
              <a:t>[Slide 2 — Introduction and Motivation]</a:t>
            </a:r>
          </a:p>
          <a:p>
            <a:r>
              <a:rPr lang="en-US" sz="1100" b="0" dirty="0"/>
              <a:t>What to say: Surface-water quality measures the suitability of rivers and lakes for aquatic ecosystems and human use. We focus on four primary CPCB indicators: Dissolved Oxygen (DO), Biochemical Oxygen Demand (BOD), pH, and Electrical Conductivity (EC).</a:t>
            </a:r>
          </a:p>
          <a:p>
            <a:r>
              <a:rPr lang="en-US" sz="1100" b="0" dirty="0"/>
              <a:t>Why these four parameters: DO and BOD capture the oxygen balance of a river (healthy water needs DO &gt;= 4 mg/L and BOD &lt;= 3 mg/L), pH measures acid-base balance (6.5–8.5), and EC measures dissolved ionic load.</a:t>
            </a:r>
          </a:p>
          <a:p>
            <a:r>
              <a:rPr lang="en-US" sz="1100" b="0" dirty="0"/>
              <a:t>Why geographic and seasonal dimensions: Water quality is not uniform across India—it varies across states and shifts between low-flow summer months and high-flow monsoon months.</a:t>
            </a:r>
          </a:p>
          <a:p>
            <a:r>
              <a:rPr lang="en-US" sz="1100" b="0" dirty="0"/>
              <a:t>Likely Lecturer Question: Why are DO and BOD inversely related? -&gt; Because aerobic bacteria consume dissolved oxygen in the water column while breaking down organic sewage (measured by BOD).</a:t>
            </a:r>
          </a:p>
        </p:txBody>
      </p:sp>
      <p:sp>
        <p:nvSpPr>
          <p:cNvPr id="4" name="Slide Number Placeholder 3"/>
          <p:cNvSpPr>
            <a:spLocks noGrp="1"/>
          </p:cNvSpPr>
          <p:nvPr>
            <p:ph type="sldNum" sz="quarter" idx="10"/>
          </p:nvPr>
        </p:nvSpPr>
        <p:spPr/>
        <p:txBody>
          <a:bodyPr/>
          <a:lstStyle/>
          <a:p>
            <a:r>
              <a:rPr lang="en-US"/>
              <a:t>2</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sz="1100" b="1" dirty="0"/>
              <a:t>[Slide 3 — Problem Statement and Objectives]</a:t>
            </a:r>
          </a:p>
          <a:p>
            <a:r>
              <a:rPr lang="en-US" sz="1100" b="0" dirty="0"/>
              <a:t>What to say: Raw government monitoring files cannot be analyzed directly without careful auditing and preprocessing. We organized the project around 9 concrete objectives spanning data inspection, cleaning, exploratory analysis, non-parametric hypothesis testing, historical state-level comparison, and beginner-level linear regression.</a:t>
            </a:r>
          </a:p>
          <a:p>
            <a:r>
              <a:rPr lang="en-US" sz="1100" b="0" dirty="0"/>
              <a:t>Why state objectives as questions to investigate: In data science, we formulate clear analytical objectives first and let the empirical data determine the findings rather than assuming conclusions in advance.</a:t>
            </a:r>
          </a:p>
          <a:p>
            <a:r>
              <a:rPr lang="en-US" sz="1100" b="0" dirty="0"/>
              <a:t>Likely Lecturer Question: Why did you include both parametric (Mean/SD) and non-parametric (Median/IQR) statistics in Objective 3? -&gt; Because environmental variables like BOD and EC are heavily right-skewed, so the mean is pulled upward by extreme values whereas the median and IQR represent typical water conditions.</a:t>
            </a:r>
          </a:p>
        </p:txBody>
      </p:sp>
      <p:sp>
        <p:nvSpPr>
          <p:cNvPr id="4" name="Slide Number Placeholder 3"/>
          <p:cNvSpPr>
            <a:spLocks noGrp="1"/>
          </p:cNvSpPr>
          <p:nvPr>
            <p:ph type="sldNum" sz="quarter" idx="10"/>
          </p:nvPr>
        </p:nvSpPr>
        <p:spPr/>
        <p:txBody>
          <a:bodyPr/>
          <a:lstStyle/>
          <a:p>
            <a:r>
              <a:rPr lang="en-US"/>
              <a:t>3</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sz="1100" b="1" dirty="0"/>
              <a:t>[Slide 4 — Expected Analysis vs. Actual Findings]</a:t>
            </a:r>
          </a:p>
          <a:p>
            <a:r>
              <a:rPr lang="en-US" sz="1100" b="0" dirty="0"/>
              <a:t>What to say: This table summarizes what each research question was designed to investigate versus what we actually found in the data, along with the honest methodological limitations.</a:t>
            </a:r>
          </a:p>
          <a:p>
            <a:r>
              <a:rPr lang="en-US" sz="1100" b="1" dirty="0"/>
              <a:t>Key highlights to emphasize:</a:t>
            </a:r>
          </a:p>
          <a:p>
            <a:r>
              <a:rPr lang="en-US" sz="1100" b="0" dirty="0"/>
              <a:t>1. During file inspection, we discovered 1 biological CSV file misplaced inside the chemical folder, and 89 rows in Kaggle where pH was &gt; 14 due to column shifts in the raw archive.</a:t>
            </a:r>
          </a:p>
          <a:p>
            <a:r>
              <a:rPr lang="en-US" sz="1100" b="0" dirty="0"/>
              <a:t>2. In seasonal analysis, monsoon dilution lowers median BOD from 2.40 mg/L (Pre-Monsoon) to 2.10 mg/L (Monsoon), while median DO shifts slightly from 6.80 to 6.70 mg/L (p = 5.48e-24).</a:t>
            </a:r>
          </a:p>
          <a:p>
            <a:r>
              <a:rPr lang="en-US" sz="1100" b="0" dirty="0"/>
              <a:t>3. In linear regression, BOD has a statistically significant negative association with DO (slope = -0.1784), explaining 23.7% of test-set DO variance (Test RMSE = 1.6508 mg/L), which is a modest single-predictor fit.</a:t>
            </a:r>
          </a:p>
        </p:txBody>
      </p:sp>
      <p:sp>
        <p:nvSpPr>
          <p:cNvPr id="4" name="Slide Number Placeholder 3"/>
          <p:cNvSpPr>
            <a:spLocks noGrp="1"/>
          </p:cNvSpPr>
          <p:nvPr>
            <p:ph type="sldNum" sz="quarter" idx="10"/>
          </p:nvPr>
        </p:nvSpPr>
        <p:spPr/>
        <p:txBody>
          <a:bodyPr/>
          <a:lstStyle/>
          <a:p>
            <a:r>
              <a:rPr lang="en-US"/>
              <a:t>4</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sz="1100" b="1" dirty="0"/>
              <a:t>[Slide 5 — Dataset Description]</a:t>
            </a:r>
          </a:p>
          <a:p>
            <a:r>
              <a:rPr lang="en-US" sz="1100" b="0" dirty="0"/>
              <a:t>What to say: Our project uses two verified local datasets. The primary dataset consists of 315 official CPCB/NWDP CSV files totaling 311,379 raw rows across Physical (104 files), Chemical (106 files), and Biological (105 files) categories. Because the three category folders record different parameters for the same station and timestamp, consolidating them by (station, sample_datetime) produces 109,422 unique station-date observations across 22 columns.</a:t>
            </a:r>
          </a:p>
          <a:p>
            <a:r>
              <a:rPr lang="en-US" sz="1100" b="0" dirty="0"/>
              <a:t>Supplementary dataset: The Kaggle dataset (water_dataX.csv) has 1,991 raw rows (1,990 after removing 1 exact duplicate) and 12 columns covering 2003–2014.</a:t>
            </a:r>
          </a:p>
          <a:p>
            <a:r>
              <a:rPr lang="en-US" sz="1100" b="0" dirty="0"/>
              <a:t>Likely Lecturer Question: Why did 311,379 raw CPCB rows become 109,422 rows in the master table? -&gt; Because Physical, Chemical, and Biological measurements for the same station visit were stored in three separate category folders. Merging on station + timestamp aligns pH/EC, DO, and BOD into a single row per sampling event.</a:t>
            </a:r>
          </a:p>
        </p:txBody>
      </p:sp>
      <p:sp>
        <p:nvSpPr>
          <p:cNvPr id="4" name="Slide Number Placeholder 3"/>
          <p:cNvSpPr>
            <a:spLocks noGrp="1"/>
          </p:cNvSpPr>
          <p:nvPr>
            <p:ph type="sldNum" sz="quarter" idx="10"/>
          </p:nvPr>
        </p:nvSpPr>
        <p:spPr/>
        <p:txBody>
          <a:bodyPr/>
          <a:lstStyle/>
          <a:p>
            <a:r>
              <a:rPr lang="en-US"/>
              <a:t>5</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sz="1100" b="1" dirty="0"/>
              <a:t>[Slide 6 — Project Workflow]</a:t>
            </a:r>
          </a:p>
          <a:p>
            <a:r>
              <a:rPr lang="en-US" sz="1100" b="0" dirty="0"/>
              <a:t>What to say: Our workflow follows a modular, reproducible 7-stage pipeline: Data Loading -&gt; Inspection -&gt; Cleaning &amp; Preprocessing -&gt; Exploratory Data Analysis -&gt; Basic Linear Regression -&gt; Evaluation &amp; Sensitivity Checks -&gt; Conclusion.</a:t>
            </a:r>
          </a:p>
          <a:p>
            <a:r>
              <a:rPr lang="en-US" sz="1100" b="0" dirty="0"/>
              <a:t>Why modular scripts: Separating inspection (01_data_inspection.R), cleaning (02_data_cleaning.R), and analysis/modelling (03_exploratory_analysis.R and the .Rmd report) ensures that raw data are never overwritten and every number in the final HTML and PDF reports can be reproduced from scratch.</a:t>
            </a:r>
          </a:p>
        </p:txBody>
      </p:sp>
      <p:sp>
        <p:nvSpPr>
          <p:cNvPr id="4" name="Slide Number Placeholder 3"/>
          <p:cNvSpPr>
            <a:spLocks noGrp="1"/>
          </p:cNvSpPr>
          <p:nvPr>
            <p:ph type="sldNum" sz="quarter" idx="10"/>
          </p:nvPr>
        </p:nvSpPr>
        <p:spPr/>
        <p:txBody>
          <a:bodyPr/>
          <a:lstStyle/>
          <a:p>
            <a:r>
              <a:rPr lang="en-US"/>
              <a:t>6</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sz="1100" b="1" dirty="0"/>
              <a:t>[Slide 7 — Data Inspection and Quality Problems]</a:t>
            </a:r>
          </a:p>
          <a:p>
            <a:r>
              <a:rPr lang="en-US" sz="1100" b="0" dirty="0"/>
              <a:t>What to say: Before cleaning, we audited all files and documented seven concrete data-quality problems. On the left table, you can see the exact counts; on the right, Figure 1 shows parameter-wise missingness in the CPCB Master table.</a:t>
            </a:r>
          </a:p>
          <a:p>
            <a:r>
              <a:rPr lang="en-US" sz="1100" b="0" dirty="0"/>
              <a:t>Critical example to highlight: In the Kaggle dataset, 89 rows had pH values between 69 and 748 because conductivity values were shifted into the pH column in the raw source. Before cleaning, those 89 rows inflated the mean pH to an impossible 27.68! Similarly, in CPCB, pH (1.9% missing), DO (11.4% missing), and BOD (23.0% missing) have strong coverage, whereas Electrical Conductivity is 56.0% missing and trace heavy metals exceed 60% missing.</a:t>
            </a:r>
          </a:p>
          <a:p>
            <a:r>
              <a:rPr lang="en-US" sz="1100" b="0" dirty="0"/>
              <a:t>Likely Lecturer Question: Why did you keep DO = 0 mg/L (98 rows) while removing DO &gt; 25 mg/L (11 rows)? -&gt; Because DO = 0 mg/L is physically real in anoxic, heavily polluted sewage stretches, whereas DO &gt; 25 mg/L is physically impossible under open-air surface water conditions.</a:t>
            </a:r>
          </a:p>
        </p:txBody>
      </p:sp>
      <p:sp>
        <p:nvSpPr>
          <p:cNvPr id="4" name="Slide Number Placeholder 3"/>
          <p:cNvSpPr>
            <a:spLocks noGrp="1"/>
          </p:cNvSpPr>
          <p:nvPr>
            <p:ph type="sldNum" sz="quarter" idx="10"/>
          </p:nvPr>
        </p:nvSpPr>
        <p:spPr/>
        <p:txBody>
          <a:bodyPr/>
          <a:lstStyle/>
          <a:p>
            <a:r>
              <a:rPr lang="en-US"/>
              <a:t>7</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sz="1100" b="1" dirty="0"/>
              <a:t>[Slide 8 — Data Cleaning and Preprocessing]</a:t>
            </a:r>
          </a:p>
          <a:p>
            <a:r>
              <a:rPr lang="en-US" sz="1100" b="0" dirty="0"/>
              <a:t>What to say: This slide explains the exact R implementation of our cleaning pipeline and shows the visual proof of its impact.</a:t>
            </a:r>
          </a:p>
          <a:p>
            <a:r>
              <a:rPr lang="en-US" sz="1100" b="0" dirty="0"/>
              <a:t>Code explanation: First, we strip whitespace and convert string placeholders like 'NAN' or '-' into proper R NA values before calling as.numeric(). Second, using ifelse(), we set physically impossible values (such as pH &lt; 0 or &gt; 14, and DO &gt; 25 mg/L) to NA_real_ instead of dropping the entire row. That way, a station visit with a corrupted pH reading still contributes its valid DO and BOD measurements.</a:t>
            </a:r>
          </a:p>
          <a:p>
            <a:r>
              <a:rPr lang="en-US" sz="1100" b="0" dirty="0"/>
              <a:t>Visual proof (Figure 2): The right plot shows Kaggle pH before and after range validation. Removing the 89 corrupted pH &gt; 14 values restores the distribution from an impossible range (up to 748) to a clean bell-shaped distribution centered at Mean = 7.23 (Median = 7.30).</a:t>
            </a:r>
          </a:p>
        </p:txBody>
      </p:sp>
      <p:sp>
        <p:nvSpPr>
          <p:cNvPr id="4" name="Slide Number Placeholder 3"/>
          <p:cNvSpPr>
            <a:spLocks noGrp="1"/>
          </p:cNvSpPr>
          <p:nvPr>
            <p:ph type="sldNum" sz="quarter" idx="10"/>
          </p:nvPr>
        </p:nvSpPr>
        <p:spPr/>
        <p:txBody>
          <a:bodyPr/>
          <a:lstStyle/>
          <a:p>
            <a:r>
              <a:rPr lang="en-US"/>
              <a:t>8</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sz="1100" b="1" dirty="0"/>
              <a:t>[Slide 9 — Exploratory Data Analysis: Distributions]</a:t>
            </a:r>
          </a:p>
          <a:p>
            <a:r>
              <a:rPr lang="en-US" sz="1100" b="0" dirty="0"/>
              <a:t>What to say: We examined the distributions of all four primary parameters using both parametric (Mean, SD) and non-parametric (Median, IQR) metrics.</a:t>
            </a:r>
          </a:p>
          <a:p>
            <a:r>
              <a:rPr lang="en-US" sz="1100" b="0" dirty="0"/>
              <a:t>Key insight: Look at BOD in the table: its Median is 2.30 mg/L (within the 3.0 mg/L CPCB Class C threshold), but its Mean is 5.76 mg/L (more than double the median!) with a standard deviation of 16.26 mg/L. Similarly, Electrical Conductivity has a median of 395 uS/cm but a mean of 3,474.5 uS/cm due to estuarine and industrial brines. This severe right-skewness is why we plot BOD and EC on a log10 scale in Figure 3 and use non-parametric rank tests for inference.</a:t>
            </a:r>
          </a:p>
        </p:txBody>
      </p:sp>
      <p:sp>
        <p:nvSpPr>
          <p:cNvPr id="4" name="Slide Number Placeholder 3"/>
          <p:cNvSpPr>
            <a:spLocks noGrp="1"/>
          </p:cNvSpPr>
          <p:nvPr>
            <p:ph type="sldNum" sz="quarter" idx="10"/>
          </p:nvPr>
        </p:nvSpPr>
        <p:spPr/>
        <p:txBody>
          <a:bodyPr/>
          <a:lstStyle/>
          <a:p>
            <a:r>
              <a:rPr lang="en-US"/>
              <a:t>9</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sz="1100" b="1" dirty="0"/>
              <a:t>[Slide 10 — Geographic and Seasonal Analysis]</a:t>
            </a:r>
          </a:p>
          <a:p>
            <a:r>
              <a:rPr lang="en-US" sz="1100" b="0" dirty="0"/>
              <a:t>What to say: This slide presents our geographic and seasonal analyses. On the left (Figure 7), state-wise boxplots show that while most states maintain median DO above 6.0 mg/L, industrialized states like Maharashtra and Telangana experience frequent hypoxic drops below the 4.0 mg/L threshold. A Kruskal-Wallis test across the top 6 states confirms highly significant differences in BOD (Chi-squared = 11,725.65, p &lt; 2.2e-16).</a:t>
            </a:r>
          </a:p>
          <a:p>
            <a:r>
              <a:rPr lang="en-US" sz="1100" b="0" dirty="0"/>
              <a:t>On the right (Figure 8), seasonal BOD boxplots show that Southwest Monsoon rainfall (June–September) dilutes organic waste, lowering median BOD from 2.40 mg/L in Pre-Monsoon to 2.10 mg/L in Monsoon. Meanwhile, the Wilcoxon Rank-Sum test on DO between Pre-Monsoon (6.80 mg/L) and Monsoon (6.70 mg/L) is statistically significant (W = 3.61e8, p = 5.48e-24).</a:t>
            </a:r>
          </a:p>
          <a:p>
            <a:r>
              <a:rPr lang="en-US" sz="1100" b="0" dirty="0"/>
              <a:t>Important limitation to mention: Because the Kaggle dataset only contains annual summaries without sampling months, seasonal analysis is performed exclusively on the timestamped CPCB dataset.</a:t>
            </a:r>
          </a:p>
        </p:txBody>
      </p:sp>
      <p:sp>
        <p:nvSpPr>
          <p:cNvPr id="4" name="Slide Number Placeholder 3"/>
          <p:cNvSpPr>
            <a:spLocks noGrp="1"/>
          </p:cNvSpPr>
          <p:nvPr>
            <p:ph type="sldNum" sz="quarter" idx="10"/>
          </p:nvPr>
        </p:nvSpPr>
        <p:spPr/>
        <p:txBody>
          <a:bodyPr/>
          <a:lstStyle/>
          <a:p>
            <a:r>
              <a:rPr lang="en-US"/>
              <a:t>10</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sz="1100" b="1" dirty="0"/>
              <a:t>[Slide 11 — Relationships Between Water-Quality Variables]</a:t>
            </a:r>
          </a:p>
          <a:p>
            <a:r>
              <a:rPr lang="en-US" sz="1100" b="0" dirty="0"/>
              <a:t>What to say: Next, we examined how water-quality parameters interact. Figure 9 plots Dissolved Oxygen against BOD across the CPCB archive. It shows a clear inverse relationship: when BOD is low (&lt;= 3 mg/L), DO is healthy (6–9 mg/L), but as BOD exceeds 10 mg/L, DO drops steeply toward hypoxia.</a:t>
            </a:r>
          </a:p>
          <a:p>
            <a:r>
              <a:rPr lang="en-US" sz="1100" b="0" dirty="0"/>
              <a:t>Figure 10 displays the Spearman rank correlation matrix: DO and BOD have rho = -0.34, Conductivity and BOD have rho = +0.25, and pH and DO have rho = +0.12.</a:t>
            </a:r>
          </a:p>
          <a:p>
            <a:r>
              <a:rPr lang="en-US" sz="1100" b="0" dirty="0"/>
              <a:t>Correlation vs. Causation: We explicitly note that correlation in observational monitoring data measures statistical association, not causation, because confounding factors like water temperature, flow rate, and industrial mixing also affect oxygen levels.</a:t>
            </a:r>
          </a:p>
        </p:txBody>
      </p:sp>
      <p:sp>
        <p:nvSpPr>
          <p:cNvPr id="4" name="Slide Number Placeholder 3"/>
          <p:cNvSpPr>
            <a:spLocks noGrp="1"/>
          </p:cNvSpPr>
          <p:nvPr>
            <p:ph type="sldNum" sz="quarter" idx="10"/>
          </p:nvPr>
        </p:nvSpPr>
        <p:spPr/>
        <p:txBody>
          <a:bodyPr/>
          <a:lstStyle/>
          <a:p>
            <a:r>
              <a:rPr lang="en-US"/>
              <a:t>11</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sz="1100" b="1" dirty="0"/>
              <a:t>[Slide 12 — Why Use Machine Learning?]</a:t>
            </a:r>
          </a:p>
          <a:p>
            <a:r>
              <a:rPr lang="en-US" sz="1100" b="0" dirty="0"/>
              <a:t>What to say: In Section 7 of our report, we introduce a beginner-level machine learning model using Simple Linear Regression. A regression model learns a relationship from training data to predict a continuous target variable from a predictor variable.</a:t>
            </a:r>
          </a:p>
          <a:p>
            <a:r>
              <a:rPr lang="en-US" sz="1100" b="0" dirty="0"/>
              <a:t>Why DO from BOD: Measuring 5-day BOD in a laboratory takes 5 days of incubation, whereas understanding how organic load relates to Dissolved Oxygen is central to water quality management. Both variables are numeric and measured in mg/L.</a:t>
            </a:r>
          </a:p>
          <a:p>
            <a:r>
              <a:rPr lang="en-US" sz="1100" b="0" dirty="0"/>
              <a:t>Why an 80:20 train-test split: If we evaluate a model on the same data used to fit it, we risk overfitting. Holding out 20% of the data as a test set lets us measure true out-of-sample prediction error.</a:t>
            </a:r>
          </a:p>
        </p:txBody>
      </p:sp>
      <p:sp>
        <p:nvSpPr>
          <p:cNvPr id="4" name="Slide Number Placeholder 3"/>
          <p:cNvSpPr>
            <a:spLocks noGrp="1"/>
          </p:cNvSpPr>
          <p:nvPr>
            <p:ph type="sldNum" sz="quarter" idx="10"/>
          </p:nvPr>
        </p:nvSpPr>
        <p:spPr/>
        <p:txBody>
          <a:bodyPr/>
          <a:lstStyle/>
          <a:p>
            <a:r>
              <a:rPr lang="en-US"/>
              <a:t>12</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sz="1100" b="1" dirty="0"/>
              <a:t>[Slide 13 — Linear Regression: Model and Code]</a:t>
            </a:r>
          </a:p>
          <a:p>
            <a:r>
              <a:rPr lang="en-US" sz="1100" b="0" dirty="0"/>
              <a:t>What to say: Here is the exact R code used to train and test our linear regression model. First, we filter for non-missing DO and BOD pairs with BOD &lt;= 50 mg/L. Second, we set set.seed(513) and sample 80% of indices for train_data and keep the remaining 20% in test_data.</a:t>
            </a:r>
          </a:p>
          <a:p>
            <a:r>
              <a:rPr lang="en-US" sz="1100" b="0" dirty="0"/>
              <a:t>How lm() and predict() work: lm(dissolved_oxygen_mg_l ~ bod_mg_l, data = train_data) estimates the intercept (7.0745 mg/L) and slope (-0.1784 mg/L per mg/L of BOD) using only the training set. Then predict(do_lm_model, newdata = test_data) computes the predicted DO values for the 15,974 unseen test rows.</a:t>
            </a:r>
          </a:p>
          <a:p>
            <a:r>
              <a:rPr lang="en-US" sz="1100" b="0" dirty="0"/>
              <a:t>Likely Lecturer Question: Why did you pass newdata = test_data inside predict()? -&gt; Because omitting newdata would return fitted values on the training set instead of evaluating predictions on the held-out test set.</a:t>
            </a:r>
          </a:p>
        </p:txBody>
      </p:sp>
      <p:sp>
        <p:nvSpPr>
          <p:cNvPr id="4" name="Slide Number Placeholder 3"/>
          <p:cNvSpPr>
            <a:spLocks noGrp="1"/>
          </p:cNvSpPr>
          <p:nvPr>
            <p:ph type="sldNum" sz="quarter" idx="10"/>
          </p:nvPr>
        </p:nvSpPr>
        <p:spPr/>
        <p:txBody>
          <a:bodyPr/>
          <a:lstStyle/>
          <a:p>
            <a:r>
              <a:rPr lang="en-US"/>
              <a:t>13</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sz="1100" b="1" dirty="0"/>
              <a:t>[Slide 14 — Training, Testing, and Model Evaluation]</a:t>
            </a:r>
          </a:p>
          <a:p>
            <a:r>
              <a:rPr lang="en-US" sz="1100" b="0" dirty="0"/>
              <a:t>What to say: This slide summarizes all verified numbers from our model evaluation. Out of 80,223 complete (DO, BOD) pairs, applying our analytical cutoff of BOD &lt;= 50 mg/L retains 79,867 pairs (99.56%), split into 63,893 training rows and 15,974 testing rows.</a:t>
            </a:r>
          </a:p>
          <a:p>
            <a:r>
              <a:rPr lang="en-US" sz="1100" b="0" dirty="0"/>
              <a:t>How to explain the metrics: On the unseen test set, the model achieves Test R² = 0.2370 (explaining 23.7% of DO variance), Test RMSE = 1.6508 mg/L, and Test MAE = 1.1750 mg/L. Notice that Train R² (0.2499) and Test R² (0.2370) match closely, confirming zero overfitting. However, we describe this accuracy as modest rather than high because a single variable (BOD) cannot capture physical factors like water temperature or river turbulence.</a:t>
            </a:r>
          </a:p>
        </p:txBody>
      </p:sp>
      <p:sp>
        <p:nvSpPr>
          <p:cNvPr id="4" name="Slide Number Placeholder 3"/>
          <p:cNvSpPr>
            <a:spLocks noGrp="1"/>
          </p:cNvSpPr>
          <p:nvPr>
            <p:ph type="sldNum" sz="quarter" idx="10"/>
          </p:nvPr>
        </p:nvSpPr>
        <p:spPr/>
        <p:txBody>
          <a:bodyPr/>
          <a:lstStyle/>
          <a:p>
            <a:r>
              <a:rPr lang="en-US"/>
              <a:t>14</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sz="1100" b="1" dirty="0"/>
              <a:t>[Slide 15 — Actual vs. Predicted Values]</a:t>
            </a:r>
          </a:p>
          <a:p>
            <a:r>
              <a:rPr lang="en-US" sz="1100" b="0" dirty="0"/>
              <a:t>What to say: Figure 12 compares Actual Dissolved Oxygen on the horizontal axis against Predicted Dissolved Oxygen on the vertical axis for all 15,974 test-set observations.</a:t>
            </a:r>
          </a:p>
          <a:p>
            <a:r>
              <a:rPr lang="en-US" sz="1100" b="1" dirty="0"/>
              <a:t>Key features to point out to the lecturer:</a:t>
            </a:r>
          </a:p>
          <a:p>
            <a:r>
              <a:rPr lang="en-US" sz="1100" b="0" dirty="0"/>
              <a:t>1. The dashed orange line is the 1:1 reference line where Predicted DO equals Actual DO.</a:t>
            </a:r>
          </a:p>
          <a:p>
            <a:r>
              <a:rPr lang="en-US" sz="1100" b="0" dirty="0"/>
              <a:t>2. Notice the flat horizontal ceiling at Y = 7.07 mg/L: because BOD cannot be negative and our slope is negative (-0.1784), the highest possible prediction from 7.0745 - 0.1784 * BOD occurs when BOD = 0, giving 7.0745 mg/L. That visually explains why a single linear predictor cannot predict supersaturated DO values above 7.1 mg/L.</a:t>
            </a:r>
          </a:p>
        </p:txBody>
      </p:sp>
      <p:sp>
        <p:nvSpPr>
          <p:cNvPr id="4" name="Slide Number Placeholder 3"/>
          <p:cNvSpPr>
            <a:spLocks noGrp="1"/>
          </p:cNvSpPr>
          <p:nvPr>
            <p:ph type="sldNum" sz="quarter" idx="10"/>
          </p:nvPr>
        </p:nvSpPr>
        <p:spPr/>
        <p:txBody>
          <a:bodyPr/>
          <a:lstStyle/>
          <a:p>
            <a:r>
              <a:rPr lang="en-US"/>
              <a:t>15</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sz="1100" b="1" dirty="0"/>
              <a:t>[Slide 16 — Sensitivity Checks and Limitations]</a:t>
            </a:r>
          </a:p>
          <a:p>
            <a:r>
              <a:rPr lang="en-US" sz="1100" b="0" dirty="0"/>
              <a:t>What to say: We performed two important sensitivity checks to test the assumptions of our primary regression model.</a:t>
            </a:r>
          </a:p>
          <a:p>
            <a:r>
              <a:rPr lang="en-US" sz="1100" b="0" dirty="0"/>
              <a:t>First, in Sensitivity Check 1, we fitted the exact same model on all 80,223 complete pairs without the BOD &lt;= 50 mg/L cutoff. Including the 356 extreme observations (0.44% of the data, where BOD reaches up to 486 mg/L) flattens the slope by more than half (from -0.1784 to -0.0849) and lowers Test R² from 0.2370 to 0.1598. Why? Because Dissolved Oxygen cannot physically drop below 0 mg/L, so extreme BOD points sit along a flat floor near zero and pull the linear OLS line upward.</a:t>
            </a:r>
          </a:p>
          <a:p>
            <a:r>
              <a:rPr lang="en-US" sz="1100" b="0" dirty="0"/>
              <a:t>Second, in Sensitivity Check 2, we addressed station-level data leakage by splitting the 2,978 distinct stations 80:20 (2,382 training stations vs. 596 unseen test stations). The slope (-0.1719) and intercept (7.0576) remain nearly identical, with Test RMSE = 1.5429 mg/L and Test R² = 0.3369, showing that the linear relationship generalizes across stations.</a:t>
            </a:r>
          </a:p>
        </p:txBody>
      </p:sp>
      <p:sp>
        <p:nvSpPr>
          <p:cNvPr id="4" name="Slide Number Placeholder 3"/>
          <p:cNvSpPr>
            <a:spLocks noGrp="1"/>
          </p:cNvSpPr>
          <p:nvPr>
            <p:ph type="sldNum" sz="quarter" idx="10"/>
          </p:nvPr>
        </p:nvSpPr>
        <p:spPr/>
        <p:txBody>
          <a:bodyPr/>
          <a:lstStyle/>
          <a:p>
            <a:r>
              <a:rPr lang="en-US"/>
              <a:t>16</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sz="1100" b="1" dirty="0"/>
              <a:t>[Slide 17 — Key Findings and Conclusion]</a:t>
            </a:r>
          </a:p>
          <a:p>
            <a:r>
              <a:rPr lang="en-US" sz="1100" b="0" dirty="0"/>
              <a:t>What to say: To conclude, we separate our findings into descriptive/inferential conclusions on the left and predictive machine learning conclusions on the right. Every objective stated at the start of the report was empirically tested and verified.</a:t>
            </a:r>
          </a:p>
          <a:p>
            <a:r>
              <a:rPr lang="en-US" sz="1100" b="0" dirty="0"/>
              <a:t>Key takeaway: While 90.8% of CPCB surface-water samples meet the basic Class C oxygen threshold (&gt;= 4.0 mg/L), localized organic pollution pockets create severe right-skewed BOD spikes. Simple Linear Regression captures the negative association between BOD and DO (explaining 23.7% of variance with RMSE = 1.65 mg/L), while highlighting why multi-parameter non-linear models are needed for higher accuracy.</a:t>
            </a:r>
          </a:p>
        </p:txBody>
      </p:sp>
      <p:sp>
        <p:nvSpPr>
          <p:cNvPr id="4" name="Slide Number Placeholder 3"/>
          <p:cNvSpPr>
            <a:spLocks noGrp="1"/>
          </p:cNvSpPr>
          <p:nvPr>
            <p:ph type="sldNum" sz="quarter" idx="10"/>
          </p:nvPr>
        </p:nvSpPr>
        <p:spPr/>
        <p:txBody>
          <a:bodyPr/>
          <a:lstStyle/>
          <a:p>
            <a:r>
              <a:rPr lang="en-US"/>
              <a:t>17</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sz="1100" b="1" dirty="0"/>
              <a:t>[Slide 18 — Future Improvements and References]</a:t>
            </a:r>
          </a:p>
          <a:p>
            <a:r>
              <a:rPr lang="en-US" sz="1100" b="0" dirty="0"/>
              <a:t>What to say: Finally, Slide 18 outlines four practical directions for future work—adding physical predictors like water temperature, using non-linear models that respect the zero-DO floor, applying basin/time-blocked cross-validation, and automating QA checks—alongside our verified data sources and regulatory references.</a:t>
            </a:r>
          </a:p>
          <a:p>
            <a:r>
              <a:rPr lang="en-US" sz="1100" b="0" dirty="0"/>
              <a:t>Closing statement: Thank you for your attention. I am happy to answer any questions and demonstrate the live R Markdown code or rendered HTML/PDF reports.</a:t>
            </a:r>
          </a:p>
        </p:txBody>
      </p:sp>
      <p:sp>
        <p:nvSpPr>
          <p:cNvPr id="4" name="Slide Number Placeholder 3"/>
          <p:cNvSpPr>
            <a:spLocks noGrp="1"/>
          </p:cNvSpPr>
          <p:nvPr>
            <p:ph type="sldNum" sz="quarter" idx="10"/>
          </p:nvPr>
        </p:nvSpPr>
        <p:spPr/>
        <p:txBody>
          <a:bodyPr/>
          <a:lstStyle/>
          <a:p>
            <a:r>
              <a:rPr lang="en-US"/>
              <a:t>18</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s7_01_missingness_overview.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s8_09_cleaning_before_after_ph.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s9_11_four_parameter_distributions.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s10_04_state_dissolved_oxygen_boxplot.png"/><Relationship Id="rId4" Type="http://schemas.openxmlformats.org/officeDocument/2006/relationships/image" Target="../media/s10_05_seasonal_bod_variation.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s11_08_do_vs_bod_relationship.png"/><Relationship Id="rId4" Type="http://schemas.openxmlformats.org/officeDocument/2006/relationships/image" Target="../media/s11_06_correlation_matrix.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s15_12_linear_regression_actual_vs_predicted.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2"/>
          <p:cNvSpPr/>
          <p:nvPr/>
        </p:nvSpPr>
        <p:spPr>
          <a:xfrm>
            <a:off x="0" y="0"/>
            <a:ext cx="9144000" cy="5143500"/>
          </a:xfrm>
          <a:prstGeom prst="rect">
            <a:avLst/>
          </a:prstGeom>
          <a:solidFill>
            <a:srgbClr val="0F2342"/>
          </a:solidFill>
          <a:ln>
            <a:noFill/>
          </a:ln>
        </p:spPr>
      </p:sp>
      <p:sp>
        <p:nvSpPr>
          <p:cNvPr id="3" name="Rect 3"/>
          <p:cNvSpPr/>
          <p:nvPr/>
        </p:nvSpPr>
        <p:spPr>
          <a:xfrm>
            <a:off x="0" y="0"/>
            <a:ext cx="256032" cy="5143500"/>
          </a:xfrm>
          <a:prstGeom prst="rect">
            <a:avLst/>
          </a:prstGeom>
          <a:solidFill>
            <a:srgbClr val="007A78"/>
          </a:solidFill>
          <a:ln>
            <a:noFill/>
          </a:ln>
        </p:spPr>
      </p:sp>
      <p:sp>
        <p:nvSpPr>
          <p:cNvPr id="4" name="Rect 4"/>
          <p:cNvSpPr/>
          <p:nvPr/>
        </p:nvSpPr>
        <p:spPr>
          <a:xfrm>
            <a:off x="256032" y="3310128"/>
            <a:ext cx="8887968" cy="36576"/>
          </a:xfrm>
          <a:prstGeom prst="rect">
            <a:avLst/>
          </a:prstGeom>
          <a:solidFill>
            <a:srgbClr val="007A78"/>
          </a:solidFill>
          <a:ln>
            <a:noFill/>
          </a:ln>
        </p:spPr>
      </p:sp>
      <p:sp>
        <p:nvSpPr>
          <p:cNvPr id="5" name="TextBox 5"/>
          <p:cNvSpPr txBox="1"/>
          <p:nvPr/>
        </p:nvSpPr>
        <p:spPr>
          <a:xfrm>
            <a:off x="685800" y="502920"/>
            <a:ext cx="8046720" cy="2697480"/>
          </a:xfrm>
          <a:prstGeom prst="rect">
            <a:avLst/>
          </a:prstGeom>
          <a:noFill/>
          <a:ln>
            <a:noFill/>
          </a:ln>
        </p:spPr>
        <p:txBody>
          <a:bodyPr wrap="square" lIns="73152" tIns="54864" rIns="73152" bIns="54864" anchor="t"/>
          <a:lstStyle/>
          <a:p>
            <a:pPr marL="0" indent="0" algn="l">
              <a:spcBef>
                <a:spcPts val="0"/>
              </a:spcBef>
              <a:spcAft>
                <a:spcPts val="1000"/>
              </a:spcAft>
              <a:buNone/>
            </a:pPr>
            <a:r>
              <a:rPr lang="en-US" sz="1100" b="1" i="0" dirty="0">
                <a:solidFill>
                  <a:srgbClr val="7FD4D2"/>
                </a:solidFill>
                <a:latin typeface="Calibri"/>
                <a:cs typeface="Calibri"/>
              </a:rPr>
              <a:t>DSC 513 – INTRODUCTION TO DATA SCIENCE MINI PROJECT</a:t>
            </a:r>
          </a:p>
          <a:p>
            <a:pPr marL="0" indent="0" algn="l">
              <a:spcBef>
                <a:spcPts val="0"/>
              </a:spcBef>
              <a:spcAft>
                <a:spcPts val="1200"/>
              </a:spcAft>
              <a:buNone/>
            </a:pPr>
            <a:r>
              <a:rPr lang="en-US" sz="2500" b="1" i="0" dirty="0">
                <a:solidFill>
                  <a:srgbClr val="FFFFFF"/>
                </a:solidFill>
                <a:latin typeface="Calibri"/>
                <a:cs typeface="Calibri"/>
              </a:rPr>
              <a:t>Geographic and Seasonal Analysis of Surface Water Quality in India Using CPCB Monitoring Data</a:t>
            </a:r>
          </a:p>
          <a:p>
            <a:pPr marL="0" indent="0" algn="l">
              <a:spcBef>
                <a:spcPts val="0"/>
              </a:spcBef>
              <a:spcAft>
                <a:spcPts val="600"/>
              </a:spcAft>
              <a:buNone/>
            </a:pPr>
            <a:r>
              <a:rPr lang="en-US" sz="1300" b="0" i="1" dirty="0">
                <a:solidFill>
                  <a:srgbClr val="DCE6F1"/>
                </a:solidFill>
                <a:latin typeface="Calibri"/>
                <a:cs typeface="Calibri"/>
              </a:rPr>
              <a:t>Data Cleaning, Exploratory Data Analysis, Non-Parametric Hypothesis Testing, Decadal Comparison, and Simple Linear Regression in R</a:t>
            </a:r>
          </a:p>
        </p:txBody>
      </p:sp>
      <p:sp>
        <p:nvSpPr>
          <p:cNvPr id="6" name="TextBox 6"/>
          <p:cNvSpPr txBox="1"/>
          <p:nvPr/>
        </p:nvSpPr>
        <p:spPr>
          <a:xfrm>
            <a:off x="685800" y="3493008"/>
            <a:ext cx="4663440" cy="1325880"/>
          </a:xfrm>
          <a:prstGeom prst="roundRect">
            <a:avLst>
              <a:gd name="adj" fmla="val 4000"/>
            </a:avLst>
          </a:prstGeom>
          <a:solidFill>
            <a:srgbClr val="162E52"/>
          </a:solidFill>
          <a:ln w="12700">
            <a:solidFill>
              <a:srgbClr val="2D4F7C"/>
            </a:solidFill>
          </a:ln>
        </p:spPr>
        <p:txBody>
          <a:bodyPr wrap="square" lIns="73152" tIns="54864" rIns="73152" bIns="54864" anchor="t"/>
          <a:lstStyle/>
          <a:p>
            <a:pPr marL="0" indent="0" algn="l">
              <a:spcBef>
                <a:spcPts val="0"/>
              </a:spcBef>
              <a:spcAft>
                <a:spcPts val="300"/>
              </a:spcAft>
              <a:buNone/>
            </a:pPr>
            <a:r>
              <a:rPr lang="en-US" sz="1000" b="1" i="0" dirty="0">
                <a:solidFill>
                  <a:srgbClr val="7FD4D2"/>
                </a:solidFill>
                <a:latin typeface="Calibri"/>
                <a:cs typeface="Calibri"/>
              </a:rPr>
              <a:t>Submitted By:</a:t>
            </a:r>
          </a:p>
          <a:p>
            <a:pPr marL="0" indent="0" algn="l">
              <a:spcBef>
                <a:spcPts val="0"/>
              </a:spcBef>
              <a:spcAft>
                <a:spcPts val="200"/>
              </a:spcAft>
              <a:buNone/>
            </a:pPr>
            <a:r>
              <a:rPr lang="en-US" sz="1600" b="1" i="0" dirty="0">
                <a:solidFill>
                  <a:srgbClr val="FFFFFF"/>
                </a:solidFill>
                <a:latin typeface="Calibri"/>
                <a:cs typeface="Calibri"/>
              </a:rPr>
              <a:t>Emmanuel Jobin</a:t>
            </a:r>
          </a:p>
          <a:p>
            <a:pPr marL="0" indent="0" algn="l">
              <a:spcBef>
                <a:spcPts val="0"/>
              </a:spcBef>
              <a:spcAft>
                <a:spcPts val="400"/>
              </a:spcAft>
              <a:buNone/>
            </a:pPr>
            <a:r>
              <a:rPr lang="en-US" sz="1200" b="1" i="0" dirty="0">
                <a:solidFill>
                  <a:srgbClr val="FCD34D"/>
                </a:solidFill>
                <a:latin typeface="Calibri"/>
                <a:cs typeface="Calibri"/>
              </a:rPr>
              <a:t>Register Number: 2026EMAI20054</a:t>
            </a:r>
          </a:p>
          <a:p>
            <a:pPr marL="0" indent="0" algn="l">
              <a:spcBef>
                <a:spcPts val="0"/>
              </a:spcBef>
              <a:spcAft>
                <a:spcPts val="200"/>
              </a:spcAft>
              <a:buNone/>
            </a:pPr>
            <a:r>
              <a:rPr lang="en-US" sz="1050" b="0" i="0" dirty="0">
                <a:solidFill>
                  <a:srgbClr val="E2E8F0"/>
                </a:solidFill>
                <a:latin typeface="Calibri"/>
                <a:cs typeface="Calibri"/>
              </a:rPr>
              <a:t>M.Tech in Data Science / Artificial Intelligence</a:t>
            </a:r>
          </a:p>
          <a:p>
            <a:pPr marL="0" indent="0" algn="l">
              <a:spcBef>
                <a:spcPts val="0"/>
              </a:spcBef>
              <a:spcAft>
                <a:spcPts val="400"/>
              </a:spcAft>
              <a:buNone/>
            </a:pPr>
            <a:r>
              <a:rPr lang="en-US" sz="1050" b="0" i="0" dirty="0">
                <a:solidFill>
                  <a:srgbClr val="E2E8F0"/>
                </a:solidFill>
                <a:latin typeface="Calibri"/>
                <a:cs typeface="Calibri"/>
              </a:rPr>
              <a:t>Indian Institute of Information Technology (IIIT) Kottayam</a:t>
            </a:r>
          </a:p>
        </p:txBody>
      </p:sp>
      <p:sp>
        <p:nvSpPr>
          <p:cNvPr id="7" name="TextBox 7"/>
          <p:cNvSpPr txBox="1"/>
          <p:nvPr/>
        </p:nvSpPr>
        <p:spPr>
          <a:xfrm>
            <a:off x="5532120" y="3493008"/>
            <a:ext cx="3154680" cy="1325880"/>
          </a:xfrm>
          <a:prstGeom prst="roundRect">
            <a:avLst>
              <a:gd name="adj" fmla="val 4000"/>
            </a:avLst>
          </a:prstGeom>
          <a:solidFill>
            <a:srgbClr val="162E52"/>
          </a:solidFill>
          <a:ln w="12700">
            <a:solidFill>
              <a:srgbClr val="2D4F7C"/>
            </a:solidFill>
          </a:ln>
        </p:spPr>
        <p:txBody>
          <a:bodyPr wrap="square" lIns="73152" tIns="54864" rIns="73152" bIns="54864" anchor="t"/>
          <a:lstStyle/>
          <a:p>
            <a:pPr marL="0" indent="0" algn="l">
              <a:spcBef>
                <a:spcPts val="0"/>
              </a:spcBef>
              <a:spcAft>
                <a:spcPts val="400"/>
              </a:spcAft>
              <a:buNone/>
            </a:pPr>
            <a:r>
              <a:rPr lang="en-US" sz="1000" b="1" i="0" dirty="0">
                <a:solidFill>
                  <a:srgbClr val="7FD4D2"/>
                </a:solidFill>
                <a:latin typeface="Calibri"/>
                <a:cs typeface="Calibri"/>
              </a:rPr>
              <a:t>Verified Empirical Scope:</a:t>
            </a:r>
          </a:p>
          <a:p>
            <a:pPr marL="190500" indent="-142875" algn="l">
              <a:spcBef>
                <a:spcPts val="0"/>
              </a:spcBef>
              <a:spcAft>
                <a:spcPts val="300"/>
              </a:spcAft>
              <a:buFont typeface="Arial"/>
              <a:buChar char="•"/>
            </a:pPr>
            <a:r>
              <a:rPr lang="en-US" sz="1000" b="0" i="0" dirty="0">
                <a:solidFill>
                  <a:srgbClr val="FFFFFF"/>
                </a:solidFill>
                <a:latin typeface="Calibri"/>
                <a:cs typeface="Calibri"/>
              </a:rPr>
              <a:t>315 Official CPCB CSVs (311,379 raw rows)</a:t>
            </a:r>
          </a:p>
          <a:p>
            <a:pPr marL="190500" indent="-142875" algn="l">
              <a:spcBef>
                <a:spcPts val="0"/>
              </a:spcBef>
              <a:spcAft>
                <a:spcPts val="300"/>
              </a:spcAft>
              <a:buFont typeface="Arial"/>
              <a:buChar char="•"/>
            </a:pPr>
            <a:r>
              <a:rPr lang="en-US" sz="1000" b="0" i="0" dirty="0">
                <a:solidFill>
                  <a:srgbClr val="FFFFFF"/>
                </a:solidFill>
                <a:latin typeface="Calibri"/>
                <a:cs typeface="Calibri"/>
              </a:rPr>
              <a:t>109,422 Harmonized Station-Date Records</a:t>
            </a:r>
          </a:p>
          <a:p>
            <a:pPr marL="190500" indent="-142875" algn="l">
              <a:spcBef>
                <a:spcPts val="0"/>
              </a:spcBef>
              <a:spcAft>
                <a:spcPts val="300"/>
              </a:spcAft>
              <a:buFont typeface="Arial"/>
              <a:buChar char="•"/>
            </a:pPr>
            <a:r>
              <a:rPr lang="en-US" sz="1000" b="0" i="0" dirty="0">
                <a:solidFill>
                  <a:srgbClr val="FFFFFF"/>
                </a:solidFill>
                <a:latin typeface="Calibri"/>
                <a:cs typeface="Calibri"/>
              </a:rPr>
              <a:t>4,017 Georeferenced Stations (36 States/UTs)</a:t>
            </a:r>
          </a:p>
          <a:p>
            <a:pPr marL="190500" indent="-142875" algn="l">
              <a:spcBef>
                <a:spcPts val="0"/>
              </a:spcBef>
              <a:spcAft>
                <a:spcPts val="200"/>
              </a:spcAft>
              <a:buFont typeface="Arial"/>
              <a:buChar char="•"/>
            </a:pPr>
            <a:r>
              <a:rPr lang="en-US" sz="1000" b="0" i="0" dirty="0">
                <a:solidFill>
                  <a:srgbClr val="FFFFFF"/>
                </a:solidFill>
                <a:latin typeface="Calibri"/>
                <a:cs typeface="Calibri"/>
              </a:rPr>
              <a:t>1,990 Historical Kaggle Records (2003–2014)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2"/>
          <p:cNvSpPr/>
          <p:nvPr/>
        </p:nvSpPr>
        <p:spPr>
          <a:xfrm>
            <a:off x="0" y="0"/>
            <a:ext cx="9144000" cy="713232"/>
          </a:xfrm>
          <a:prstGeom prst="rect">
            <a:avLst/>
          </a:prstGeom>
          <a:solidFill>
            <a:srgbClr val="1B365D"/>
          </a:solidFill>
          <a:ln>
            <a:noFill/>
          </a:ln>
        </p:spPr>
      </p:sp>
      <p:sp>
        <p:nvSpPr>
          <p:cNvPr id="3" name="Rect 3"/>
          <p:cNvSpPr/>
          <p:nvPr/>
        </p:nvSpPr>
        <p:spPr>
          <a:xfrm>
            <a:off x="0" y="713232"/>
            <a:ext cx="9144000" cy="36576"/>
          </a:xfrm>
          <a:prstGeom prst="rect">
            <a:avLst/>
          </a:prstGeom>
          <a:solidFill>
            <a:srgbClr val="007A78"/>
          </a:solidFill>
          <a:ln>
            <a:noFill/>
          </a:ln>
        </p:spPr>
      </p:sp>
      <p:sp>
        <p:nvSpPr>
          <p:cNvPr id="4" name="TextBox 4"/>
          <p:cNvSpPr txBox="1"/>
          <p:nvPr/>
        </p:nvSpPr>
        <p:spPr>
          <a:xfrm>
            <a:off x="320040" y="54864"/>
            <a:ext cx="8503920" cy="621792"/>
          </a:xfrm>
          <a:prstGeom prst="rect">
            <a:avLst/>
          </a:prstGeom>
          <a:noFill/>
          <a:ln>
            <a:noFill/>
          </a:ln>
        </p:spPr>
        <p:txBody>
          <a:bodyPr wrap="square" lIns="18288" tIns="18288" rIns="18288" bIns="18288" anchor="t"/>
          <a:lstStyle/>
          <a:p>
            <a:pPr marL="0" indent="0" algn="l">
              <a:spcBef>
                <a:spcPts val="0"/>
              </a:spcBef>
              <a:spcAft>
                <a:spcPts val="100"/>
              </a:spcAft>
              <a:buNone/>
            </a:pPr>
            <a:r>
              <a:rPr lang="en-US" sz="850" b="1" i="0" dirty="0">
                <a:solidFill>
                  <a:srgbClr val="7FD4D2"/>
                </a:solidFill>
                <a:latin typeface="Calibri"/>
                <a:cs typeface="Calibri"/>
              </a:rPr>
              <a:t>SECTION 1  |  BACKGROUND &amp; CONTEXT</a:t>
            </a:r>
          </a:p>
          <a:p>
            <a:pPr marL="0" indent="0" algn="l">
              <a:spcBef>
                <a:spcPts val="0"/>
              </a:spcBef>
              <a:spcAft>
                <a:spcPts val="100"/>
              </a:spcAft>
              <a:buNone/>
            </a:pPr>
            <a:r>
              <a:rPr lang="en-US" sz="1750" b="1" i="0" dirty="0">
                <a:solidFill>
                  <a:srgbClr val="FFFFFF"/>
                </a:solidFill>
                <a:latin typeface="Calibri"/>
                <a:cs typeface="Calibri"/>
              </a:rPr>
              <a:t>Introduction and Motivation</a:t>
            </a:r>
          </a:p>
          <a:p>
            <a:pPr marL="0" indent="0" algn="l">
              <a:spcBef>
                <a:spcPts val="0"/>
              </a:spcBef>
              <a:spcAft>
                <a:spcPts val="0"/>
              </a:spcAft>
              <a:buNone/>
            </a:pPr>
            <a:r>
              <a:rPr lang="en-US" sz="950" b="0" i="1" dirty="0">
                <a:solidFill>
                  <a:srgbClr val="DCE6F1"/>
                </a:solidFill>
                <a:latin typeface="Calibri"/>
                <a:cs typeface="Calibri"/>
              </a:rPr>
              <a:t>Why monitoring physical, chemical, and biological surface-water indicators across India matters</a:t>
            </a:r>
          </a:p>
        </p:txBody>
      </p:sp>
      <p:sp>
        <p:nvSpPr>
          <p:cNvPr id="5" name="Rect 5"/>
          <p:cNvSpPr/>
          <p:nvPr/>
        </p:nvSpPr>
        <p:spPr>
          <a:xfrm>
            <a:off x="0" y="4864608"/>
            <a:ext cx="9144000" cy="278892"/>
          </a:xfrm>
          <a:prstGeom prst="rect">
            <a:avLst/>
          </a:prstGeom>
          <a:solidFill>
            <a:srgbClr val="EEF2F6"/>
          </a:solidFill>
          <a:ln>
            <a:noFill/>
          </a:ln>
        </p:spPr>
      </p:sp>
      <p:sp>
        <p:nvSpPr>
          <p:cNvPr id="6" name="TextBox 6"/>
          <p:cNvSpPr txBox="1"/>
          <p:nvPr/>
        </p:nvSpPr>
        <p:spPr>
          <a:xfrm>
            <a:off x="320040" y="4882896"/>
            <a:ext cx="6858000" cy="228600"/>
          </a:xfrm>
          <a:prstGeom prst="rect">
            <a:avLst/>
          </a:prstGeom>
          <a:noFill/>
          <a:ln>
            <a:noFill/>
          </a:ln>
        </p:spPr>
        <p:txBody>
          <a:bodyPr wrap="square" lIns="0" tIns="18288" rIns="0" bIns="0" anchor="t"/>
          <a:lstStyle/>
          <a:p>
            <a:pPr marL="0" indent="0" algn="l">
              <a:spcBef>
                <a:spcPts val="0"/>
              </a:spcBef>
              <a:spcAft>
                <a:spcPts val="400"/>
              </a:spcAft>
              <a:buNone/>
            </a:pPr>
            <a:r>
              <a:rPr lang="en-US" sz="850" b="0" i="0" dirty="0">
                <a:solidFill>
                  <a:srgbClr val="475569"/>
                </a:solidFill>
                <a:latin typeface="Calibri"/>
                <a:cs typeface="Calibri"/>
              </a:rPr>
              <a:t>Emmanuel Jobin (2026EMAI20054)  |  DSC 513: Introduction to Data Science  |  IIIT Kottayam</a:t>
            </a:r>
          </a:p>
        </p:txBody>
      </p:sp>
      <p:sp>
        <p:nvSpPr>
          <p:cNvPr id="7" name="TextBox 7"/>
          <p:cNvSpPr txBox="1"/>
          <p:nvPr/>
        </p:nvSpPr>
        <p:spPr>
          <a:xfrm>
            <a:off x="7315200" y="4882896"/>
            <a:ext cx="1508760" cy="228600"/>
          </a:xfrm>
          <a:prstGeom prst="rect">
            <a:avLst/>
          </a:prstGeom>
          <a:noFill/>
          <a:ln>
            <a:noFill/>
          </a:ln>
        </p:spPr>
        <p:txBody>
          <a:bodyPr wrap="square" lIns="0" tIns="18288" rIns="0" bIns="0" anchor="t"/>
          <a:lstStyle/>
          <a:p>
            <a:pPr marL="0" indent="0" algn="r">
              <a:spcBef>
                <a:spcPts val="0"/>
              </a:spcBef>
              <a:spcAft>
                <a:spcPts val="400"/>
              </a:spcAft>
              <a:buNone/>
            </a:pPr>
            <a:r>
              <a:rPr lang="en-US" sz="850" b="1" i="0" dirty="0">
                <a:solidFill>
                  <a:srgbClr val="1B365D"/>
                </a:solidFill>
                <a:latin typeface="Calibri"/>
                <a:cs typeface="Calibri"/>
              </a:rPr>
              <a:t>Slide 2 of 18</a:t>
            </a:r>
          </a:p>
        </p:txBody>
      </p:sp>
      <p:sp>
        <p:nvSpPr>
          <p:cNvPr id="8" name="TextBox 8"/>
          <p:cNvSpPr txBox="1"/>
          <p:nvPr/>
        </p:nvSpPr>
        <p:spPr>
          <a:xfrm>
            <a:off x="320040" y="868680"/>
            <a:ext cx="4160520" cy="1965960"/>
          </a:xfrm>
          <a:prstGeom prst="roundRect">
            <a:avLst>
              <a:gd name="adj" fmla="val 4000"/>
            </a:avLst>
          </a:prstGeom>
          <a:solidFill>
            <a:srgbClr val="F4F7FA"/>
          </a:solidFill>
          <a:ln w="12700">
            <a:solidFill>
              <a:srgbClr val="CBD5E1"/>
            </a:solidFill>
          </a:ln>
        </p:spPr>
        <p:txBody>
          <a:bodyPr wrap="square" lIns="73152" tIns="54864" rIns="73152" bIns="54864" anchor="t"/>
          <a:lstStyle/>
          <a:p>
            <a:pPr marL="0" indent="0" algn="l">
              <a:spcBef>
                <a:spcPts val="0"/>
              </a:spcBef>
              <a:spcAft>
                <a:spcPts val="500"/>
              </a:spcAft>
              <a:buNone/>
            </a:pPr>
            <a:r>
              <a:rPr lang="en-US" sz="1300" b="1" i="0" dirty="0">
                <a:solidFill>
                  <a:srgbClr val="1B365D"/>
                </a:solidFill>
                <a:latin typeface="Calibri"/>
                <a:cs typeface="Calibri"/>
              </a:rPr>
              <a:t>What is Surface-Water Quality?</a:t>
            </a:r>
          </a:p>
          <a:p>
            <a:pPr marL="0" indent="0" algn="l">
              <a:spcBef>
                <a:spcPts val="0"/>
              </a:spcBef>
              <a:spcAft>
                <a:spcPts val="600"/>
              </a:spcAft>
              <a:buNone/>
            </a:pPr>
            <a:r>
              <a:rPr lang="en-US" sz="1050" b="0" i="0" dirty="0">
                <a:solidFill>
                  <a:srgbClr val="1E293B"/>
                </a:solidFill>
                <a:latin typeface="Calibri"/>
                <a:cs typeface="Calibri"/>
              </a:rPr>
              <a:t>Surface-water quality describes the physical, chemical, and biological condition of rivers, lakes, canals, and reservoirs that supply drinking water, irrigation, and aquatic habitats.</a:t>
            </a:r>
          </a:p>
          <a:p>
            <a:pPr marL="0" indent="0" algn="l">
              <a:spcBef>
                <a:spcPts val="0"/>
              </a:spcBef>
              <a:spcAft>
                <a:spcPts val="400"/>
              </a:spcAft>
              <a:buNone/>
            </a:pPr>
            <a:r>
              <a:rPr lang="en-US" sz="1000" b="0" i="0" dirty="0">
                <a:solidFill>
                  <a:srgbClr val="1E293B"/>
                </a:solidFill>
                <a:latin typeface="Calibri"/>
                <a:cs typeface="Calibri"/>
              </a:rPr>
              <a:t>In India, the Central Pollution Control Board (CPCB) under the National Water Monitoring Programme (NWMP) tracks water bodies to assess compliance with designated best-use standards (e.g., CPCB Class C for drinking water source with conventional treatment).</a:t>
            </a:r>
          </a:p>
        </p:txBody>
      </p:sp>
      <p:sp>
        <p:nvSpPr>
          <p:cNvPr id="9" name="TextBox 9"/>
          <p:cNvSpPr txBox="1"/>
          <p:nvPr/>
        </p:nvSpPr>
        <p:spPr>
          <a:xfrm>
            <a:off x="320040" y="2944368"/>
            <a:ext cx="4160520" cy="1783080"/>
          </a:xfrm>
          <a:prstGeom prst="roundRect">
            <a:avLst>
              <a:gd name="adj" fmla="val 4000"/>
            </a:avLst>
          </a:prstGeom>
          <a:solidFill>
            <a:srgbClr val="E6F4F1"/>
          </a:solidFill>
          <a:ln w="12700">
            <a:solidFill>
              <a:srgbClr val="007A78"/>
            </a:solidFill>
          </a:ln>
        </p:spPr>
        <p:txBody>
          <a:bodyPr wrap="square" lIns="73152" tIns="54864" rIns="73152" bIns="54864" anchor="t"/>
          <a:lstStyle/>
          <a:p>
            <a:pPr marL="0" indent="0" algn="l">
              <a:spcBef>
                <a:spcPts val="0"/>
              </a:spcBef>
              <a:spcAft>
                <a:spcPts val="500"/>
              </a:spcAft>
              <a:buNone/>
            </a:pPr>
            <a:r>
              <a:rPr lang="en-US" sz="1300" b="1" i="0" dirty="0">
                <a:solidFill>
                  <a:srgbClr val="007A78"/>
                </a:solidFill>
                <a:latin typeface="Calibri"/>
                <a:cs typeface="Calibri"/>
              </a:rPr>
              <a:t>Why Geographic &amp; Seasonal Analysis Matters</a:t>
            </a:r>
          </a:p>
          <a:p>
            <a:pPr marL="190500" indent="-142875" algn="l">
              <a:spcBef>
                <a:spcPts val="0"/>
              </a:spcBef>
              <a:spcAft>
                <a:spcPts val="400"/>
              </a:spcAft>
              <a:buFont typeface="Arial"/>
              <a:buChar char="•"/>
            </a:pPr>
            <a:r>
              <a:rPr lang="en-US" sz="1000" b="0" i="0" dirty="0">
                <a:solidFill>
                  <a:srgbClr val="1E293B"/>
                </a:solidFill>
                <a:latin typeface="Calibri"/>
                <a:cs typeface="Calibri"/>
              </a:rPr>
              <a:t>Geographic Variation: River basins traverse diverse geological zones, agricultural plains, and dense urban-industrial corridors across 36 States and Union Territories.</a:t>
            </a:r>
          </a:p>
          <a:p>
            <a:pPr marL="190500" indent="-142875" algn="l">
              <a:spcBef>
                <a:spcPts val="0"/>
              </a:spcBef>
              <a:spcAft>
                <a:spcPts val="400"/>
              </a:spcAft>
              <a:buFont typeface="Arial"/>
              <a:buChar char="•"/>
            </a:pPr>
            <a:r>
              <a:rPr lang="en-US" sz="1000" b="0" i="0" dirty="0">
                <a:solidFill>
                  <a:srgbClr val="1E293B"/>
                </a:solidFill>
                <a:latin typeface="Calibri"/>
                <a:cs typeface="Calibri"/>
              </a:rPr>
              <a:t>Seasonal Hydrology: India's Southwest Monsoon (June–September) dramatically alters river discharge, diluting organic pollutants compared to low-flow Pre-Monsoon summer months (March–May).</a:t>
            </a:r>
          </a:p>
        </p:txBody>
      </p:sp>
      <p:sp>
        <p:nvSpPr>
          <p:cNvPr id="10" name="TextBox 10"/>
          <p:cNvSpPr txBox="1"/>
          <p:nvPr/>
        </p:nvSpPr>
        <p:spPr>
          <a:xfrm>
            <a:off x="4663440" y="868680"/>
            <a:ext cx="4160520" cy="3858768"/>
          </a:xfrm>
          <a:prstGeom prst="roundRect">
            <a:avLst>
              <a:gd name="adj" fmla="val 4000"/>
            </a:avLst>
          </a:prstGeom>
          <a:solidFill>
            <a:srgbClr val="F4F7FA"/>
          </a:solidFill>
          <a:ln w="12700">
            <a:solidFill>
              <a:srgbClr val="CBD5E1"/>
            </a:solidFill>
          </a:ln>
        </p:spPr>
        <p:txBody>
          <a:bodyPr wrap="square" lIns="73152" tIns="54864" rIns="73152" bIns="54864" anchor="t"/>
          <a:lstStyle/>
          <a:p>
            <a:pPr marL="0" indent="0" algn="l">
              <a:spcBef>
                <a:spcPts val="0"/>
              </a:spcBef>
              <a:spcAft>
                <a:spcPts val="600"/>
              </a:spcAft>
              <a:buNone/>
            </a:pPr>
            <a:r>
              <a:rPr lang="en-US" sz="1300" b="1" i="0" dirty="0">
                <a:solidFill>
                  <a:srgbClr val="1B365D"/>
                </a:solidFill>
                <a:latin typeface="Calibri"/>
                <a:cs typeface="Calibri"/>
              </a:rPr>
              <a:t>Four Core Water-Quality Indicators Studied</a:t>
            </a:r>
          </a:p>
          <a:p>
            <a:pPr marL="0" indent="0" algn="l">
              <a:spcBef>
                <a:spcPts val="0"/>
              </a:spcBef>
              <a:spcAft>
                <a:spcPts val="800"/>
              </a:spcAft>
              <a:buNone/>
            </a:pPr>
            <a:r>
              <a:rPr lang="en-US" sz="1050" b="1" i="0" dirty="0">
                <a:solidFill>
                  <a:srgbClr val="1B365D"/>
                </a:solidFill>
                <a:latin typeface="Calibri"/>
                <a:cs typeface="Calibri"/>
              </a:rPr>
              <a:t>1. Dissolved Oxygen (DO, mg/L): </a:t>
            </a:r>
            <a:r>
              <a:rPr lang="en-US" sz="1000" b="0" i="0" dirty="0">
                <a:solidFill>
                  <a:srgbClr val="1E293B"/>
                </a:solidFill>
                <a:latin typeface="Calibri"/>
                <a:cs typeface="Calibri"/>
              </a:rPr>
              <a:t>Oxygen available for fish and aerobic life. CPCB Class C minimum threshold is &gt;= 4.0 mg/L; &lt; 2.0 mg/L indicates severe hypoxia.</a:t>
            </a:r>
          </a:p>
          <a:p>
            <a:pPr marL="0" indent="0" algn="l">
              <a:spcBef>
                <a:spcPts val="0"/>
              </a:spcBef>
              <a:spcAft>
                <a:spcPts val="800"/>
              </a:spcAft>
              <a:buNone/>
            </a:pPr>
            <a:r>
              <a:rPr lang="en-US" sz="1050" b="1" i="0" dirty="0">
                <a:solidFill>
                  <a:srgbClr val="D95F02"/>
                </a:solidFill>
                <a:latin typeface="Calibri"/>
                <a:cs typeface="Calibri"/>
              </a:rPr>
              <a:t>2. Biochemical Oxygen Demand (BOD, mg/L): </a:t>
            </a:r>
            <a:r>
              <a:rPr lang="en-US" sz="1000" b="0" i="0" dirty="0">
                <a:solidFill>
                  <a:srgbClr val="1E293B"/>
                </a:solidFill>
                <a:latin typeface="Calibri"/>
                <a:cs typeface="Calibri"/>
              </a:rPr>
              <a:t>Oxygen consumed by microbes decomposing organic waste over 5 days at 20°C. CPCB Class C limit is &lt;= 3.0 mg/L. High BOD signals sewage or industrial effluent.</a:t>
            </a:r>
          </a:p>
          <a:p>
            <a:pPr marL="0" indent="0" algn="l">
              <a:spcBef>
                <a:spcPts val="0"/>
              </a:spcBef>
              <a:spcAft>
                <a:spcPts val="800"/>
              </a:spcAft>
              <a:buNone/>
            </a:pPr>
            <a:r>
              <a:rPr lang="en-US" sz="1050" b="1" i="0" dirty="0">
                <a:solidFill>
                  <a:srgbClr val="007A78"/>
                </a:solidFill>
                <a:latin typeface="Calibri"/>
                <a:cs typeface="Calibri"/>
              </a:rPr>
              <a:t>3. Potential of Hydrogen (pH, 0–14 scale): </a:t>
            </a:r>
            <a:r>
              <a:rPr lang="en-US" sz="1000" b="0" i="0" dirty="0">
                <a:solidFill>
                  <a:srgbClr val="1E293B"/>
                </a:solidFill>
                <a:latin typeface="Calibri"/>
                <a:cs typeface="Calibri"/>
              </a:rPr>
              <a:t>Measures acidity or alkalinity. Acceptable CPCB surface-water range is 6.5 to 8.5.</a:t>
            </a:r>
          </a:p>
          <a:p>
            <a:pPr marL="0" indent="0" algn="l">
              <a:spcBef>
                <a:spcPts val="0"/>
              </a:spcBef>
              <a:spcAft>
                <a:spcPts val="400"/>
              </a:spcAft>
              <a:buNone/>
            </a:pPr>
            <a:r>
              <a:rPr lang="en-US" sz="1050" b="1" i="0" dirty="0">
                <a:solidFill>
                  <a:srgbClr val="1B365D"/>
                </a:solidFill>
                <a:latin typeface="Calibri"/>
                <a:cs typeface="Calibri"/>
              </a:rPr>
              <a:t>4. Electrical Conductivity (EC, uS/cm): </a:t>
            </a:r>
            <a:r>
              <a:rPr lang="en-US" sz="1000" b="0" i="0" dirty="0">
                <a:solidFill>
                  <a:srgbClr val="1E293B"/>
                </a:solidFill>
                <a:latin typeface="Calibri"/>
                <a:cs typeface="Calibri"/>
              </a:rPr>
              <a:t>Measures dissolved ionic salts and mineral concentration; elevated by agricultural runoff, industrial discharge, or estuarine salinity intrusion.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2"/>
          <p:cNvSpPr/>
          <p:nvPr/>
        </p:nvSpPr>
        <p:spPr>
          <a:xfrm>
            <a:off x="0" y="0"/>
            <a:ext cx="9144000" cy="713232"/>
          </a:xfrm>
          <a:prstGeom prst="rect">
            <a:avLst/>
          </a:prstGeom>
          <a:solidFill>
            <a:srgbClr val="1B365D"/>
          </a:solidFill>
          <a:ln>
            <a:noFill/>
          </a:ln>
        </p:spPr>
      </p:sp>
      <p:sp>
        <p:nvSpPr>
          <p:cNvPr id="3" name="Rect 3"/>
          <p:cNvSpPr/>
          <p:nvPr/>
        </p:nvSpPr>
        <p:spPr>
          <a:xfrm>
            <a:off x="0" y="713232"/>
            <a:ext cx="9144000" cy="36576"/>
          </a:xfrm>
          <a:prstGeom prst="rect">
            <a:avLst/>
          </a:prstGeom>
          <a:solidFill>
            <a:srgbClr val="007A78"/>
          </a:solidFill>
          <a:ln>
            <a:noFill/>
          </a:ln>
        </p:spPr>
      </p:sp>
      <p:sp>
        <p:nvSpPr>
          <p:cNvPr id="4" name="TextBox 4"/>
          <p:cNvSpPr txBox="1"/>
          <p:nvPr/>
        </p:nvSpPr>
        <p:spPr>
          <a:xfrm>
            <a:off x="320040" y="54864"/>
            <a:ext cx="8503920" cy="621792"/>
          </a:xfrm>
          <a:prstGeom prst="rect">
            <a:avLst/>
          </a:prstGeom>
          <a:noFill/>
          <a:ln>
            <a:noFill/>
          </a:ln>
        </p:spPr>
        <p:txBody>
          <a:bodyPr wrap="square" lIns="18288" tIns="18288" rIns="18288" bIns="18288" anchor="t"/>
          <a:lstStyle/>
          <a:p>
            <a:pPr marL="0" indent="0" algn="l">
              <a:spcBef>
                <a:spcPts val="0"/>
              </a:spcBef>
              <a:spcAft>
                <a:spcPts val="100"/>
              </a:spcAft>
              <a:buNone/>
            </a:pPr>
            <a:r>
              <a:rPr lang="en-US" sz="850" b="1" i="0" dirty="0">
                <a:solidFill>
                  <a:srgbClr val="7FD4D2"/>
                </a:solidFill>
                <a:latin typeface="Calibri"/>
                <a:cs typeface="Calibri"/>
              </a:rPr>
              <a:t>SECTION 2  |  RESEARCH SCOPE</a:t>
            </a:r>
          </a:p>
          <a:p>
            <a:pPr marL="0" indent="0" algn="l">
              <a:spcBef>
                <a:spcPts val="0"/>
              </a:spcBef>
              <a:spcAft>
                <a:spcPts val="100"/>
              </a:spcAft>
              <a:buNone/>
            </a:pPr>
            <a:r>
              <a:rPr lang="en-US" sz="1750" b="1" i="0" dirty="0">
                <a:solidFill>
                  <a:srgbClr val="FFFFFF"/>
                </a:solidFill>
                <a:latin typeface="Calibri"/>
                <a:cs typeface="Calibri"/>
              </a:rPr>
              <a:t>Problem Statement and Project Objectives</a:t>
            </a:r>
          </a:p>
          <a:p>
            <a:pPr marL="0" indent="0" algn="l">
              <a:spcBef>
                <a:spcPts val="0"/>
              </a:spcBef>
              <a:spcAft>
                <a:spcPts val="0"/>
              </a:spcAft>
              <a:buNone/>
            </a:pPr>
            <a:r>
              <a:rPr lang="en-US" sz="950" b="0" i="1" dirty="0">
                <a:solidFill>
                  <a:srgbClr val="DCE6F1"/>
                </a:solidFill>
                <a:latin typeface="Calibri"/>
                <a:cs typeface="Calibri"/>
              </a:rPr>
              <a:t>Defining what the data science workflow investigates without assuming findings in advance</a:t>
            </a:r>
          </a:p>
        </p:txBody>
      </p:sp>
      <p:sp>
        <p:nvSpPr>
          <p:cNvPr id="5" name="Rect 5"/>
          <p:cNvSpPr/>
          <p:nvPr/>
        </p:nvSpPr>
        <p:spPr>
          <a:xfrm>
            <a:off x="0" y="4864608"/>
            <a:ext cx="9144000" cy="278892"/>
          </a:xfrm>
          <a:prstGeom prst="rect">
            <a:avLst/>
          </a:prstGeom>
          <a:solidFill>
            <a:srgbClr val="EEF2F6"/>
          </a:solidFill>
          <a:ln>
            <a:noFill/>
          </a:ln>
        </p:spPr>
      </p:sp>
      <p:sp>
        <p:nvSpPr>
          <p:cNvPr id="6" name="TextBox 6"/>
          <p:cNvSpPr txBox="1"/>
          <p:nvPr/>
        </p:nvSpPr>
        <p:spPr>
          <a:xfrm>
            <a:off x="320040" y="4882896"/>
            <a:ext cx="6858000" cy="228600"/>
          </a:xfrm>
          <a:prstGeom prst="rect">
            <a:avLst/>
          </a:prstGeom>
          <a:noFill/>
          <a:ln>
            <a:noFill/>
          </a:ln>
        </p:spPr>
        <p:txBody>
          <a:bodyPr wrap="square" lIns="0" tIns="18288" rIns="0" bIns="0" anchor="t"/>
          <a:lstStyle/>
          <a:p>
            <a:pPr marL="0" indent="0" algn="l">
              <a:spcBef>
                <a:spcPts val="0"/>
              </a:spcBef>
              <a:spcAft>
                <a:spcPts val="400"/>
              </a:spcAft>
              <a:buNone/>
            </a:pPr>
            <a:r>
              <a:rPr lang="en-US" sz="850" b="0" i="0" dirty="0">
                <a:solidFill>
                  <a:srgbClr val="475569"/>
                </a:solidFill>
                <a:latin typeface="Calibri"/>
                <a:cs typeface="Calibri"/>
              </a:rPr>
              <a:t>Emmanuel Jobin (2026EMAI20054)  |  DSC 513: Introduction to Data Science  |  IIIT Kottayam</a:t>
            </a:r>
          </a:p>
        </p:txBody>
      </p:sp>
      <p:sp>
        <p:nvSpPr>
          <p:cNvPr id="7" name="TextBox 7"/>
          <p:cNvSpPr txBox="1"/>
          <p:nvPr/>
        </p:nvSpPr>
        <p:spPr>
          <a:xfrm>
            <a:off x="7315200" y="4882896"/>
            <a:ext cx="1508760" cy="228600"/>
          </a:xfrm>
          <a:prstGeom prst="rect">
            <a:avLst/>
          </a:prstGeom>
          <a:noFill/>
          <a:ln>
            <a:noFill/>
          </a:ln>
        </p:spPr>
        <p:txBody>
          <a:bodyPr wrap="square" lIns="0" tIns="18288" rIns="0" bIns="0" anchor="t"/>
          <a:lstStyle/>
          <a:p>
            <a:pPr marL="0" indent="0" algn="r">
              <a:spcBef>
                <a:spcPts val="0"/>
              </a:spcBef>
              <a:spcAft>
                <a:spcPts val="400"/>
              </a:spcAft>
              <a:buNone/>
            </a:pPr>
            <a:r>
              <a:rPr lang="en-US" sz="850" b="1" i="0" dirty="0">
                <a:solidFill>
                  <a:srgbClr val="1B365D"/>
                </a:solidFill>
                <a:latin typeface="Calibri"/>
                <a:cs typeface="Calibri"/>
              </a:rPr>
              <a:t>Slide 3 of 18</a:t>
            </a:r>
          </a:p>
        </p:txBody>
      </p:sp>
      <p:sp>
        <p:nvSpPr>
          <p:cNvPr id="8" name="TextBox 8"/>
          <p:cNvSpPr txBox="1"/>
          <p:nvPr/>
        </p:nvSpPr>
        <p:spPr>
          <a:xfrm>
            <a:off x="320040" y="868680"/>
            <a:ext cx="8503920" cy="960120"/>
          </a:xfrm>
          <a:prstGeom prst="roundRect">
            <a:avLst>
              <a:gd name="adj" fmla="val 4000"/>
            </a:avLst>
          </a:prstGeom>
          <a:solidFill>
            <a:srgbClr val="FFF5EB"/>
          </a:solidFill>
          <a:ln w="12700">
            <a:solidFill>
              <a:srgbClr val="D95F02"/>
            </a:solidFill>
          </a:ln>
        </p:spPr>
        <p:txBody>
          <a:bodyPr wrap="square" lIns="73152" tIns="54864" rIns="73152" bIns="54864" anchor="t"/>
          <a:lstStyle/>
          <a:p>
            <a:pPr marL="0" indent="0" algn="l">
              <a:spcBef>
                <a:spcPts val="0"/>
              </a:spcBef>
              <a:spcAft>
                <a:spcPts val="300"/>
              </a:spcAft>
              <a:buNone/>
            </a:pPr>
            <a:r>
              <a:rPr lang="en-US" sz="1250" b="1" i="0" dirty="0">
                <a:solidFill>
                  <a:srgbClr val="1B365D"/>
                </a:solidFill>
                <a:latin typeface="Calibri"/>
                <a:cs typeface="Calibri"/>
              </a:rPr>
              <a:t>Problem Statement</a:t>
            </a:r>
          </a:p>
          <a:p>
            <a:pPr marL="0" indent="0" algn="l">
              <a:spcBef>
                <a:spcPts val="0"/>
              </a:spcBef>
              <a:spcAft>
                <a:spcPts val="400"/>
              </a:spcAft>
              <a:buNone/>
            </a:pPr>
            <a:r>
              <a:rPr lang="en-US" sz="980" b="0" i="0" dirty="0">
                <a:solidFill>
                  <a:srgbClr val="1E293B"/>
                </a:solidFill>
                <a:latin typeface="Calibri"/>
                <a:cs typeface="Calibri"/>
              </a:rPr>
              <a:t>Official multi-state water-quality archives are distributed across hundreds of separate category CSV files containing inconsistent headers, character-encoded numbers, missing observations, and extreme values. This project investigates how to systematically clean and harmonize 315 CPCB/NWDP CSV files and 1 historical Kaggle archive in R to quantify geographic variations, seasonal monsoon patterns, multi-parameter correlations, and linear predictability of Dissolved Oxygen from BOD.</a:t>
            </a:r>
          </a:p>
        </p:txBody>
      </p:sp>
      <p:sp>
        <p:nvSpPr>
          <p:cNvPr id="9" name="TextBox 9"/>
          <p:cNvSpPr txBox="1"/>
          <p:nvPr/>
        </p:nvSpPr>
        <p:spPr>
          <a:xfrm>
            <a:off x="320040" y="1938528"/>
            <a:ext cx="4160520" cy="2788920"/>
          </a:xfrm>
          <a:prstGeom prst="roundRect">
            <a:avLst>
              <a:gd name="adj" fmla="val 4000"/>
            </a:avLst>
          </a:prstGeom>
          <a:solidFill>
            <a:srgbClr val="F4F7FA"/>
          </a:solidFill>
          <a:ln w="12700">
            <a:solidFill>
              <a:srgbClr val="CBD5E1"/>
            </a:solidFill>
          </a:ln>
        </p:spPr>
        <p:txBody>
          <a:bodyPr wrap="square" lIns="73152" tIns="54864" rIns="73152" bIns="54864" anchor="t"/>
          <a:lstStyle/>
          <a:p>
            <a:pPr marL="0" indent="0" algn="l">
              <a:spcBef>
                <a:spcPts val="0"/>
              </a:spcBef>
              <a:spcAft>
                <a:spcPts val="500"/>
              </a:spcAft>
              <a:buNone/>
            </a:pPr>
            <a:r>
              <a:rPr lang="en-US" sz="1150" b="1" i="0" dirty="0">
                <a:solidFill>
                  <a:srgbClr val="1B365D"/>
                </a:solidFill>
                <a:latin typeface="Calibri"/>
                <a:cs typeface="Calibri"/>
              </a:rPr>
              <a:t>Data Engineering &amp; Descriptive Objectives (1–4)</a:t>
            </a:r>
          </a:p>
          <a:p>
            <a:pPr marL="190500" indent="-142875" algn="l">
              <a:spcBef>
                <a:spcPts val="0"/>
              </a:spcBef>
              <a:spcAft>
                <a:spcPts val="400"/>
              </a:spcAft>
              <a:buFont typeface="Arial"/>
              <a:buChar char="•"/>
            </a:pPr>
            <a:r>
              <a:rPr lang="en-US" sz="950" b="0" i="0" dirty="0">
                <a:solidFill>
                  <a:srgbClr val="1E293B"/>
                </a:solidFill>
                <a:latin typeface="Calibri"/>
                <a:cs typeface="Calibri"/>
              </a:rPr>
              <a:t>1. Schema &amp; File Audit: Inspect 315 CPCB CSV files (Physical, Chemical, Biological) and 1 Kaggle CSV to verify dimensions, column schemas, and data-quality issues.</a:t>
            </a:r>
          </a:p>
          <a:p>
            <a:pPr marL="190500" indent="-142875" algn="l">
              <a:spcBef>
                <a:spcPts val="0"/>
              </a:spcBef>
              <a:spcAft>
                <a:spcPts val="400"/>
              </a:spcAft>
              <a:buFont typeface="Arial"/>
              <a:buChar char="•"/>
            </a:pPr>
            <a:r>
              <a:rPr lang="en-US" sz="950" b="0" i="0" dirty="0">
                <a:solidFill>
                  <a:srgbClr val="1E293B"/>
                </a:solidFill>
                <a:latin typeface="Calibri"/>
                <a:cs typeface="Calibri"/>
              </a:rPr>
              <a:t>2. Reproducible Data Cleaning: Standardize column names, parse numeric/date types, remove exact duplicates, filter physically impossible values (e.g., pH &gt; 14, DO &gt; 25 mg/L), and harmonize state names.</a:t>
            </a:r>
          </a:p>
          <a:p>
            <a:pPr marL="190500" indent="-142875" algn="l">
              <a:spcBef>
                <a:spcPts val="0"/>
              </a:spcBef>
              <a:spcAft>
                <a:spcPts val="400"/>
              </a:spcAft>
              <a:buFont typeface="Arial"/>
              <a:buChar char="•"/>
            </a:pPr>
            <a:r>
              <a:rPr lang="en-US" sz="950" b="0" i="0" dirty="0">
                <a:solidFill>
                  <a:srgbClr val="1E293B"/>
                </a:solidFill>
                <a:latin typeface="Calibri"/>
                <a:cs typeface="Calibri"/>
              </a:rPr>
              <a:t>3. Distributional Analysis: Quantify univariate distributions of DO, BOD, pH, and EC using both parametric (Mean, SD) and non-parametric (Median, IQR) metrics.</a:t>
            </a:r>
          </a:p>
          <a:p>
            <a:pPr marL="190500" indent="-142875" algn="l">
              <a:spcBef>
                <a:spcPts val="0"/>
              </a:spcBef>
              <a:spcAft>
                <a:spcPts val="400"/>
              </a:spcAft>
              <a:buFont typeface="Arial"/>
              <a:buChar char="•"/>
            </a:pPr>
            <a:r>
              <a:rPr lang="en-US" sz="950" b="0" i="0" dirty="0">
                <a:solidFill>
                  <a:srgbClr val="1E293B"/>
                </a:solidFill>
                <a:latin typeface="Calibri"/>
                <a:cs typeface="Calibri"/>
              </a:rPr>
              <a:t>4. Geographic Assessment: Map station coverage across 36 States/UTs and test whether BOD differs significantly across major monitored states.</a:t>
            </a:r>
          </a:p>
        </p:txBody>
      </p:sp>
      <p:sp>
        <p:nvSpPr>
          <p:cNvPr id="10" name="TextBox 10"/>
          <p:cNvSpPr txBox="1"/>
          <p:nvPr/>
        </p:nvSpPr>
        <p:spPr>
          <a:xfrm>
            <a:off x="4663440" y="1938528"/>
            <a:ext cx="4160520" cy="2788920"/>
          </a:xfrm>
          <a:prstGeom prst="roundRect">
            <a:avLst>
              <a:gd name="adj" fmla="val 4000"/>
            </a:avLst>
          </a:prstGeom>
          <a:solidFill>
            <a:srgbClr val="F4F7FA"/>
          </a:solidFill>
          <a:ln w="12700">
            <a:solidFill>
              <a:srgbClr val="CBD5E1"/>
            </a:solidFill>
          </a:ln>
        </p:spPr>
        <p:txBody>
          <a:bodyPr wrap="square" lIns="73152" tIns="54864" rIns="73152" bIns="54864" anchor="t"/>
          <a:lstStyle/>
          <a:p>
            <a:pPr marL="0" indent="0" algn="l">
              <a:spcBef>
                <a:spcPts val="0"/>
              </a:spcBef>
              <a:spcAft>
                <a:spcPts val="500"/>
              </a:spcAft>
              <a:buNone/>
            </a:pPr>
            <a:r>
              <a:rPr lang="en-US" sz="1150" b="1" i="0" dirty="0">
                <a:solidFill>
                  <a:srgbClr val="007A78"/>
                </a:solidFill>
                <a:latin typeface="Calibri"/>
                <a:cs typeface="Calibri"/>
              </a:rPr>
              <a:t>Inferential, Historical &amp; ML Objectives (5–9)</a:t>
            </a:r>
          </a:p>
          <a:p>
            <a:pPr marL="190500" indent="-142875" algn="l">
              <a:spcBef>
                <a:spcPts val="0"/>
              </a:spcBef>
              <a:spcAft>
                <a:spcPts val="400"/>
              </a:spcAft>
              <a:buFont typeface="Arial"/>
              <a:buChar char="•"/>
            </a:pPr>
            <a:r>
              <a:rPr lang="en-US" sz="950" b="0" i="0" dirty="0">
                <a:solidFill>
                  <a:srgbClr val="1E293B"/>
                </a:solidFill>
                <a:latin typeface="Calibri"/>
                <a:cs typeface="Calibri"/>
              </a:rPr>
              <a:t>5. Seasonal Comparison: Classify valid timestamps into Indian hydrological seasons and test differences between Pre-Monsoon and Monsoon water quality.</a:t>
            </a:r>
          </a:p>
          <a:p>
            <a:pPr marL="190500" indent="-142875" algn="l">
              <a:spcBef>
                <a:spcPts val="0"/>
              </a:spcBef>
              <a:spcAft>
                <a:spcPts val="400"/>
              </a:spcAft>
              <a:buFont typeface="Arial"/>
              <a:buChar char="•"/>
            </a:pPr>
            <a:r>
              <a:rPr lang="en-US" sz="950" b="0" i="0" dirty="0">
                <a:solidFill>
                  <a:srgbClr val="1E293B"/>
                </a:solidFill>
                <a:latin typeface="Calibri"/>
                <a:cs typeface="Calibri"/>
              </a:rPr>
              <a:t>6. Multi-Parameter Relationships: Examine non-linear decay and Spearman rank correlations among DO, BOD, pH, and Electrical Conductivity.</a:t>
            </a:r>
          </a:p>
          <a:p>
            <a:pPr marL="190500" indent="-142875" algn="l">
              <a:spcBef>
                <a:spcPts val="0"/>
              </a:spcBef>
              <a:spcAft>
                <a:spcPts val="400"/>
              </a:spcAft>
              <a:buFont typeface="Arial"/>
              <a:buChar char="•"/>
            </a:pPr>
            <a:r>
              <a:rPr lang="en-US" sz="950" b="0" i="0" dirty="0">
                <a:solidFill>
                  <a:srgbClr val="1E293B"/>
                </a:solidFill>
                <a:latin typeface="Calibri"/>
                <a:cs typeface="Calibri"/>
              </a:rPr>
              <a:t>7. Historical Comparison: Compare aggregated state-level medians between the Kaggle baseline (2003–2014) and CPCB dataset (2018–2024) without invalid row-level merging.</a:t>
            </a:r>
          </a:p>
          <a:p>
            <a:pPr marL="190500" indent="-142875" algn="l">
              <a:spcBef>
                <a:spcPts val="0"/>
              </a:spcBef>
              <a:spcAft>
                <a:spcPts val="400"/>
              </a:spcAft>
              <a:buFont typeface="Arial"/>
              <a:buChar char="•"/>
            </a:pPr>
            <a:r>
              <a:rPr lang="en-US" sz="950" b="0" i="0" dirty="0">
                <a:solidFill>
                  <a:srgbClr val="1E293B"/>
                </a:solidFill>
                <a:latin typeface="Calibri"/>
                <a:cs typeface="Calibri"/>
              </a:rPr>
              <a:t>8. Basic Machine Learning: Train and evaluate a Simple Linear Regression model (DO ~ BOD) on an 80:20 train–test split using RMSE, MAE, and R², including sensitivity checks.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2"/>
          <p:cNvSpPr/>
          <p:nvPr/>
        </p:nvSpPr>
        <p:spPr>
          <a:xfrm>
            <a:off x="0" y="0"/>
            <a:ext cx="9144000" cy="713232"/>
          </a:xfrm>
          <a:prstGeom prst="rect">
            <a:avLst/>
          </a:prstGeom>
          <a:solidFill>
            <a:srgbClr val="1B365D"/>
          </a:solidFill>
          <a:ln>
            <a:noFill/>
          </a:ln>
        </p:spPr>
      </p:sp>
      <p:sp>
        <p:nvSpPr>
          <p:cNvPr id="3" name="Rect 3"/>
          <p:cNvSpPr/>
          <p:nvPr/>
        </p:nvSpPr>
        <p:spPr>
          <a:xfrm>
            <a:off x="0" y="713232"/>
            <a:ext cx="9144000" cy="36576"/>
          </a:xfrm>
          <a:prstGeom prst="rect">
            <a:avLst/>
          </a:prstGeom>
          <a:solidFill>
            <a:srgbClr val="007A78"/>
          </a:solidFill>
          <a:ln>
            <a:noFill/>
          </a:ln>
        </p:spPr>
      </p:sp>
      <p:sp>
        <p:nvSpPr>
          <p:cNvPr id="4" name="TextBox 4"/>
          <p:cNvSpPr txBox="1"/>
          <p:nvPr/>
        </p:nvSpPr>
        <p:spPr>
          <a:xfrm>
            <a:off x="320040" y="54864"/>
            <a:ext cx="8503920" cy="621792"/>
          </a:xfrm>
          <a:prstGeom prst="rect">
            <a:avLst/>
          </a:prstGeom>
          <a:noFill/>
          <a:ln>
            <a:noFill/>
          </a:ln>
        </p:spPr>
        <p:txBody>
          <a:bodyPr wrap="square" lIns="18288" tIns="18288" rIns="18288" bIns="18288" anchor="t"/>
          <a:lstStyle/>
          <a:p>
            <a:pPr marL="0" indent="0" algn="l">
              <a:spcBef>
                <a:spcPts val="0"/>
              </a:spcBef>
              <a:spcAft>
                <a:spcPts val="100"/>
              </a:spcAft>
              <a:buNone/>
            </a:pPr>
            <a:r>
              <a:rPr lang="en-US" sz="850" b="1" i="0" dirty="0">
                <a:solidFill>
                  <a:srgbClr val="7FD4D2"/>
                </a:solidFill>
                <a:latin typeface="Calibri"/>
                <a:cs typeface="Calibri"/>
              </a:rPr>
              <a:t>SECTION 2  |  EMPIRICAL AUDIT</a:t>
            </a:r>
          </a:p>
          <a:p>
            <a:pPr marL="0" indent="0" algn="l">
              <a:spcBef>
                <a:spcPts val="0"/>
              </a:spcBef>
              <a:spcAft>
                <a:spcPts val="100"/>
              </a:spcAft>
              <a:buNone/>
            </a:pPr>
            <a:r>
              <a:rPr lang="en-US" sz="1750" b="1" i="0" dirty="0">
                <a:solidFill>
                  <a:srgbClr val="FFFFFF"/>
                </a:solidFill>
                <a:latin typeface="Calibri"/>
                <a:cs typeface="Calibri"/>
              </a:rPr>
              <a:t>Expected Analysis vs. Actual Empirical Findings</a:t>
            </a:r>
          </a:p>
          <a:p>
            <a:pPr marL="0" indent="0" algn="l">
              <a:spcBef>
                <a:spcPts val="0"/>
              </a:spcBef>
              <a:spcAft>
                <a:spcPts val="0"/>
              </a:spcAft>
              <a:buNone/>
            </a:pPr>
            <a:r>
              <a:rPr lang="en-US" sz="950" b="0" i="1" dirty="0">
                <a:solidFill>
                  <a:srgbClr val="DCE6F1"/>
                </a:solidFill>
                <a:latin typeface="Calibri"/>
                <a:cs typeface="Calibri"/>
              </a:rPr>
              <a:t>Comparing what each research question investigated against what the executed R code actually revealed</a:t>
            </a:r>
          </a:p>
        </p:txBody>
      </p:sp>
      <p:sp>
        <p:nvSpPr>
          <p:cNvPr id="5" name="Rect 5"/>
          <p:cNvSpPr/>
          <p:nvPr/>
        </p:nvSpPr>
        <p:spPr>
          <a:xfrm>
            <a:off x="0" y="4864608"/>
            <a:ext cx="9144000" cy="278892"/>
          </a:xfrm>
          <a:prstGeom prst="rect">
            <a:avLst/>
          </a:prstGeom>
          <a:solidFill>
            <a:srgbClr val="EEF2F6"/>
          </a:solidFill>
          <a:ln>
            <a:noFill/>
          </a:ln>
        </p:spPr>
      </p:sp>
      <p:sp>
        <p:nvSpPr>
          <p:cNvPr id="6" name="TextBox 6"/>
          <p:cNvSpPr txBox="1"/>
          <p:nvPr/>
        </p:nvSpPr>
        <p:spPr>
          <a:xfrm>
            <a:off x="320040" y="4882896"/>
            <a:ext cx="6858000" cy="228600"/>
          </a:xfrm>
          <a:prstGeom prst="rect">
            <a:avLst/>
          </a:prstGeom>
          <a:noFill/>
          <a:ln>
            <a:noFill/>
          </a:ln>
        </p:spPr>
        <p:txBody>
          <a:bodyPr wrap="square" lIns="0" tIns="18288" rIns="0" bIns="0" anchor="t"/>
          <a:lstStyle/>
          <a:p>
            <a:pPr marL="0" indent="0" algn="l">
              <a:spcBef>
                <a:spcPts val="0"/>
              </a:spcBef>
              <a:spcAft>
                <a:spcPts val="400"/>
              </a:spcAft>
              <a:buNone/>
            </a:pPr>
            <a:r>
              <a:rPr lang="en-US" sz="850" b="0" i="0" dirty="0">
                <a:solidFill>
                  <a:srgbClr val="475569"/>
                </a:solidFill>
                <a:latin typeface="Calibri"/>
                <a:cs typeface="Calibri"/>
              </a:rPr>
              <a:t>Emmanuel Jobin (2026EMAI20054)  |  DSC 513: Introduction to Data Science  |  IIIT Kottayam</a:t>
            </a:r>
          </a:p>
        </p:txBody>
      </p:sp>
      <p:sp>
        <p:nvSpPr>
          <p:cNvPr id="7" name="TextBox 7"/>
          <p:cNvSpPr txBox="1"/>
          <p:nvPr/>
        </p:nvSpPr>
        <p:spPr>
          <a:xfrm>
            <a:off x="7315200" y="4882896"/>
            <a:ext cx="1508760" cy="228600"/>
          </a:xfrm>
          <a:prstGeom prst="rect">
            <a:avLst/>
          </a:prstGeom>
          <a:noFill/>
          <a:ln>
            <a:noFill/>
          </a:ln>
        </p:spPr>
        <p:txBody>
          <a:bodyPr wrap="square" lIns="0" tIns="18288" rIns="0" bIns="0" anchor="t"/>
          <a:lstStyle/>
          <a:p>
            <a:pPr marL="0" indent="0" algn="r">
              <a:spcBef>
                <a:spcPts val="0"/>
              </a:spcBef>
              <a:spcAft>
                <a:spcPts val="400"/>
              </a:spcAft>
              <a:buNone/>
            </a:pPr>
            <a:r>
              <a:rPr lang="en-US" sz="850" b="1" i="0" dirty="0">
                <a:solidFill>
                  <a:srgbClr val="1B365D"/>
                </a:solidFill>
                <a:latin typeface="Calibri"/>
                <a:cs typeface="Calibri"/>
              </a:rPr>
              <a:t>Slide 4 of 18</a:t>
            </a:r>
          </a:p>
        </p:txBody>
      </p:sp>
      <p:graphicFrame>
        <p:nvGraphicFramePr>
          <p:cNvPr id="8" name="Table 8"/>
          <p:cNvGraphicFramePr>
            <a:graphicFrameLocks noGrp="1"/>
          </p:cNvGraphicFramePr>
          <p:nvPr/>
        </p:nvGraphicFramePr>
        <p:xfrm>
          <a:off x="320040" y="841248"/>
          <a:ext cx="8503920" cy="3913632"/>
        </p:xfrm>
        <a:graphic>
          <a:graphicData uri="http://schemas.openxmlformats.org/drawingml/2006/table">
            <a:tbl>
              <a:tblPr firstRow="1" bandRow="1"/>
              <a:tblGrid>
                <a:gridCol w="1870862"/>
                <a:gridCol w="1870862"/>
                <a:gridCol w="2381098"/>
                <a:gridCol w="2381098"/>
              </a:tblGrid>
              <a:tr h="559090">
                <a:tc>
                  <a:txBody>
                    <a:bodyPr lIns="55000" rIns="55000" tIns="32000" bIns="32000" anchor="ctr"/>
                    <a:lstStyle/>
                    <a:p>
                      <a:pPr algn="l">
                        <a:buNone/>
                      </a:pPr>
                      <a:r>
                        <a:rPr lang="en-US" sz="880" b="1" dirty="0">
                          <a:solidFill>
                            <a:srgbClr val="FFFFFF"/>
                          </a:solidFill>
                          <a:latin typeface="Calibri"/>
                        </a:rPr>
                        <a:t>Research Question / Planned Investigation</a:t>
                      </a:r>
                    </a:p>
                  </a:txBody>
                  <a:tcPr>
                    <a:lnL w="6350">
                      <a:solidFill>
                        <a:srgbClr val="CBD5E1"/>
                      </a:solidFill>
                    </a:lnL>
                    <a:lnR w="6350">
                      <a:solidFill>
                        <a:srgbClr val="CBD5E1"/>
                      </a:solidFill>
                    </a:lnR>
                    <a:lnT w="6350">
                      <a:solidFill>
                        <a:srgbClr val="CBD5E1"/>
                      </a:solidFill>
                    </a:lnT>
                    <a:lnB w="6350">
                      <a:solidFill>
                        <a:srgbClr val="CBD5E1"/>
                      </a:solidFill>
                    </a:lnB>
                    <a:solidFill>
                      <a:srgbClr val="1B365D"/>
                    </a:solidFill>
                  </a:tcPr>
                </a:tc>
                <a:tc>
                  <a:txBody>
                    <a:bodyPr lIns="55000" rIns="55000" tIns="32000" bIns="32000" anchor="ctr"/>
                    <a:lstStyle/>
                    <a:p>
                      <a:pPr algn="ctr">
                        <a:buNone/>
                      </a:pPr>
                      <a:r>
                        <a:rPr lang="en-US" sz="880" b="1" dirty="0">
                          <a:solidFill>
                            <a:srgbClr val="FFFFFF"/>
                          </a:solidFill>
                          <a:latin typeface="Calibri"/>
                        </a:rPr>
                        <a:t>Analysis Performed in R</a:t>
                      </a:r>
                    </a:p>
                  </a:txBody>
                  <a:tcPr>
                    <a:lnL w="6350">
                      <a:solidFill>
                        <a:srgbClr val="CBD5E1"/>
                      </a:solidFill>
                    </a:lnL>
                    <a:lnR w="6350">
                      <a:solidFill>
                        <a:srgbClr val="CBD5E1"/>
                      </a:solidFill>
                    </a:lnR>
                    <a:lnT w="6350">
                      <a:solidFill>
                        <a:srgbClr val="CBD5E1"/>
                      </a:solidFill>
                    </a:lnT>
                    <a:lnB w="6350">
                      <a:solidFill>
                        <a:srgbClr val="CBD5E1"/>
                      </a:solidFill>
                    </a:lnB>
                    <a:solidFill>
                      <a:srgbClr val="1B365D"/>
                    </a:solidFill>
                  </a:tcPr>
                </a:tc>
                <a:tc>
                  <a:txBody>
                    <a:bodyPr lIns="55000" rIns="55000" tIns="32000" bIns="32000" anchor="ctr"/>
                    <a:lstStyle/>
                    <a:p>
                      <a:pPr algn="ctr">
                        <a:buNone/>
                      </a:pPr>
                      <a:r>
                        <a:rPr lang="en-US" sz="880" b="1" dirty="0">
                          <a:solidFill>
                            <a:srgbClr val="FFFFFF"/>
                          </a:solidFill>
                          <a:latin typeface="Calibri"/>
                        </a:rPr>
                        <a:t>Actual Empirical Finding</a:t>
                      </a:r>
                    </a:p>
                  </a:txBody>
                  <a:tcPr>
                    <a:lnL w="6350">
                      <a:solidFill>
                        <a:srgbClr val="CBD5E1"/>
                      </a:solidFill>
                    </a:lnL>
                    <a:lnR w="6350">
                      <a:solidFill>
                        <a:srgbClr val="CBD5E1"/>
                      </a:solidFill>
                    </a:lnR>
                    <a:lnT w="6350">
                      <a:solidFill>
                        <a:srgbClr val="CBD5E1"/>
                      </a:solidFill>
                    </a:lnT>
                    <a:lnB w="6350">
                      <a:solidFill>
                        <a:srgbClr val="CBD5E1"/>
                      </a:solidFill>
                    </a:lnB>
                    <a:solidFill>
                      <a:srgbClr val="1B365D"/>
                    </a:solidFill>
                  </a:tcPr>
                </a:tc>
                <a:tc>
                  <a:txBody>
                    <a:bodyPr lIns="55000" rIns="55000" tIns="32000" bIns="32000" anchor="ctr"/>
                    <a:lstStyle/>
                    <a:p>
                      <a:pPr algn="ctr">
                        <a:buNone/>
                      </a:pPr>
                      <a:r>
                        <a:rPr lang="en-US" sz="880" b="1" dirty="0">
                          <a:solidFill>
                            <a:srgbClr val="FFFFFF"/>
                          </a:solidFill>
                          <a:latin typeface="Calibri"/>
                        </a:rPr>
                        <a:t>Interpretation &amp; Limitation</a:t>
                      </a:r>
                    </a:p>
                  </a:txBody>
                  <a:tcPr>
                    <a:lnL w="6350">
                      <a:solidFill>
                        <a:srgbClr val="CBD5E1"/>
                      </a:solidFill>
                    </a:lnL>
                    <a:lnR w="6350">
                      <a:solidFill>
                        <a:srgbClr val="CBD5E1"/>
                      </a:solidFill>
                    </a:lnR>
                    <a:lnT w="6350">
                      <a:solidFill>
                        <a:srgbClr val="CBD5E1"/>
                      </a:solidFill>
                    </a:lnT>
                    <a:lnB w="6350">
                      <a:solidFill>
                        <a:srgbClr val="CBD5E1"/>
                      </a:solidFill>
                    </a:lnB>
                    <a:solidFill>
                      <a:srgbClr val="1B365D"/>
                    </a:solidFill>
                  </a:tcPr>
                </a:tc>
              </a:tr>
              <a:tr h="559090">
                <a:tc>
                  <a:txBody>
                    <a:bodyPr lIns="55000" rIns="55000" tIns="32000" bIns="32000" anchor="ctr"/>
                    <a:lstStyle/>
                    <a:p>
                      <a:pPr algn="l">
                        <a:buNone/>
                      </a:pPr>
                      <a:r>
                        <a:rPr lang="en-US" sz="830" b="1" dirty="0">
                          <a:solidFill>
                            <a:srgbClr val="1E293B"/>
                          </a:solidFill>
                          <a:latin typeface="Calibri"/>
                        </a:rPr>
                        <a:t>1. File Structure: Do all 315 CPCB CSVs share identical schemas?</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l">
                        <a:buNone/>
                      </a:pPr>
                      <a:r>
                        <a:rPr lang="en-US" sz="830" b="0" dirty="0">
                          <a:solidFill>
                            <a:srgbClr val="1E293B"/>
                          </a:solidFill>
                          <a:latin typeface="Calibri"/>
                        </a:rPr>
                        <a:t>Automated schema profiling in 01_data_inspection.R across 3 folders.</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l">
                        <a:buNone/>
                      </a:pPr>
                      <a:r>
                        <a:rPr lang="en-US" sz="830" b="0" dirty="0">
                          <a:solidFill>
                            <a:srgbClr val="1E293B"/>
                          </a:solidFill>
                          <a:latin typeface="Calibri"/>
                        </a:rPr>
                        <a:t>311,379 raw rows; 1 Biological CSV misclassified in Chemical folder; OCR header typos found.</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l">
                        <a:buNone/>
                      </a:pPr>
                      <a:r>
                        <a:rPr lang="en-US" sz="830" b="0" dirty="0">
                          <a:solidFill>
                            <a:srgbClr val="1E293B"/>
                          </a:solidFill>
                          <a:latin typeface="Calibri"/>
                        </a:rPr>
                        <a:t>Category folders have distinct schemas; consolidated by (station, sample_datetime) into 109,422 rows.</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559090">
                <a:tc>
                  <a:txBody>
                    <a:bodyPr lIns="55000" rIns="55000" tIns="32000" bIns="32000" anchor="ctr"/>
                    <a:lstStyle/>
                    <a:p>
                      <a:pPr algn="l">
                        <a:buNone/>
                      </a:pPr>
                      <a:r>
                        <a:rPr lang="en-US" sz="830" b="1" dirty="0">
                          <a:solidFill>
                            <a:srgbClr val="1E293B"/>
                          </a:solidFill>
                          <a:latin typeface="Calibri"/>
                        </a:rPr>
                        <a:t>2. Data Validity: Are raw numeric measurements within physical bounds?</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l">
                        <a:buNone/>
                      </a:pPr>
                      <a:r>
                        <a:rPr lang="en-US" sz="830" b="0" dirty="0">
                          <a:solidFill>
                            <a:srgbClr val="1E293B"/>
                          </a:solidFill>
                          <a:latin typeface="Calibri"/>
                        </a:rPr>
                        <a:t>Range checks on pH [0, 14], DO [0, 25 mg/L], and state name regex matching.</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l">
                        <a:buNone/>
                      </a:pPr>
                      <a:r>
                        <a:rPr lang="en-US" sz="830" b="0" dirty="0">
                          <a:solidFill>
                            <a:srgbClr val="1E293B"/>
                          </a:solidFill>
                          <a:latin typeface="Calibri"/>
                        </a:rPr>
                        <a:t>Found 89 Kaggle rows &amp; 4 CPCB rows with pH &gt; 14 (up to 748); 11 CPCB DO &gt; 25 mg/L; 98 valid DO = 0.</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l">
                        <a:buNone/>
                      </a:pPr>
                      <a:r>
                        <a:rPr lang="en-US" sz="830" b="0" dirty="0">
                          <a:solidFill>
                            <a:srgbClr val="1E293B"/>
                          </a:solidFill>
                          <a:latin typeface="Calibri"/>
                        </a:rPr>
                        <a:t>Replaced impossible values with NA instead of deleting rows, preserving valid co-measured parameters.</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r>
              <a:tr h="559090">
                <a:tc>
                  <a:txBody>
                    <a:bodyPr lIns="55000" rIns="55000" tIns="32000" bIns="32000" anchor="ctr"/>
                    <a:lstStyle/>
                    <a:p>
                      <a:pPr algn="l">
                        <a:buNone/>
                      </a:pPr>
                      <a:r>
                        <a:rPr lang="en-US" sz="830" b="1" dirty="0">
                          <a:solidFill>
                            <a:srgbClr val="1E293B"/>
                          </a:solidFill>
                          <a:latin typeface="Calibri"/>
                        </a:rPr>
                        <a:t>3. Geographic Variation: Does organic pollution (BOD) vary across states?</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l">
                        <a:buNone/>
                      </a:pPr>
                      <a:r>
                        <a:rPr lang="en-US" sz="830" b="0" dirty="0">
                          <a:solidFill>
                            <a:srgbClr val="1E293B"/>
                          </a:solidFill>
                          <a:latin typeface="Calibri"/>
                        </a:rPr>
                        <a:t>State boxplots + Kruskal-Wallis test across top 6 monitored states (n = 51,694).</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l">
                        <a:buNone/>
                      </a:pPr>
                      <a:r>
                        <a:rPr lang="en-US" sz="830" b="0" dirty="0">
                          <a:solidFill>
                            <a:srgbClr val="1E293B"/>
                          </a:solidFill>
                          <a:latin typeface="Calibri"/>
                        </a:rPr>
                        <a:t>Highly significant difference: Chi-sq = 11,725.65, df = 5, p &lt; 2.2e-16.</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l">
                        <a:buNone/>
                      </a:pPr>
                      <a:r>
                        <a:rPr lang="en-US" sz="830" b="0" dirty="0">
                          <a:solidFill>
                            <a:srgbClr val="1E293B"/>
                          </a:solidFill>
                          <a:latin typeface="Calibri"/>
                        </a:rPr>
                        <a:t>Industrial/urbanized states show wider BOD tails; unequal station counts across states limit rankings.</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559090">
                <a:tc>
                  <a:txBody>
                    <a:bodyPr lIns="55000" rIns="55000" tIns="32000" bIns="32000" anchor="ctr"/>
                    <a:lstStyle/>
                    <a:p>
                      <a:pPr algn="l">
                        <a:buNone/>
                      </a:pPr>
                      <a:r>
                        <a:rPr lang="en-US" sz="830" b="1" dirty="0">
                          <a:solidFill>
                            <a:srgbClr val="1E293B"/>
                          </a:solidFill>
                          <a:latin typeface="Calibri"/>
                        </a:rPr>
                        <a:t>4. Seasonal Effect: How do Pre-Monsoon and Monsoon DO &amp; BOD compare?</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l">
                        <a:buNone/>
                      </a:pPr>
                      <a:r>
                        <a:rPr lang="en-US" sz="830" b="0" dirty="0">
                          <a:solidFill>
                            <a:srgbClr val="1E293B"/>
                          </a:solidFill>
                          <a:latin typeface="Calibri"/>
                        </a:rPr>
                        <a:t>Timestamp parsing + Wilcoxon Rank-Sum test on DO (Pre-Monsoon vs. Monsoon).</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l">
                        <a:buNone/>
                      </a:pPr>
                      <a:r>
                        <a:rPr lang="en-US" sz="830" b="0" dirty="0">
                          <a:solidFill>
                            <a:srgbClr val="1E293B"/>
                          </a:solidFill>
                          <a:latin typeface="Calibri"/>
                        </a:rPr>
                        <a:t>Significant difference (W = 3.61e8, p = 5.48e-24); median BOD drops from 2.40 to 2.10 mg/L in Monsoon.</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l">
                        <a:buNone/>
                      </a:pPr>
                      <a:r>
                        <a:rPr lang="en-US" sz="830" b="0" dirty="0">
                          <a:solidFill>
                            <a:srgbClr val="1E293B"/>
                          </a:solidFill>
                          <a:latin typeface="Calibri"/>
                        </a:rPr>
                        <a:t>Monsoon rainfall dilutes organic BOD load, while higher summer temperatures slightly shift DO medians.</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r>
              <a:tr h="559090">
                <a:tc>
                  <a:txBody>
                    <a:bodyPr lIns="55000" rIns="55000" tIns="32000" bIns="32000" anchor="ctr"/>
                    <a:lstStyle/>
                    <a:p>
                      <a:pPr algn="l">
                        <a:buNone/>
                      </a:pPr>
                      <a:r>
                        <a:rPr lang="en-US" sz="830" b="1" dirty="0">
                          <a:solidFill>
                            <a:srgbClr val="1E293B"/>
                          </a:solidFill>
                          <a:latin typeface="Calibri"/>
                        </a:rPr>
                        <a:t>5. Historical Comparison: Can Kaggle (2003–14) &amp; CPCB (2018–24) be merged?</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l">
                        <a:buNone/>
                      </a:pPr>
                      <a:r>
                        <a:rPr lang="en-US" sz="830" b="0" dirty="0">
                          <a:solidFill>
                            <a:srgbClr val="1E293B"/>
                          </a:solidFill>
                          <a:latin typeface="Calibri"/>
                        </a:rPr>
                        <a:t>Schema &amp; coverage audit + state-level median comparison across 19 matched states.</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l">
                        <a:buNone/>
                      </a:pPr>
                      <a:r>
                        <a:rPr lang="en-US" sz="830" b="0" dirty="0">
                          <a:solidFill>
                            <a:srgbClr val="1E293B"/>
                          </a:solidFill>
                          <a:latin typeface="Calibri"/>
                        </a:rPr>
                        <a:t>Row-level merge is invalid (annual means vs. event samples, 4-yr gap); state DO medians stable (~6.3–6.8).</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l">
                        <a:buNone/>
                      </a:pPr>
                      <a:r>
                        <a:rPr lang="en-US" sz="830" b="0" dirty="0">
                          <a:solidFill>
                            <a:srgbClr val="1E293B"/>
                          </a:solidFill>
                          <a:latin typeface="Calibri"/>
                        </a:rPr>
                        <a:t>Network expanded &gt;10x (321 to 4,017 stations), so differences reflect station mix, not pure time trends.</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559090">
                <a:tc>
                  <a:txBody>
                    <a:bodyPr lIns="55000" rIns="55000" tIns="32000" bIns="32000" anchor="ctr"/>
                    <a:lstStyle/>
                    <a:p>
                      <a:pPr algn="l">
                        <a:buNone/>
                      </a:pPr>
                      <a:r>
                        <a:rPr lang="en-US" sz="830" b="1" dirty="0">
                          <a:solidFill>
                            <a:srgbClr val="1E293B"/>
                          </a:solidFill>
                          <a:latin typeface="Calibri"/>
                        </a:rPr>
                        <a:t>6. Linear Regression: How well does BOD alone linearly predict DO?</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l">
                        <a:buNone/>
                      </a:pPr>
                      <a:r>
                        <a:rPr lang="en-US" sz="830" b="0" dirty="0">
                          <a:solidFill>
                            <a:srgbClr val="1E293B"/>
                          </a:solidFill>
                          <a:latin typeface="Calibri"/>
                        </a:rPr>
                        <a:t>lm(DO ~ BOD) on 80:20 split (set.seed(513)) + full-data &amp; station-split checks.</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l">
                        <a:buNone/>
                      </a:pPr>
                      <a:r>
                        <a:rPr lang="en-US" sz="830" b="0" dirty="0">
                          <a:solidFill>
                            <a:srgbClr val="1E293B"/>
                          </a:solidFill>
                          <a:latin typeface="Calibri"/>
                        </a:rPr>
                        <a:t>Primary (BOD&lt;=50): DO = 7.0745 - 0.1784*BOD; Test R² = 0.2370, RMSE = 1.6508, MAE = 1.1750 mg/L.</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l">
                        <a:buNone/>
                      </a:pPr>
                      <a:r>
                        <a:rPr lang="en-US" sz="830" b="0" dirty="0">
                          <a:solidFill>
                            <a:srgbClr val="1E293B"/>
                          </a:solidFill>
                          <a:latin typeface="Calibri"/>
                        </a:rPr>
                        <a:t>Statistically significant negative association, but modest accuracy (~23.7% variance); not causal.</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2"/>
          <p:cNvSpPr/>
          <p:nvPr/>
        </p:nvSpPr>
        <p:spPr>
          <a:xfrm>
            <a:off x="0" y="0"/>
            <a:ext cx="9144000" cy="713232"/>
          </a:xfrm>
          <a:prstGeom prst="rect">
            <a:avLst/>
          </a:prstGeom>
          <a:solidFill>
            <a:srgbClr val="1B365D"/>
          </a:solidFill>
          <a:ln>
            <a:noFill/>
          </a:ln>
        </p:spPr>
      </p:sp>
      <p:sp>
        <p:nvSpPr>
          <p:cNvPr id="3" name="Rect 3"/>
          <p:cNvSpPr/>
          <p:nvPr/>
        </p:nvSpPr>
        <p:spPr>
          <a:xfrm>
            <a:off x="0" y="713232"/>
            <a:ext cx="9144000" cy="36576"/>
          </a:xfrm>
          <a:prstGeom prst="rect">
            <a:avLst/>
          </a:prstGeom>
          <a:solidFill>
            <a:srgbClr val="007A78"/>
          </a:solidFill>
          <a:ln>
            <a:noFill/>
          </a:ln>
        </p:spPr>
      </p:sp>
      <p:sp>
        <p:nvSpPr>
          <p:cNvPr id="4" name="TextBox 4"/>
          <p:cNvSpPr txBox="1"/>
          <p:nvPr/>
        </p:nvSpPr>
        <p:spPr>
          <a:xfrm>
            <a:off x="320040" y="54864"/>
            <a:ext cx="8503920" cy="621792"/>
          </a:xfrm>
          <a:prstGeom prst="rect">
            <a:avLst/>
          </a:prstGeom>
          <a:noFill/>
          <a:ln>
            <a:noFill/>
          </a:ln>
        </p:spPr>
        <p:txBody>
          <a:bodyPr wrap="square" lIns="18288" tIns="18288" rIns="18288" bIns="18288" anchor="t"/>
          <a:lstStyle/>
          <a:p>
            <a:pPr marL="0" indent="0" algn="l">
              <a:spcBef>
                <a:spcPts val="0"/>
              </a:spcBef>
              <a:spcAft>
                <a:spcPts val="100"/>
              </a:spcAft>
              <a:buNone/>
            </a:pPr>
            <a:r>
              <a:rPr lang="en-US" sz="850" b="1" i="0" dirty="0">
                <a:solidFill>
                  <a:srgbClr val="7FD4D2"/>
                </a:solidFill>
                <a:latin typeface="Calibri"/>
                <a:cs typeface="Calibri"/>
              </a:rPr>
              <a:t>SECTION 3  |  DATA SOURCES &amp; INVENTORY</a:t>
            </a:r>
          </a:p>
          <a:p>
            <a:pPr marL="0" indent="0" algn="l">
              <a:spcBef>
                <a:spcPts val="0"/>
              </a:spcBef>
              <a:spcAft>
                <a:spcPts val="100"/>
              </a:spcAft>
              <a:buNone/>
            </a:pPr>
            <a:r>
              <a:rPr lang="en-US" sz="1750" b="1" i="0" dirty="0">
                <a:solidFill>
                  <a:srgbClr val="FFFFFF"/>
                </a:solidFill>
                <a:latin typeface="Calibri"/>
                <a:cs typeface="Calibri"/>
              </a:rPr>
              <a:t>Dataset Description and Actual Verified Dimensions</a:t>
            </a:r>
          </a:p>
          <a:p>
            <a:pPr marL="0" indent="0" algn="l">
              <a:spcBef>
                <a:spcPts val="0"/>
              </a:spcBef>
              <a:spcAft>
                <a:spcPts val="0"/>
              </a:spcAft>
              <a:buNone/>
            </a:pPr>
            <a:r>
              <a:rPr lang="en-US" sz="950" b="0" i="1" dirty="0">
                <a:solidFill>
                  <a:srgbClr val="DCE6F1"/>
                </a:solidFill>
                <a:latin typeface="Calibri"/>
                <a:cs typeface="Calibri"/>
              </a:rPr>
              <a:t>Primary official CPCB/NWDP multi-file archive and supplementary Kaggle historical baseline</a:t>
            </a:r>
          </a:p>
        </p:txBody>
      </p:sp>
      <p:sp>
        <p:nvSpPr>
          <p:cNvPr id="5" name="Rect 5"/>
          <p:cNvSpPr/>
          <p:nvPr/>
        </p:nvSpPr>
        <p:spPr>
          <a:xfrm>
            <a:off x="0" y="4864608"/>
            <a:ext cx="9144000" cy="278892"/>
          </a:xfrm>
          <a:prstGeom prst="rect">
            <a:avLst/>
          </a:prstGeom>
          <a:solidFill>
            <a:srgbClr val="EEF2F6"/>
          </a:solidFill>
          <a:ln>
            <a:noFill/>
          </a:ln>
        </p:spPr>
      </p:sp>
      <p:sp>
        <p:nvSpPr>
          <p:cNvPr id="6" name="TextBox 6"/>
          <p:cNvSpPr txBox="1"/>
          <p:nvPr/>
        </p:nvSpPr>
        <p:spPr>
          <a:xfrm>
            <a:off x="320040" y="4882896"/>
            <a:ext cx="6858000" cy="228600"/>
          </a:xfrm>
          <a:prstGeom prst="rect">
            <a:avLst/>
          </a:prstGeom>
          <a:noFill/>
          <a:ln>
            <a:noFill/>
          </a:ln>
        </p:spPr>
        <p:txBody>
          <a:bodyPr wrap="square" lIns="0" tIns="18288" rIns="0" bIns="0" anchor="t"/>
          <a:lstStyle/>
          <a:p>
            <a:pPr marL="0" indent="0" algn="l">
              <a:spcBef>
                <a:spcPts val="0"/>
              </a:spcBef>
              <a:spcAft>
                <a:spcPts val="400"/>
              </a:spcAft>
              <a:buNone/>
            </a:pPr>
            <a:r>
              <a:rPr lang="en-US" sz="850" b="0" i="0" dirty="0">
                <a:solidFill>
                  <a:srgbClr val="475569"/>
                </a:solidFill>
                <a:latin typeface="Calibri"/>
                <a:cs typeface="Calibri"/>
              </a:rPr>
              <a:t>Emmanuel Jobin (2026EMAI20054)  |  DSC 513: Introduction to Data Science  |  IIIT Kottayam</a:t>
            </a:r>
          </a:p>
        </p:txBody>
      </p:sp>
      <p:sp>
        <p:nvSpPr>
          <p:cNvPr id="7" name="TextBox 7"/>
          <p:cNvSpPr txBox="1"/>
          <p:nvPr/>
        </p:nvSpPr>
        <p:spPr>
          <a:xfrm>
            <a:off x="7315200" y="4882896"/>
            <a:ext cx="1508760" cy="228600"/>
          </a:xfrm>
          <a:prstGeom prst="rect">
            <a:avLst/>
          </a:prstGeom>
          <a:noFill/>
          <a:ln>
            <a:noFill/>
          </a:ln>
        </p:spPr>
        <p:txBody>
          <a:bodyPr wrap="square" lIns="0" tIns="18288" rIns="0" bIns="0" anchor="t"/>
          <a:lstStyle/>
          <a:p>
            <a:pPr marL="0" indent="0" algn="r">
              <a:spcBef>
                <a:spcPts val="0"/>
              </a:spcBef>
              <a:spcAft>
                <a:spcPts val="400"/>
              </a:spcAft>
              <a:buNone/>
            </a:pPr>
            <a:r>
              <a:rPr lang="en-US" sz="850" b="1" i="0" dirty="0">
                <a:solidFill>
                  <a:srgbClr val="1B365D"/>
                </a:solidFill>
                <a:latin typeface="Calibri"/>
                <a:cs typeface="Calibri"/>
              </a:rPr>
              <a:t>Slide 5 of 18</a:t>
            </a:r>
          </a:p>
        </p:txBody>
      </p:sp>
      <p:graphicFrame>
        <p:nvGraphicFramePr>
          <p:cNvPr id="8" name="Table 8"/>
          <p:cNvGraphicFramePr>
            <a:graphicFrameLocks noGrp="1"/>
          </p:cNvGraphicFramePr>
          <p:nvPr/>
        </p:nvGraphicFramePr>
        <p:xfrm>
          <a:off x="320040" y="868680"/>
          <a:ext cx="8503920" cy="2148840"/>
        </p:xfrm>
        <a:graphic>
          <a:graphicData uri="http://schemas.openxmlformats.org/drawingml/2006/table">
            <a:tbl>
              <a:tblPr firstRow="1" bandRow="1"/>
              <a:tblGrid>
                <a:gridCol w="1700784"/>
                <a:gridCol w="1700784"/>
                <a:gridCol w="765353"/>
                <a:gridCol w="935431"/>
                <a:gridCol w="1360627"/>
                <a:gridCol w="2040941"/>
              </a:tblGrid>
              <a:tr h="358140">
                <a:tc>
                  <a:txBody>
                    <a:bodyPr lIns="55000" rIns="55000" tIns="32000" bIns="32000" anchor="ctr"/>
                    <a:lstStyle/>
                    <a:p>
                      <a:pPr algn="l">
                        <a:buNone/>
                      </a:pPr>
                      <a:r>
                        <a:rPr lang="en-US" sz="910" b="1" dirty="0">
                          <a:solidFill>
                            <a:srgbClr val="FFFFFF"/>
                          </a:solidFill>
                          <a:latin typeface="Calibri"/>
                        </a:rPr>
                        <a:t>Dataset Component</a:t>
                      </a:r>
                    </a:p>
                  </a:txBody>
                  <a:tcPr>
                    <a:lnL w="6350">
                      <a:solidFill>
                        <a:srgbClr val="CBD5E1"/>
                      </a:solidFill>
                    </a:lnL>
                    <a:lnR w="6350">
                      <a:solidFill>
                        <a:srgbClr val="CBD5E1"/>
                      </a:solidFill>
                    </a:lnR>
                    <a:lnT w="6350">
                      <a:solidFill>
                        <a:srgbClr val="CBD5E1"/>
                      </a:solidFill>
                    </a:lnT>
                    <a:lnB w="6350">
                      <a:solidFill>
                        <a:srgbClr val="CBD5E1"/>
                      </a:solidFill>
                    </a:lnB>
                    <a:solidFill>
                      <a:srgbClr val="1B365D"/>
                    </a:solidFill>
                  </a:tcPr>
                </a:tc>
                <a:tc>
                  <a:txBody>
                    <a:bodyPr lIns="55000" rIns="55000" tIns="32000" bIns="32000" anchor="ctr"/>
                    <a:lstStyle/>
                    <a:p>
                      <a:pPr algn="ctr">
                        <a:buNone/>
                      </a:pPr>
                      <a:r>
                        <a:rPr lang="en-US" sz="910" b="1" dirty="0">
                          <a:solidFill>
                            <a:srgbClr val="FFFFFF"/>
                          </a:solidFill>
                          <a:latin typeface="Calibri"/>
                        </a:rPr>
                        <a:t>Source &amp; Custodian</a:t>
                      </a:r>
                    </a:p>
                  </a:txBody>
                  <a:tcPr>
                    <a:lnL w="6350">
                      <a:solidFill>
                        <a:srgbClr val="CBD5E1"/>
                      </a:solidFill>
                    </a:lnL>
                    <a:lnR w="6350">
                      <a:solidFill>
                        <a:srgbClr val="CBD5E1"/>
                      </a:solidFill>
                    </a:lnR>
                    <a:lnT w="6350">
                      <a:solidFill>
                        <a:srgbClr val="CBD5E1"/>
                      </a:solidFill>
                    </a:lnT>
                    <a:lnB w="6350">
                      <a:solidFill>
                        <a:srgbClr val="CBD5E1"/>
                      </a:solidFill>
                    </a:lnB>
                    <a:solidFill>
                      <a:srgbClr val="1B365D"/>
                    </a:solidFill>
                  </a:tcPr>
                </a:tc>
                <a:tc>
                  <a:txBody>
                    <a:bodyPr lIns="55000" rIns="55000" tIns="32000" bIns="32000" anchor="ctr"/>
                    <a:lstStyle/>
                    <a:p>
                      <a:pPr algn="ctr">
                        <a:buNone/>
                      </a:pPr>
                      <a:r>
                        <a:rPr lang="en-US" sz="910" b="1" dirty="0">
                          <a:solidFill>
                            <a:srgbClr val="FFFFFF"/>
                          </a:solidFill>
                          <a:latin typeface="Calibri"/>
                        </a:rPr>
                        <a:t>Files</a:t>
                      </a:r>
                    </a:p>
                  </a:txBody>
                  <a:tcPr>
                    <a:lnL w="6350">
                      <a:solidFill>
                        <a:srgbClr val="CBD5E1"/>
                      </a:solidFill>
                    </a:lnL>
                    <a:lnR w="6350">
                      <a:solidFill>
                        <a:srgbClr val="CBD5E1"/>
                      </a:solidFill>
                    </a:lnR>
                    <a:lnT w="6350">
                      <a:solidFill>
                        <a:srgbClr val="CBD5E1"/>
                      </a:solidFill>
                    </a:lnT>
                    <a:lnB w="6350">
                      <a:solidFill>
                        <a:srgbClr val="CBD5E1"/>
                      </a:solidFill>
                    </a:lnB>
                    <a:solidFill>
                      <a:srgbClr val="1B365D"/>
                    </a:solidFill>
                  </a:tcPr>
                </a:tc>
                <a:tc>
                  <a:txBody>
                    <a:bodyPr lIns="55000" rIns="55000" tIns="32000" bIns="32000" anchor="ctr"/>
                    <a:lstStyle/>
                    <a:p>
                      <a:pPr algn="ctr">
                        <a:buNone/>
                      </a:pPr>
                      <a:r>
                        <a:rPr lang="en-US" sz="910" b="1" dirty="0">
                          <a:solidFill>
                            <a:srgbClr val="FFFFFF"/>
                          </a:solidFill>
                          <a:latin typeface="Calibri"/>
                        </a:rPr>
                        <a:t>Raw Rows</a:t>
                      </a:r>
                    </a:p>
                  </a:txBody>
                  <a:tcPr>
                    <a:lnL w="6350">
                      <a:solidFill>
                        <a:srgbClr val="CBD5E1"/>
                      </a:solidFill>
                    </a:lnL>
                    <a:lnR w="6350">
                      <a:solidFill>
                        <a:srgbClr val="CBD5E1"/>
                      </a:solidFill>
                    </a:lnR>
                    <a:lnT w="6350">
                      <a:solidFill>
                        <a:srgbClr val="CBD5E1"/>
                      </a:solidFill>
                    </a:lnT>
                    <a:lnB w="6350">
                      <a:solidFill>
                        <a:srgbClr val="CBD5E1"/>
                      </a:solidFill>
                    </a:lnB>
                    <a:solidFill>
                      <a:srgbClr val="1B365D"/>
                    </a:solidFill>
                  </a:tcPr>
                </a:tc>
                <a:tc>
                  <a:txBody>
                    <a:bodyPr lIns="55000" rIns="55000" tIns="32000" bIns="32000" anchor="ctr"/>
                    <a:lstStyle/>
                    <a:p>
                      <a:pPr algn="ctr">
                        <a:buNone/>
                      </a:pPr>
                      <a:r>
                        <a:rPr lang="en-US" sz="910" b="1" dirty="0">
                          <a:solidFill>
                            <a:srgbClr val="FFFFFF"/>
                          </a:solidFill>
                          <a:latin typeface="Calibri"/>
                        </a:rPr>
                        <a:t>Cleaned Rows x Cols</a:t>
                      </a:r>
                    </a:p>
                  </a:txBody>
                  <a:tcPr>
                    <a:lnL w="6350">
                      <a:solidFill>
                        <a:srgbClr val="CBD5E1"/>
                      </a:solidFill>
                    </a:lnL>
                    <a:lnR w="6350">
                      <a:solidFill>
                        <a:srgbClr val="CBD5E1"/>
                      </a:solidFill>
                    </a:lnR>
                    <a:lnT w="6350">
                      <a:solidFill>
                        <a:srgbClr val="CBD5E1"/>
                      </a:solidFill>
                    </a:lnT>
                    <a:lnB w="6350">
                      <a:solidFill>
                        <a:srgbClr val="CBD5E1"/>
                      </a:solidFill>
                    </a:lnB>
                    <a:solidFill>
                      <a:srgbClr val="1B365D"/>
                    </a:solidFill>
                  </a:tcPr>
                </a:tc>
                <a:tc>
                  <a:txBody>
                    <a:bodyPr lIns="55000" rIns="55000" tIns="32000" bIns="32000" anchor="ctr"/>
                    <a:lstStyle/>
                    <a:p>
                      <a:pPr algn="ctr">
                        <a:buNone/>
                      </a:pPr>
                      <a:r>
                        <a:rPr lang="en-US" sz="910" b="1" dirty="0">
                          <a:solidFill>
                            <a:srgbClr val="FFFFFF"/>
                          </a:solidFill>
                          <a:latin typeface="Calibri"/>
                        </a:rPr>
                        <a:t>Temporal Coverage &amp; Role</a:t>
                      </a:r>
                    </a:p>
                  </a:txBody>
                  <a:tcPr>
                    <a:lnL w="6350">
                      <a:solidFill>
                        <a:srgbClr val="CBD5E1"/>
                      </a:solidFill>
                    </a:lnL>
                    <a:lnR w="6350">
                      <a:solidFill>
                        <a:srgbClr val="CBD5E1"/>
                      </a:solidFill>
                    </a:lnR>
                    <a:lnT w="6350">
                      <a:solidFill>
                        <a:srgbClr val="CBD5E1"/>
                      </a:solidFill>
                    </a:lnT>
                    <a:lnB w="6350">
                      <a:solidFill>
                        <a:srgbClr val="CBD5E1"/>
                      </a:solidFill>
                    </a:lnB>
                    <a:solidFill>
                      <a:srgbClr val="1B365D"/>
                    </a:solidFill>
                  </a:tcPr>
                </a:tc>
              </a:tr>
              <a:tr h="358140">
                <a:tc>
                  <a:txBody>
                    <a:bodyPr lIns="55000" rIns="55000" tIns="32000" bIns="32000" anchor="ctr"/>
                    <a:lstStyle/>
                    <a:p>
                      <a:pPr algn="l">
                        <a:buNone/>
                      </a:pPr>
                      <a:r>
                        <a:rPr lang="en-US" sz="860" b="1" dirty="0">
                          <a:solidFill>
                            <a:srgbClr val="1E293B"/>
                          </a:solidFill>
                          <a:latin typeface="Calibri"/>
                        </a:rPr>
                        <a:t>CPCB Physical Category</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l">
                        <a:buNone/>
                      </a:pPr>
                      <a:r>
                        <a:rPr lang="en-US" sz="860" b="0" dirty="0">
                          <a:solidFill>
                            <a:srgbClr val="1E293B"/>
                          </a:solidFill>
                          <a:latin typeface="Calibri"/>
                        </a:rPr>
                        <a:t>NWDP / CPCB, Govt. of India</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ctr">
                        <a:buNone/>
                      </a:pPr>
                      <a:r>
                        <a:rPr lang="en-US" sz="860" b="0" dirty="0">
                          <a:solidFill>
                            <a:srgbClr val="1E293B"/>
                          </a:solidFill>
                          <a:latin typeface="Calibri"/>
                        </a:rPr>
                        <a:t>104 CSVs</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ctr">
                        <a:buNone/>
                      </a:pPr>
                      <a:r>
                        <a:rPr lang="en-US" sz="860" b="0" dirty="0">
                          <a:solidFill>
                            <a:srgbClr val="1E293B"/>
                          </a:solidFill>
                          <a:latin typeface="Calibri"/>
                        </a:rPr>
                        <a:t>94,159</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l">
                        <a:buNone/>
                      </a:pPr>
                      <a:r>
                        <a:rPr lang="en-US" sz="860" b="0" dirty="0">
                          <a:solidFill>
                            <a:srgbClr val="1E293B"/>
                          </a:solidFill>
                          <a:latin typeface="Calibri"/>
                        </a:rPr>
                        <a:t>Consolidated into Master</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l">
                        <a:buNone/>
                      </a:pPr>
                      <a:r>
                        <a:rPr lang="en-US" sz="860" b="0" dirty="0">
                          <a:solidFill>
                            <a:srgbClr val="1E293B"/>
                          </a:solidFill>
                          <a:latin typeface="Calibri"/>
                        </a:rPr>
                        <a:t>2018–2024 | Physical indicators (pH, EC, Turbidity)</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358140">
                <a:tc>
                  <a:txBody>
                    <a:bodyPr lIns="55000" rIns="55000" tIns="32000" bIns="32000" anchor="ctr"/>
                    <a:lstStyle/>
                    <a:p>
                      <a:pPr algn="l">
                        <a:buNone/>
                      </a:pPr>
                      <a:r>
                        <a:rPr lang="en-US" sz="860" b="1" dirty="0">
                          <a:solidFill>
                            <a:srgbClr val="1E293B"/>
                          </a:solidFill>
                          <a:latin typeface="Calibri"/>
                        </a:rPr>
                        <a:t>CPCB Chemical Category</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l">
                        <a:buNone/>
                      </a:pPr>
                      <a:r>
                        <a:rPr lang="en-US" sz="860" b="0" dirty="0">
                          <a:solidFill>
                            <a:srgbClr val="1E293B"/>
                          </a:solidFill>
                          <a:latin typeface="Calibri"/>
                        </a:rPr>
                        <a:t>NWDP / CPCB, Govt. of India</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ctr">
                        <a:buNone/>
                      </a:pPr>
                      <a:r>
                        <a:rPr lang="en-US" sz="860" b="0" dirty="0">
                          <a:solidFill>
                            <a:srgbClr val="1E293B"/>
                          </a:solidFill>
                          <a:latin typeface="Calibri"/>
                        </a:rPr>
                        <a:t>106 CSVs*</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ctr">
                        <a:buNone/>
                      </a:pPr>
                      <a:r>
                        <a:rPr lang="en-US" sz="860" b="0" dirty="0">
                          <a:solidFill>
                            <a:srgbClr val="1E293B"/>
                          </a:solidFill>
                          <a:latin typeface="Calibri"/>
                        </a:rPr>
                        <a:t>109,683</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l">
                        <a:buNone/>
                      </a:pPr>
                      <a:r>
                        <a:rPr lang="en-US" sz="860" b="0" dirty="0">
                          <a:solidFill>
                            <a:srgbClr val="1E293B"/>
                          </a:solidFill>
                          <a:latin typeface="Calibri"/>
                        </a:rPr>
                        <a:t>Consolidated into Master</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l">
                        <a:buNone/>
                      </a:pPr>
                      <a:r>
                        <a:rPr lang="en-US" sz="860" b="0" dirty="0">
                          <a:solidFill>
                            <a:srgbClr val="1E293B"/>
                          </a:solidFill>
                          <a:latin typeface="Calibri"/>
                        </a:rPr>
                        <a:t>2018–2024 | Chemical indicators (DO, Ammonia, Nitrate)</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r>
              <a:tr h="358140">
                <a:tc>
                  <a:txBody>
                    <a:bodyPr lIns="55000" rIns="55000" tIns="32000" bIns="32000" anchor="ctr"/>
                    <a:lstStyle/>
                    <a:p>
                      <a:pPr algn="l">
                        <a:buNone/>
                      </a:pPr>
                      <a:r>
                        <a:rPr lang="en-US" sz="860" b="1" dirty="0">
                          <a:solidFill>
                            <a:srgbClr val="1E293B"/>
                          </a:solidFill>
                          <a:latin typeface="Calibri"/>
                        </a:rPr>
                        <a:t>CPCB Biological Category</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l">
                        <a:buNone/>
                      </a:pPr>
                      <a:r>
                        <a:rPr lang="en-US" sz="860" b="0" dirty="0">
                          <a:solidFill>
                            <a:srgbClr val="1E293B"/>
                          </a:solidFill>
                          <a:latin typeface="Calibri"/>
                        </a:rPr>
                        <a:t>NWDP / CPCB, Govt. of India</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ctr">
                        <a:buNone/>
                      </a:pPr>
                      <a:r>
                        <a:rPr lang="en-US" sz="860" b="0" dirty="0">
                          <a:solidFill>
                            <a:srgbClr val="1E293B"/>
                          </a:solidFill>
                          <a:latin typeface="Calibri"/>
                        </a:rPr>
                        <a:t>105 CSVs</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ctr">
                        <a:buNone/>
                      </a:pPr>
                      <a:r>
                        <a:rPr lang="en-US" sz="860" b="0" dirty="0">
                          <a:solidFill>
                            <a:srgbClr val="1E293B"/>
                          </a:solidFill>
                          <a:latin typeface="Calibri"/>
                        </a:rPr>
                        <a:t>107,537</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l">
                        <a:buNone/>
                      </a:pPr>
                      <a:r>
                        <a:rPr lang="en-US" sz="860" b="0" dirty="0">
                          <a:solidFill>
                            <a:srgbClr val="1E293B"/>
                          </a:solidFill>
                          <a:latin typeface="Calibri"/>
                        </a:rPr>
                        <a:t>Consolidated into Master</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l">
                        <a:buNone/>
                      </a:pPr>
                      <a:r>
                        <a:rPr lang="en-US" sz="860" b="0" dirty="0">
                          <a:solidFill>
                            <a:srgbClr val="1E293B"/>
                          </a:solidFill>
                          <a:latin typeface="Calibri"/>
                        </a:rPr>
                        <a:t>2018–2024 | Biological indicators (BOD, Fecal/Total Coliform)</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358140">
                <a:tc>
                  <a:txBody>
                    <a:bodyPr lIns="55000" rIns="55000" tIns="32000" bIns="32000" anchor="ctr"/>
                    <a:lstStyle/>
                    <a:p>
                      <a:pPr algn="l">
                        <a:buNone/>
                      </a:pPr>
                      <a:r>
                        <a:rPr lang="en-US" sz="860" b="1" dirty="0">
                          <a:solidFill>
                            <a:srgbClr val="1E293B"/>
                          </a:solidFill>
                          <a:latin typeface="Calibri"/>
                        </a:rPr>
                        <a:t>CPCB Harmonized Master</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l">
                        <a:buNone/>
                      </a:pPr>
                      <a:r>
                        <a:rPr lang="en-US" sz="860" b="0" dirty="0">
                          <a:solidFill>
                            <a:srgbClr val="1E293B"/>
                          </a:solidFill>
                          <a:latin typeface="Calibri"/>
                        </a:rPr>
                        <a:t>Processed Primary Dataset</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ctr">
                        <a:buNone/>
                      </a:pPr>
                      <a:r>
                        <a:rPr lang="en-US" sz="860" b="0" dirty="0">
                          <a:solidFill>
                            <a:srgbClr val="1E293B"/>
                          </a:solidFill>
                          <a:latin typeface="Calibri"/>
                        </a:rPr>
                        <a:t>315 CSVs</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ctr">
                        <a:buNone/>
                      </a:pPr>
                      <a:r>
                        <a:rPr lang="en-US" sz="860" b="0" dirty="0">
                          <a:solidFill>
                            <a:srgbClr val="1E293B"/>
                          </a:solidFill>
                          <a:latin typeface="Calibri"/>
                        </a:rPr>
                        <a:t>311,379</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l">
                        <a:buNone/>
                      </a:pPr>
                      <a:r>
                        <a:rPr lang="en-US" sz="860" b="0" dirty="0">
                          <a:solidFill>
                            <a:srgbClr val="1E293B"/>
                          </a:solidFill>
                          <a:latin typeface="Calibri"/>
                        </a:rPr>
                        <a:t>109,422 rows x 22 cols</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l">
                        <a:buNone/>
                      </a:pPr>
                      <a:r>
                        <a:rPr lang="en-US" sz="860" b="0" dirty="0">
                          <a:solidFill>
                            <a:srgbClr val="1E293B"/>
                          </a:solidFill>
                          <a:latin typeface="Calibri"/>
                        </a:rPr>
                        <a:t>Primary Dataset | 4,017 geocoded stations across 36 States/UTs</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r>
              <a:tr h="358140">
                <a:tc>
                  <a:txBody>
                    <a:bodyPr lIns="55000" rIns="55000" tIns="32000" bIns="32000" anchor="ctr"/>
                    <a:lstStyle/>
                    <a:p>
                      <a:pPr algn="l">
                        <a:buNone/>
                      </a:pPr>
                      <a:r>
                        <a:rPr lang="en-US" sz="860" b="1" dirty="0">
                          <a:solidFill>
                            <a:srgbClr val="1E293B"/>
                          </a:solidFill>
                          <a:latin typeface="Calibri"/>
                        </a:rPr>
                        <a:t>Kaggle Historical Archive</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l">
                        <a:buNone/>
                      </a:pPr>
                      <a:r>
                        <a:rPr lang="en-US" sz="860" b="0" dirty="0">
                          <a:solidFill>
                            <a:srgbClr val="1E293B"/>
                          </a:solidFill>
                          <a:latin typeface="Calibri"/>
                        </a:rPr>
                        <a:t>Kaggle (water_dataX.csv)</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ctr">
                        <a:buNone/>
                      </a:pPr>
                      <a:r>
                        <a:rPr lang="en-US" sz="860" b="0" dirty="0">
                          <a:solidFill>
                            <a:srgbClr val="1E293B"/>
                          </a:solidFill>
                          <a:latin typeface="Calibri"/>
                        </a:rPr>
                        <a:t>1 CSV</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ctr">
                        <a:buNone/>
                      </a:pPr>
                      <a:r>
                        <a:rPr lang="en-US" sz="860" b="0" dirty="0">
                          <a:solidFill>
                            <a:srgbClr val="1E293B"/>
                          </a:solidFill>
                          <a:latin typeface="Calibri"/>
                        </a:rPr>
                        <a:t>1,991</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l">
                        <a:buNone/>
                      </a:pPr>
                      <a:r>
                        <a:rPr lang="en-US" sz="860" b="0" dirty="0">
                          <a:solidFill>
                            <a:srgbClr val="1E293B"/>
                          </a:solidFill>
                          <a:latin typeface="Calibri"/>
                        </a:rPr>
                        <a:t>1,990 rows x 12 cols</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l">
                        <a:buNone/>
                      </a:pPr>
                      <a:r>
                        <a:rPr lang="en-US" sz="860" b="0" dirty="0">
                          <a:solidFill>
                            <a:srgbClr val="1E293B"/>
                          </a:solidFill>
                          <a:latin typeface="Calibri"/>
                        </a:rPr>
                        <a:t>Supplementary | 2003–2014 annual means across 20 matched states</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bl>
          </a:graphicData>
        </a:graphic>
      </p:graphicFrame>
      <p:sp>
        <p:nvSpPr>
          <p:cNvPr id="9" name="TextBox 9"/>
          <p:cNvSpPr txBox="1"/>
          <p:nvPr/>
        </p:nvSpPr>
        <p:spPr>
          <a:xfrm>
            <a:off x="320040" y="3127248"/>
            <a:ext cx="4160520" cy="1627632"/>
          </a:xfrm>
          <a:prstGeom prst="roundRect">
            <a:avLst>
              <a:gd name="adj" fmla="val 4000"/>
            </a:avLst>
          </a:prstGeom>
          <a:solidFill>
            <a:srgbClr val="F4F7FA"/>
          </a:solidFill>
          <a:ln w="12700">
            <a:solidFill>
              <a:srgbClr val="CBD5E1"/>
            </a:solidFill>
          </a:ln>
        </p:spPr>
        <p:txBody>
          <a:bodyPr wrap="square" lIns="73152" tIns="54864" rIns="73152" bIns="54864" anchor="t"/>
          <a:lstStyle/>
          <a:p>
            <a:pPr marL="0" indent="0" algn="l">
              <a:spcBef>
                <a:spcPts val="0"/>
              </a:spcBef>
              <a:spcAft>
                <a:spcPts val="400"/>
              </a:spcAft>
              <a:buNone/>
            </a:pPr>
            <a:r>
              <a:rPr lang="en-US" sz="1100" b="1" i="0" dirty="0">
                <a:solidFill>
                  <a:srgbClr val="1B365D"/>
                </a:solidFill>
                <a:latin typeface="Calibri"/>
                <a:cs typeface="Calibri"/>
              </a:rPr>
              <a:t>Key Variables &amp; Data Types (CPCB Master: 22 Cols)</a:t>
            </a:r>
          </a:p>
          <a:p>
            <a:pPr marL="190500" indent="-142875" algn="l">
              <a:spcBef>
                <a:spcPts val="0"/>
              </a:spcBef>
              <a:spcAft>
                <a:spcPts val="300"/>
              </a:spcAft>
              <a:buFont typeface="Arial"/>
              <a:buChar char="•"/>
            </a:pPr>
            <a:r>
              <a:rPr lang="en-US" sz="920" b="0" i="0" dirty="0">
                <a:solidFill>
                  <a:srgbClr val="1E293B"/>
                </a:solidFill>
                <a:latin typeface="Calibri"/>
                <a:cs typeface="Calibri"/>
              </a:rPr>
              <a:t>Categorical / Identifier Fields: station (character, 4,017 stations), state (character, 36 States/UTs), district (character), season (Pre-Monsoon, Monsoon, Post-Monsoon, Winter).</a:t>
            </a:r>
          </a:p>
          <a:p>
            <a:pPr marL="190500" indent="-142875" algn="l">
              <a:spcBef>
                <a:spcPts val="0"/>
              </a:spcBef>
              <a:spcAft>
                <a:spcPts val="300"/>
              </a:spcAft>
              <a:buFont typeface="Arial"/>
              <a:buChar char="•"/>
            </a:pPr>
            <a:r>
              <a:rPr lang="en-US" sz="920" b="0" i="0" dirty="0">
                <a:solidFill>
                  <a:srgbClr val="1E293B"/>
                </a:solidFill>
                <a:latin typeface="Calibri"/>
                <a:cs typeface="Calibri"/>
              </a:rPr>
              <a:t>Temporal &amp; Spatial Fields: sample_datetime (POSIXct), year, month, latitude &amp; longitude (numeric WGS84 coordinates, 0% missing).</a:t>
            </a:r>
          </a:p>
          <a:p>
            <a:pPr marL="190500" indent="-142875" algn="l">
              <a:spcBef>
                <a:spcPts val="0"/>
              </a:spcBef>
              <a:spcAft>
                <a:spcPts val="400"/>
              </a:spcAft>
              <a:buFont typeface="Arial"/>
              <a:buChar char="•"/>
            </a:pPr>
            <a:r>
              <a:rPr lang="en-US" sz="920" b="0" i="0" dirty="0">
                <a:solidFill>
                  <a:srgbClr val="1E293B"/>
                </a:solidFill>
                <a:latin typeface="Calibri"/>
                <a:cs typeface="Calibri"/>
              </a:rPr>
              <a:t>Water Quality Numerics: dissolved_oxygen_mg_l, bod_mg_l, ph, electrical_conductivity_us_cm, turbidity_ntu, nitrate_n_mg_l, fecal_coliform_mpn_100ml.</a:t>
            </a:r>
          </a:p>
        </p:txBody>
      </p:sp>
      <p:sp>
        <p:nvSpPr>
          <p:cNvPr id="10" name="TextBox 10"/>
          <p:cNvSpPr txBox="1"/>
          <p:nvPr/>
        </p:nvSpPr>
        <p:spPr>
          <a:xfrm>
            <a:off x="4663440" y="3127248"/>
            <a:ext cx="4160520" cy="1627632"/>
          </a:xfrm>
          <a:prstGeom prst="roundRect">
            <a:avLst>
              <a:gd name="adj" fmla="val 4000"/>
            </a:avLst>
          </a:prstGeom>
          <a:solidFill>
            <a:srgbClr val="FFF5EB"/>
          </a:solidFill>
          <a:ln w="12700">
            <a:solidFill>
              <a:srgbClr val="D95F02"/>
            </a:solidFill>
          </a:ln>
        </p:spPr>
        <p:txBody>
          <a:bodyPr wrap="square" lIns="73152" tIns="54864" rIns="73152" bIns="54864" anchor="t"/>
          <a:lstStyle/>
          <a:p>
            <a:pPr marL="0" indent="0" algn="l">
              <a:spcBef>
                <a:spcPts val="0"/>
              </a:spcBef>
              <a:spcAft>
                <a:spcPts val="400"/>
              </a:spcAft>
              <a:buNone/>
            </a:pPr>
            <a:r>
              <a:rPr lang="en-US" sz="1100" b="1" i="0" dirty="0">
                <a:solidFill>
                  <a:srgbClr val="D95F02"/>
                </a:solidFill>
                <a:latin typeface="Calibri"/>
                <a:cs typeface="Calibri"/>
              </a:rPr>
              <a:t>Why the Two Datasets Are Not Merged Row-by-Row</a:t>
            </a:r>
          </a:p>
          <a:p>
            <a:pPr marL="190500" indent="-142875" algn="l">
              <a:spcBef>
                <a:spcPts val="0"/>
              </a:spcBef>
              <a:spcAft>
                <a:spcPts val="300"/>
              </a:spcAft>
              <a:buFont typeface="Arial"/>
              <a:buChar char="•"/>
            </a:pPr>
            <a:r>
              <a:rPr lang="en-US" sz="920" b="0" i="0" dirty="0">
                <a:solidFill>
                  <a:srgbClr val="1E293B"/>
                </a:solidFill>
                <a:latin typeface="Calibri"/>
                <a:cs typeface="Calibri"/>
              </a:rPr>
              <a:t>1. Different Granularity: CPCB records timestamped monitoring events, whereas Kaggle records annual station summary averages.</a:t>
            </a:r>
          </a:p>
          <a:p>
            <a:pPr marL="190500" indent="-142875" algn="l">
              <a:spcBef>
                <a:spcPts val="0"/>
              </a:spcBef>
              <a:spcAft>
                <a:spcPts val="300"/>
              </a:spcAft>
              <a:buFont typeface="Arial"/>
              <a:buChar char="•"/>
            </a:pPr>
            <a:r>
              <a:rPr lang="en-US" sz="920" b="0" i="0" dirty="0">
                <a:solidFill>
                  <a:srgbClr val="1E293B"/>
                </a:solidFill>
                <a:latin typeface="Calibri"/>
                <a:cs typeface="Calibri"/>
              </a:rPr>
              <a:t>2. Temporal Gap: Kaggle ends in 2014 and CPCB begins in 2018 (4-year discontinuity).</a:t>
            </a:r>
          </a:p>
          <a:p>
            <a:pPr marL="190500" indent="-142875" algn="l">
              <a:spcBef>
                <a:spcPts val="0"/>
              </a:spcBef>
              <a:spcAft>
                <a:spcPts val="400"/>
              </a:spcAft>
              <a:buFont typeface="Arial"/>
              <a:buChar char="•"/>
            </a:pPr>
            <a:r>
              <a:rPr lang="en-US" sz="920" b="0" i="0" dirty="0">
                <a:solidFill>
                  <a:srgbClr val="1E293B"/>
                </a:solidFill>
                <a:latin typeface="Calibri"/>
                <a:cs typeface="Calibri"/>
              </a:rPr>
              <a:t>3. Spatial Schema Difference: CPCB has exact GPS coordinates for 4,017 stations; Kaggle has no coordinates and covers 321 stations. Thus, they are compared only via aggregated state medians.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2"/>
          <p:cNvSpPr/>
          <p:nvPr/>
        </p:nvSpPr>
        <p:spPr>
          <a:xfrm>
            <a:off x="0" y="0"/>
            <a:ext cx="9144000" cy="713232"/>
          </a:xfrm>
          <a:prstGeom prst="rect">
            <a:avLst/>
          </a:prstGeom>
          <a:solidFill>
            <a:srgbClr val="1B365D"/>
          </a:solidFill>
          <a:ln>
            <a:noFill/>
          </a:ln>
        </p:spPr>
      </p:sp>
      <p:sp>
        <p:nvSpPr>
          <p:cNvPr id="3" name="Rect 3"/>
          <p:cNvSpPr/>
          <p:nvPr/>
        </p:nvSpPr>
        <p:spPr>
          <a:xfrm>
            <a:off x="0" y="713232"/>
            <a:ext cx="9144000" cy="36576"/>
          </a:xfrm>
          <a:prstGeom prst="rect">
            <a:avLst/>
          </a:prstGeom>
          <a:solidFill>
            <a:srgbClr val="007A78"/>
          </a:solidFill>
          <a:ln>
            <a:noFill/>
          </a:ln>
        </p:spPr>
      </p:sp>
      <p:sp>
        <p:nvSpPr>
          <p:cNvPr id="4" name="TextBox 4"/>
          <p:cNvSpPr txBox="1"/>
          <p:nvPr/>
        </p:nvSpPr>
        <p:spPr>
          <a:xfrm>
            <a:off x="320040" y="54864"/>
            <a:ext cx="8503920" cy="621792"/>
          </a:xfrm>
          <a:prstGeom prst="rect">
            <a:avLst/>
          </a:prstGeom>
          <a:noFill/>
          <a:ln>
            <a:noFill/>
          </a:ln>
        </p:spPr>
        <p:txBody>
          <a:bodyPr wrap="square" lIns="18288" tIns="18288" rIns="18288" bIns="18288" anchor="t"/>
          <a:lstStyle/>
          <a:p>
            <a:pPr marL="0" indent="0" algn="l">
              <a:spcBef>
                <a:spcPts val="0"/>
              </a:spcBef>
              <a:spcAft>
                <a:spcPts val="100"/>
              </a:spcAft>
              <a:buNone/>
            </a:pPr>
            <a:r>
              <a:rPr lang="en-US" sz="850" b="1" i="0" dirty="0">
                <a:solidFill>
                  <a:srgbClr val="7FD4D2"/>
                </a:solidFill>
                <a:latin typeface="Calibri"/>
                <a:cs typeface="Calibri"/>
              </a:rPr>
              <a:t>SECTION 3  |  METHODOLOGY PIPELINE</a:t>
            </a:r>
          </a:p>
          <a:p>
            <a:pPr marL="0" indent="0" algn="l">
              <a:spcBef>
                <a:spcPts val="0"/>
              </a:spcBef>
              <a:spcAft>
                <a:spcPts val="100"/>
              </a:spcAft>
              <a:buNone/>
            </a:pPr>
            <a:r>
              <a:rPr lang="en-US" sz="1750" b="1" i="0" dirty="0">
                <a:solidFill>
                  <a:srgbClr val="FFFFFF"/>
                </a:solidFill>
                <a:latin typeface="Calibri"/>
                <a:cs typeface="Calibri"/>
              </a:rPr>
              <a:t>End-to-End Reproducible Data Science Workflow</a:t>
            </a:r>
          </a:p>
          <a:p>
            <a:pPr marL="0" indent="0" algn="l">
              <a:spcBef>
                <a:spcPts val="0"/>
              </a:spcBef>
              <a:spcAft>
                <a:spcPts val="0"/>
              </a:spcAft>
              <a:buNone/>
            </a:pPr>
            <a:r>
              <a:rPr lang="en-US" sz="950" b="0" i="1" dirty="0">
                <a:solidFill>
                  <a:srgbClr val="DCE6F1"/>
                </a:solidFill>
                <a:latin typeface="Calibri"/>
                <a:cs typeface="Calibri"/>
              </a:rPr>
              <a:t>Seven sequential stages implemented across modular R scripts and R Markdown</a:t>
            </a:r>
          </a:p>
        </p:txBody>
      </p:sp>
      <p:sp>
        <p:nvSpPr>
          <p:cNvPr id="5" name="Rect 5"/>
          <p:cNvSpPr/>
          <p:nvPr/>
        </p:nvSpPr>
        <p:spPr>
          <a:xfrm>
            <a:off x="0" y="4864608"/>
            <a:ext cx="9144000" cy="278892"/>
          </a:xfrm>
          <a:prstGeom prst="rect">
            <a:avLst/>
          </a:prstGeom>
          <a:solidFill>
            <a:srgbClr val="EEF2F6"/>
          </a:solidFill>
          <a:ln>
            <a:noFill/>
          </a:ln>
        </p:spPr>
      </p:sp>
      <p:sp>
        <p:nvSpPr>
          <p:cNvPr id="6" name="TextBox 6"/>
          <p:cNvSpPr txBox="1"/>
          <p:nvPr/>
        </p:nvSpPr>
        <p:spPr>
          <a:xfrm>
            <a:off x="320040" y="4882896"/>
            <a:ext cx="6858000" cy="228600"/>
          </a:xfrm>
          <a:prstGeom prst="rect">
            <a:avLst/>
          </a:prstGeom>
          <a:noFill/>
          <a:ln>
            <a:noFill/>
          </a:ln>
        </p:spPr>
        <p:txBody>
          <a:bodyPr wrap="square" lIns="0" tIns="18288" rIns="0" bIns="0" anchor="t"/>
          <a:lstStyle/>
          <a:p>
            <a:pPr marL="0" indent="0" algn="l">
              <a:spcBef>
                <a:spcPts val="0"/>
              </a:spcBef>
              <a:spcAft>
                <a:spcPts val="400"/>
              </a:spcAft>
              <a:buNone/>
            </a:pPr>
            <a:r>
              <a:rPr lang="en-US" sz="850" b="0" i="0" dirty="0">
                <a:solidFill>
                  <a:srgbClr val="475569"/>
                </a:solidFill>
                <a:latin typeface="Calibri"/>
                <a:cs typeface="Calibri"/>
              </a:rPr>
              <a:t>Emmanuel Jobin (2026EMAI20054)  |  DSC 513: Introduction to Data Science  |  IIIT Kottayam</a:t>
            </a:r>
          </a:p>
        </p:txBody>
      </p:sp>
      <p:sp>
        <p:nvSpPr>
          <p:cNvPr id="7" name="TextBox 7"/>
          <p:cNvSpPr txBox="1"/>
          <p:nvPr/>
        </p:nvSpPr>
        <p:spPr>
          <a:xfrm>
            <a:off x="7315200" y="4882896"/>
            <a:ext cx="1508760" cy="228600"/>
          </a:xfrm>
          <a:prstGeom prst="rect">
            <a:avLst/>
          </a:prstGeom>
          <a:noFill/>
          <a:ln>
            <a:noFill/>
          </a:ln>
        </p:spPr>
        <p:txBody>
          <a:bodyPr wrap="square" lIns="0" tIns="18288" rIns="0" bIns="0" anchor="t"/>
          <a:lstStyle/>
          <a:p>
            <a:pPr marL="0" indent="0" algn="r">
              <a:spcBef>
                <a:spcPts val="0"/>
              </a:spcBef>
              <a:spcAft>
                <a:spcPts val="400"/>
              </a:spcAft>
              <a:buNone/>
            </a:pPr>
            <a:r>
              <a:rPr lang="en-US" sz="850" b="1" i="0" dirty="0">
                <a:solidFill>
                  <a:srgbClr val="1B365D"/>
                </a:solidFill>
                <a:latin typeface="Calibri"/>
                <a:cs typeface="Calibri"/>
              </a:rPr>
              <a:t>Slide 6 of 18</a:t>
            </a:r>
          </a:p>
        </p:txBody>
      </p:sp>
      <p:sp>
        <p:nvSpPr>
          <p:cNvPr id="8" name="TextBox 8"/>
          <p:cNvSpPr txBox="1"/>
          <p:nvPr/>
        </p:nvSpPr>
        <p:spPr>
          <a:xfrm>
            <a:off x="320040" y="932688"/>
            <a:ext cx="1115568" cy="1143000"/>
          </a:xfrm>
          <a:prstGeom prst="roundRect">
            <a:avLst>
              <a:gd name="adj" fmla="val 4000"/>
            </a:avLst>
          </a:prstGeom>
          <a:solidFill>
            <a:srgbClr val="1B365D"/>
          </a:solidFill>
          <a:ln>
            <a:noFill/>
          </a:ln>
        </p:spPr>
        <p:txBody>
          <a:bodyPr wrap="square" lIns="45720" tIns="73152" rIns="45720" bIns="45720" anchor="t"/>
          <a:lstStyle/>
          <a:p>
            <a:pPr marL="0" indent="0" algn="ctr">
              <a:spcBef>
                <a:spcPts val="0"/>
              </a:spcBef>
              <a:spcAft>
                <a:spcPts val="400"/>
              </a:spcAft>
              <a:buNone/>
            </a:pPr>
            <a:r>
              <a:rPr lang="en-US" sz="1000" b="1" i="0" dirty="0">
                <a:solidFill>
                  <a:srgbClr val="FFFFFF"/>
                </a:solidFill>
                <a:latin typeface="Calibri"/>
                <a:cs typeface="Calibri"/>
              </a:rPr>
              <a:t>1. Data Loading</a:t>
            </a:r>
          </a:p>
          <a:p>
            <a:pPr marL="0" indent="0" algn="ctr">
              <a:spcBef>
                <a:spcPts val="0"/>
              </a:spcBef>
              <a:spcAft>
                <a:spcPts val="400"/>
              </a:spcAft>
              <a:buNone/>
            </a:pPr>
            <a:r>
              <a:rPr lang="en-US" sz="830" b="0" i="0" dirty="0">
                <a:solidFill>
                  <a:srgbClr val="F1F5F9"/>
                </a:solidFill>
                <a:latin typeface="Calibri"/>
                <a:cs typeface="Calibri"/>
              </a:rPr>
              <a:t>Read 315 CPCB CSVs &amp; Kaggle CSV (Latin-1)</a:t>
            </a:r>
          </a:p>
        </p:txBody>
      </p:sp>
      <p:sp>
        <p:nvSpPr>
          <p:cNvPr id="9" name="TextBox 9"/>
          <p:cNvSpPr txBox="1"/>
          <p:nvPr/>
        </p:nvSpPr>
        <p:spPr>
          <a:xfrm>
            <a:off x="1435608" y="1261872"/>
            <a:ext cx="109728" cy="365760"/>
          </a:xfrm>
          <a:prstGeom prst="rect">
            <a:avLst/>
          </a:prstGeom>
          <a:noFill/>
          <a:ln>
            <a:noFill/>
          </a:ln>
        </p:spPr>
        <p:txBody>
          <a:bodyPr wrap="square" lIns="0" tIns="0" rIns="0" bIns="0" anchor="t"/>
          <a:lstStyle/>
          <a:p>
            <a:pPr marL="0" indent="0" algn="ctr">
              <a:spcBef>
                <a:spcPts val="0"/>
              </a:spcBef>
              <a:spcAft>
                <a:spcPts val="400"/>
              </a:spcAft>
              <a:buNone/>
            </a:pPr>
            <a:r>
              <a:rPr lang="en-US" sz="1300" b="1" i="0" dirty="0">
                <a:solidFill>
                  <a:srgbClr val="1B365D"/>
                </a:solidFill>
                <a:latin typeface="Calibri"/>
                <a:cs typeface="Calibri"/>
              </a:rPr>
              <a:t>→</a:t>
            </a:r>
          </a:p>
        </p:txBody>
      </p:sp>
      <p:sp>
        <p:nvSpPr>
          <p:cNvPr id="10" name="TextBox 10"/>
          <p:cNvSpPr txBox="1"/>
          <p:nvPr/>
        </p:nvSpPr>
        <p:spPr>
          <a:xfrm>
            <a:off x="1545336" y="932688"/>
            <a:ext cx="1115568" cy="1143000"/>
          </a:xfrm>
          <a:prstGeom prst="roundRect">
            <a:avLst>
              <a:gd name="adj" fmla="val 4000"/>
            </a:avLst>
          </a:prstGeom>
          <a:solidFill>
            <a:srgbClr val="007A78"/>
          </a:solidFill>
          <a:ln>
            <a:noFill/>
          </a:ln>
        </p:spPr>
        <p:txBody>
          <a:bodyPr wrap="square" lIns="45720" tIns="73152" rIns="45720" bIns="45720" anchor="t"/>
          <a:lstStyle/>
          <a:p>
            <a:pPr marL="0" indent="0" algn="ctr">
              <a:spcBef>
                <a:spcPts val="0"/>
              </a:spcBef>
              <a:spcAft>
                <a:spcPts val="400"/>
              </a:spcAft>
              <a:buNone/>
            </a:pPr>
            <a:r>
              <a:rPr lang="en-US" sz="1000" b="1" i="0" dirty="0">
                <a:solidFill>
                  <a:srgbClr val="FFFFFF"/>
                </a:solidFill>
                <a:latin typeface="Calibri"/>
                <a:cs typeface="Calibri"/>
              </a:rPr>
              <a:t>2. Inspection</a:t>
            </a:r>
          </a:p>
          <a:p>
            <a:pPr marL="0" indent="0" algn="ctr">
              <a:spcBef>
                <a:spcPts val="0"/>
              </a:spcBef>
              <a:spcAft>
                <a:spcPts val="400"/>
              </a:spcAft>
              <a:buNone/>
            </a:pPr>
            <a:r>
              <a:rPr lang="en-US" sz="830" b="0" i="0" dirty="0">
                <a:solidFill>
                  <a:srgbClr val="F1F5F9"/>
                </a:solidFill>
                <a:latin typeface="Calibri"/>
                <a:cs typeface="Calibri"/>
              </a:rPr>
              <a:t>Audit schemas, types, NAs &amp; misclassified files</a:t>
            </a:r>
          </a:p>
        </p:txBody>
      </p:sp>
      <p:sp>
        <p:nvSpPr>
          <p:cNvPr id="11" name="TextBox 11"/>
          <p:cNvSpPr txBox="1"/>
          <p:nvPr/>
        </p:nvSpPr>
        <p:spPr>
          <a:xfrm>
            <a:off x="2660904" y="1261872"/>
            <a:ext cx="109728" cy="365760"/>
          </a:xfrm>
          <a:prstGeom prst="rect">
            <a:avLst/>
          </a:prstGeom>
          <a:noFill/>
          <a:ln>
            <a:noFill/>
          </a:ln>
        </p:spPr>
        <p:txBody>
          <a:bodyPr wrap="square" lIns="0" tIns="0" rIns="0" bIns="0" anchor="t"/>
          <a:lstStyle/>
          <a:p>
            <a:pPr marL="0" indent="0" algn="ctr">
              <a:spcBef>
                <a:spcPts val="0"/>
              </a:spcBef>
              <a:spcAft>
                <a:spcPts val="400"/>
              </a:spcAft>
              <a:buNone/>
            </a:pPr>
            <a:r>
              <a:rPr lang="en-US" sz="1300" b="1" i="0" dirty="0">
                <a:solidFill>
                  <a:srgbClr val="1B365D"/>
                </a:solidFill>
                <a:latin typeface="Calibri"/>
                <a:cs typeface="Calibri"/>
              </a:rPr>
              <a:t>→</a:t>
            </a:r>
          </a:p>
        </p:txBody>
      </p:sp>
      <p:sp>
        <p:nvSpPr>
          <p:cNvPr id="12" name="TextBox 12"/>
          <p:cNvSpPr txBox="1"/>
          <p:nvPr/>
        </p:nvSpPr>
        <p:spPr>
          <a:xfrm>
            <a:off x="2770632" y="932688"/>
            <a:ext cx="1115568" cy="1143000"/>
          </a:xfrm>
          <a:prstGeom prst="roundRect">
            <a:avLst>
              <a:gd name="adj" fmla="val 4000"/>
            </a:avLst>
          </a:prstGeom>
          <a:solidFill>
            <a:srgbClr val="1B365D"/>
          </a:solidFill>
          <a:ln>
            <a:noFill/>
          </a:ln>
        </p:spPr>
        <p:txBody>
          <a:bodyPr wrap="square" lIns="45720" tIns="73152" rIns="45720" bIns="45720" anchor="t"/>
          <a:lstStyle/>
          <a:p>
            <a:pPr marL="0" indent="0" algn="ctr">
              <a:spcBef>
                <a:spcPts val="0"/>
              </a:spcBef>
              <a:spcAft>
                <a:spcPts val="400"/>
              </a:spcAft>
              <a:buNone/>
            </a:pPr>
            <a:r>
              <a:rPr lang="en-US" sz="1000" b="1" i="0" dirty="0">
                <a:solidFill>
                  <a:srgbClr val="FFFFFF"/>
                </a:solidFill>
                <a:latin typeface="Calibri"/>
                <a:cs typeface="Calibri"/>
              </a:rPr>
              <a:t>3. Cleaning</a:t>
            </a:r>
          </a:p>
          <a:p>
            <a:pPr marL="0" indent="0" algn="ctr">
              <a:spcBef>
                <a:spcPts val="0"/>
              </a:spcBef>
              <a:spcAft>
                <a:spcPts val="400"/>
              </a:spcAft>
              <a:buNone/>
            </a:pPr>
            <a:r>
              <a:rPr lang="en-US" sz="830" b="0" i="0" dirty="0">
                <a:solidFill>
                  <a:srgbClr val="F1F5F9"/>
                </a:solidFill>
                <a:latin typeface="Calibri"/>
                <a:cs typeface="Calibri"/>
              </a:rPr>
              <a:t>Fix headers, types, pH/DO bounds &amp; states</a:t>
            </a:r>
          </a:p>
        </p:txBody>
      </p:sp>
      <p:sp>
        <p:nvSpPr>
          <p:cNvPr id="13" name="TextBox 13"/>
          <p:cNvSpPr txBox="1"/>
          <p:nvPr/>
        </p:nvSpPr>
        <p:spPr>
          <a:xfrm>
            <a:off x="3886200" y="1261872"/>
            <a:ext cx="109728" cy="365760"/>
          </a:xfrm>
          <a:prstGeom prst="rect">
            <a:avLst/>
          </a:prstGeom>
          <a:noFill/>
          <a:ln>
            <a:noFill/>
          </a:ln>
        </p:spPr>
        <p:txBody>
          <a:bodyPr wrap="square" lIns="0" tIns="0" rIns="0" bIns="0" anchor="t"/>
          <a:lstStyle/>
          <a:p>
            <a:pPr marL="0" indent="0" algn="ctr">
              <a:spcBef>
                <a:spcPts val="0"/>
              </a:spcBef>
              <a:spcAft>
                <a:spcPts val="400"/>
              </a:spcAft>
              <a:buNone/>
            </a:pPr>
            <a:r>
              <a:rPr lang="en-US" sz="1300" b="1" i="0" dirty="0">
                <a:solidFill>
                  <a:srgbClr val="1B365D"/>
                </a:solidFill>
                <a:latin typeface="Calibri"/>
                <a:cs typeface="Calibri"/>
              </a:rPr>
              <a:t>→</a:t>
            </a:r>
          </a:p>
        </p:txBody>
      </p:sp>
      <p:sp>
        <p:nvSpPr>
          <p:cNvPr id="14" name="TextBox 14"/>
          <p:cNvSpPr txBox="1"/>
          <p:nvPr/>
        </p:nvSpPr>
        <p:spPr>
          <a:xfrm>
            <a:off x="3995928" y="932688"/>
            <a:ext cx="1115568" cy="1143000"/>
          </a:xfrm>
          <a:prstGeom prst="roundRect">
            <a:avLst>
              <a:gd name="adj" fmla="val 4000"/>
            </a:avLst>
          </a:prstGeom>
          <a:solidFill>
            <a:srgbClr val="007A78"/>
          </a:solidFill>
          <a:ln>
            <a:noFill/>
          </a:ln>
        </p:spPr>
        <p:txBody>
          <a:bodyPr wrap="square" lIns="45720" tIns="73152" rIns="45720" bIns="45720" anchor="t"/>
          <a:lstStyle/>
          <a:p>
            <a:pPr marL="0" indent="0" algn="ctr">
              <a:spcBef>
                <a:spcPts val="0"/>
              </a:spcBef>
              <a:spcAft>
                <a:spcPts val="400"/>
              </a:spcAft>
              <a:buNone/>
            </a:pPr>
            <a:r>
              <a:rPr lang="en-US" sz="1000" b="1" i="0" dirty="0">
                <a:solidFill>
                  <a:srgbClr val="FFFFFF"/>
                </a:solidFill>
                <a:latin typeface="Calibri"/>
                <a:cs typeface="Calibri"/>
              </a:rPr>
              <a:t>4. EDA &amp; Tests</a:t>
            </a:r>
          </a:p>
          <a:p>
            <a:pPr marL="0" indent="0" algn="ctr">
              <a:spcBef>
                <a:spcPts val="0"/>
              </a:spcBef>
              <a:spcAft>
                <a:spcPts val="400"/>
              </a:spcAft>
              <a:buNone/>
            </a:pPr>
            <a:r>
              <a:rPr lang="en-US" sz="830" b="0" i="0" dirty="0">
                <a:solidFill>
                  <a:srgbClr val="F1F5F9"/>
                </a:solidFill>
                <a:latin typeface="Calibri"/>
                <a:cs typeface="Calibri"/>
              </a:rPr>
              <a:t>Distributions, maps, Kruskal &amp; Wilcoxon tests</a:t>
            </a:r>
          </a:p>
        </p:txBody>
      </p:sp>
      <p:sp>
        <p:nvSpPr>
          <p:cNvPr id="15" name="TextBox 15"/>
          <p:cNvSpPr txBox="1"/>
          <p:nvPr/>
        </p:nvSpPr>
        <p:spPr>
          <a:xfrm>
            <a:off x="5111496" y="1261872"/>
            <a:ext cx="109728" cy="365760"/>
          </a:xfrm>
          <a:prstGeom prst="rect">
            <a:avLst/>
          </a:prstGeom>
          <a:noFill/>
          <a:ln>
            <a:noFill/>
          </a:ln>
        </p:spPr>
        <p:txBody>
          <a:bodyPr wrap="square" lIns="0" tIns="0" rIns="0" bIns="0" anchor="t"/>
          <a:lstStyle/>
          <a:p>
            <a:pPr marL="0" indent="0" algn="ctr">
              <a:spcBef>
                <a:spcPts val="0"/>
              </a:spcBef>
              <a:spcAft>
                <a:spcPts val="400"/>
              </a:spcAft>
              <a:buNone/>
            </a:pPr>
            <a:r>
              <a:rPr lang="en-US" sz="1300" b="1" i="0" dirty="0">
                <a:solidFill>
                  <a:srgbClr val="1B365D"/>
                </a:solidFill>
                <a:latin typeface="Calibri"/>
                <a:cs typeface="Calibri"/>
              </a:rPr>
              <a:t>→</a:t>
            </a:r>
          </a:p>
        </p:txBody>
      </p:sp>
      <p:sp>
        <p:nvSpPr>
          <p:cNvPr id="16" name="TextBox 16"/>
          <p:cNvSpPr txBox="1"/>
          <p:nvPr/>
        </p:nvSpPr>
        <p:spPr>
          <a:xfrm>
            <a:off x="5221224" y="932688"/>
            <a:ext cx="1115568" cy="1143000"/>
          </a:xfrm>
          <a:prstGeom prst="roundRect">
            <a:avLst>
              <a:gd name="adj" fmla="val 4000"/>
            </a:avLst>
          </a:prstGeom>
          <a:solidFill>
            <a:srgbClr val="D95F02"/>
          </a:solidFill>
          <a:ln>
            <a:noFill/>
          </a:ln>
        </p:spPr>
        <p:txBody>
          <a:bodyPr wrap="square" lIns="45720" tIns="73152" rIns="45720" bIns="45720" anchor="t"/>
          <a:lstStyle/>
          <a:p>
            <a:pPr marL="0" indent="0" algn="ctr">
              <a:spcBef>
                <a:spcPts val="0"/>
              </a:spcBef>
              <a:spcAft>
                <a:spcPts val="400"/>
              </a:spcAft>
              <a:buNone/>
            </a:pPr>
            <a:r>
              <a:rPr lang="en-US" sz="1000" b="1" i="0" dirty="0">
                <a:solidFill>
                  <a:srgbClr val="FFFFFF"/>
                </a:solidFill>
                <a:latin typeface="Calibri"/>
                <a:cs typeface="Calibri"/>
              </a:rPr>
              <a:t>5. Linear Model</a:t>
            </a:r>
          </a:p>
          <a:p>
            <a:pPr marL="0" indent="0" algn="ctr">
              <a:spcBef>
                <a:spcPts val="0"/>
              </a:spcBef>
              <a:spcAft>
                <a:spcPts val="400"/>
              </a:spcAft>
              <a:buNone/>
            </a:pPr>
            <a:r>
              <a:rPr lang="en-US" sz="830" b="0" i="0" dirty="0">
                <a:solidFill>
                  <a:srgbClr val="F1F5F9"/>
                </a:solidFill>
                <a:latin typeface="Calibri"/>
                <a:cs typeface="Calibri"/>
              </a:rPr>
              <a:t>80:20 split (seed 513), fit lm(DO ~ BOD)</a:t>
            </a:r>
          </a:p>
        </p:txBody>
      </p:sp>
      <p:sp>
        <p:nvSpPr>
          <p:cNvPr id="17" name="TextBox 17"/>
          <p:cNvSpPr txBox="1"/>
          <p:nvPr/>
        </p:nvSpPr>
        <p:spPr>
          <a:xfrm>
            <a:off x="6336792" y="1261872"/>
            <a:ext cx="109728" cy="365760"/>
          </a:xfrm>
          <a:prstGeom prst="rect">
            <a:avLst/>
          </a:prstGeom>
          <a:noFill/>
          <a:ln>
            <a:noFill/>
          </a:ln>
        </p:spPr>
        <p:txBody>
          <a:bodyPr wrap="square" lIns="0" tIns="0" rIns="0" bIns="0" anchor="t"/>
          <a:lstStyle/>
          <a:p>
            <a:pPr marL="0" indent="0" algn="ctr">
              <a:spcBef>
                <a:spcPts val="0"/>
              </a:spcBef>
              <a:spcAft>
                <a:spcPts val="400"/>
              </a:spcAft>
              <a:buNone/>
            </a:pPr>
            <a:r>
              <a:rPr lang="en-US" sz="1300" b="1" i="0" dirty="0">
                <a:solidFill>
                  <a:srgbClr val="1B365D"/>
                </a:solidFill>
                <a:latin typeface="Calibri"/>
                <a:cs typeface="Calibri"/>
              </a:rPr>
              <a:t>→</a:t>
            </a:r>
          </a:p>
        </p:txBody>
      </p:sp>
      <p:sp>
        <p:nvSpPr>
          <p:cNvPr id="18" name="TextBox 18"/>
          <p:cNvSpPr txBox="1"/>
          <p:nvPr/>
        </p:nvSpPr>
        <p:spPr>
          <a:xfrm>
            <a:off x="6446520" y="932688"/>
            <a:ext cx="1115568" cy="1143000"/>
          </a:xfrm>
          <a:prstGeom prst="roundRect">
            <a:avLst>
              <a:gd name="adj" fmla="val 4000"/>
            </a:avLst>
          </a:prstGeom>
          <a:solidFill>
            <a:srgbClr val="1B365D"/>
          </a:solidFill>
          <a:ln>
            <a:noFill/>
          </a:ln>
        </p:spPr>
        <p:txBody>
          <a:bodyPr wrap="square" lIns="45720" tIns="73152" rIns="45720" bIns="45720" anchor="t"/>
          <a:lstStyle/>
          <a:p>
            <a:pPr marL="0" indent="0" algn="ctr">
              <a:spcBef>
                <a:spcPts val="0"/>
              </a:spcBef>
              <a:spcAft>
                <a:spcPts val="400"/>
              </a:spcAft>
              <a:buNone/>
            </a:pPr>
            <a:r>
              <a:rPr lang="en-US" sz="1000" b="1" i="0" dirty="0">
                <a:solidFill>
                  <a:srgbClr val="FFFFFF"/>
                </a:solidFill>
                <a:latin typeface="Calibri"/>
                <a:cs typeface="Calibri"/>
              </a:rPr>
              <a:t>6. Evaluation</a:t>
            </a:r>
          </a:p>
          <a:p>
            <a:pPr marL="0" indent="0" algn="ctr">
              <a:spcBef>
                <a:spcPts val="0"/>
              </a:spcBef>
              <a:spcAft>
                <a:spcPts val="400"/>
              </a:spcAft>
              <a:buNone/>
            </a:pPr>
            <a:r>
              <a:rPr lang="en-US" sz="830" b="0" i="0" dirty="0">
                <a:solidFill>
                  <a:srgbClr val="F1F5F9"/>
                </a:solidFill>
                <a:latin typeface="Calibri"/>
                <a:cs typeface="Calibri"/>
              </a:rPr>
              <a:t>Test RMSE, MAE, R² &amp; 2 sensitivity checks</a:t>
            </a:r>
          </a:p>
        </p:txBody>
      </p:sp>
      <p:sp>
        <p:nvSpPr>
          <p:cNvPr id="19" name="TextBox 19"/>
          <p:cNvSpPr txBox="1"/>
          <p:nvPr/>
        </p:nvSpPr>
        <p:spPr>
          <a:xfrm>
            <a:off x="7562088" y="1261872"/>
            <a:ext cx="109728" cy="365760"/>
          </a:xfrm>
          <a:prstGeom prst="rect">
            <a:avLst/>
          </a:prstGeom>
          <a:noFill/>
          <a:ln>
            <a:noFill/>
          </a:ln>
        </p:spPr>
        <p:txBody>
          <a:bodyPr wrap="square" lIns="0" tIns="0" rIns="0" bIns="0" anchor="t"/>
          <a:lstStyle/>
          <a:p>
            <a:pPr marL="0" indent="0" algn="ctr">
              <a:spcBef>
                <a:spcPts val="0"/>
              </a:spcBef>
              <a:spcAft>
                <a:spcPts val="400"/>
              </a:spcAft>
              <a:buNone/>
            </a:pPr>
            <a:r>
              <a:rPr lang="en-US" sz="1300" b="1" i="0" dirty="0">
                <a:solidFill>
                  <a:srgbClr val="1B365D"/>
                </a:solidFill>
                <a:latin typeface="Calibri"/>
                <a:cs typeface="Calibri"/>
              </a:rPr>
              <a:t>→</a:t>
            </a:r>
          </a:p>
        </p:txBody>
      </p:sp>
      <p:sp>
        <p:nvSpPr>
          <p:cNvPr id="20" name="TextBox 20"/>
          <p:cNvSpPr txBox="1"/>
          <p:nvPr/>
        </p:nvSpPr>
        <p:spPr>
          <a:xfrm>
            <a:off x="7671816" y="932688"/>
            <a:ext cx="1115568" cy="1143000"/>
          </a:xfrm>
          <a:prstGeom prst="roundRect">
            <a:avLst>
              <a:gd name="adj" fmla="val 4000"/>
            </a:avLst>
          </a:prstGeom>
          <a:solidFill>
            <a:srgbClr val="007A78"/>
          </a:solidFill>
          <a:ln>
            <a:noFill/>
          </a:ln>
        </p:spPr>
        <p:txBody>
          <a:bodyPr wrap="square" lIns="45720" tIns="73152" rIns="45720" bIns="45720" anchor="t"/>
          <a:lstStyle/>
          <a:p>
            <a:pPr marL="0" indent="0" algn="ctr">
              <a:spcBef>
                <a:spcPts val="0"/>
              </a:spcBef>
              <a:spcAft>
                <a:spcPts val="400"/>
              </a:spcAft>
              <a:buNone/>
            </a:pPr>
            <a:r>
              <a:rPr lang="en-US" sz="1000" b="1" i="0" dirty="0">
                <a:solidFill>
                  <a:srgbClr val="FFFFFF"/>
                </a:solidFill>
                <a:latin typeface="Calibri"/>
                <a:cs typeface="Calibri"/>
              </a:rPr>
              <a:t>7. Conclusion</a:t>
            </a:r>
          </a:p>
          <a:p>
            <a:pPr marL="0" indent="0" algn="ctr">
              <a:spcBef>
                <a:spcPts val="0"/>
              </a:spcBef>
              <a:spcAft>
                <a:spcPts val="400"/>
              </a:spcAft>
              <a:buNone/>
            </a:pPr>
            <a:r>
              <a:rPr lang="en-US" sz="830" b="0" i="0" dirty="0">
                <a:solidFill>
                  <a:srgbClr val="F1F5F9"/>
                </a:solidFill>
                <a:latin typeface="Calibri"/>
                <a:cs typeface="Calibri"/>
              </a:rPr>
              <a:t>Synthesize findings, limits &amp; knit HTML/PDF</a:t>
            </a:r>
          </a:p>
        </p:txBody>
      </p:sp>
      <p:sp>
        <p:nvSpPr>
          <p:cNvPr id="21" name="TextBox 21"/>
          <p:cNvSpPr txBox="1"/>
          <p:nvPr/>
        </p:nvSpPr>
        <p:spPr>
          <a:xfrm>
            <a:off x="320040" y="2286000"/>
            <a:ext cx="2743200" cy="2423160"/>
          </a:xfrm>
          <a:prstGeom prst="roundRect">
            <a:avLst>
              <a:gd name="adj" fmla="val 4000"/>
            </a:avLst>
          </a:prstGeom>
          <a:solidFill>
            <a:srgbClr val="F4F7FA"/>
          </a:solidFill>
          <a:ln w="12700">
            <a:solidFill>
              <a:srgbClr val="CBD5E1"/>
            </a:solidFill>
          </a:ln>
        </p:spPr>
        <p:txBody>
          <a:bodyPr wrap="square" lIns="73152" tIns="54864" rIns="73152" bIns="54864" anchor="t"/>
          <a:lstStyle/>
          <a:p>
            <a:pPr marL="0" indent="0" algn="l">
              <a:spcBef>
                <a:spcPts val="0"/>
              </a:spcBef>
              <a:spcAft>
                <a:spcPts val="500"/>
              </a:spcAft>
              <a:buNone/>
            </a:pPr>
            <a:r>
              <a:rPr lang="en-US" sz="1100" b="1" i="0" dirty="0">
                <a:solidFill>
                  <a:srgbClr val="1B365D"/>
                </a:solidFill>
                <a:latin typeface="Calibri"/>
                <a:cs typeface="Calibri"/>
              </a:rPr>
              <a:t>Stage 1–2: R/01_data_inspection.R</a:t>
            </a:r>
          </a:p>
          <a:p>
            <a:pPr marL="190500" indent="-142875" algn="l">
              <a:spcBef>
                <a:spcPts val="0"/>
              </a:spcBef>
              <a:spcAft>
                <a:spcPts val="400"/>
              </a:spcAft>
              <a:buFont typeface="Arial"/>
              <a:buChar char="•"/>
            </a:pPr>
            <a:r>
              <a:rPr lang="en-US" sz="930" b="0" i="0" dirty="0">
                <a:solidFill>
                  <a:srgbClr val="1E293B"/>
                </a:solidFill>
                <a:latin typeface="Calibri"/>
                <a:cs typeface="Calibri"/>
              </a:rPr>
              <a:t>What it contributes: Scans all raw directories without modifying raw files.</a:t>
            </a:r>
          </a:p>
          <a:p>
            <a:pPr marL="190500" indent="-142875" algn="l">
              <a:spcBef>
                <a:spcPts val="0"/>
              </a:spcBef>
              <a:spcAft>
                <a:spcPts val="400"/>
              </a:spcAft>
              <a:buFont typeface="Arial"/>
              <a:buChar char="•"/>
            </a:pPr>
            <a:r>
              <a:rPr lang="en-US" sz="930" b="0" i="0" dirty="0">
                <a:solidFill>
                  <a:srgbClr val="1E293B"/>
                </a:solidFill>
                <a:latin typeface="Calibri"/>
                <a:cs typeface="Calibri"/>
              </a:rPr>
              <a:t>Key actions: Verifies row/column counts, detects the misclassified Tamil Nadu 2018 biological file, and profiles missingness.</a:t>
            </a:r>
          </a:p>
          <a:p>
            <a:pPr marL="190500" indent="-142875" algn="l">
              <a:spcBef>
                <a:spcPts val="0"/>
              </a:spcBef>
              <a:spcAft>
                <a:spcPts val="400"/>
              </a:spcAft>
              <a:buFont typeface="Arial"/>
              <a:buChar char="•"/>
            </a:pPr>
            <a:r>
              <a:rPr lang="en-US" sz="930" b="1" i="0" dirty="0">
                <a:solidFill>
                  <a:srgbClr val="007A78"/>
                </a:solidFill>
                <a:latin typeface="Calibri"/>
                <a:cs typeface="Calibri"/>
              </a:rPr>
              <a:t>Outputs: dataset_summary.csv &amp; detailed_empirical_inspection.json.</a:t>
            </a:r>
          </a:p>
        </p:txBody>
      </p:sp>
      <p:sp>
        <p:nvSpPr>
          <p:cNvPr id="22" name="TextBox 22"/>
          <p:cNvSpPr txBox="1"/>
          <p:nvPr/>
        </p:nvSpPr>
        <p:spPr>
          <a:xfrm>
            <a:off x="3200400" y="2286000"/>
            <a:ext cx="2743200" cy="2423160"/>
          </a:xfrm>
          <a:prstGeom prst="roundRect">
            <a:avLst>
              <a:gd name="adj" fmla="val 4000"/>
            </a:avLst>
          </a:prstGeom>
          <a:solidFill>
            <a:srgbClr val="F4F7FA"/>
          </a:solidFill>
          <a:ln w="12700">
            <a:solidFill>
              <a:srgbClr val="CBD5E1"/>
            </a:solidFill>
          </a:ln>
        </p:spPr>
        <p:txBody>
          <a:bodyPr wrap="square" lIns="73152" tIns="54864" rIns="73152" bIns="54864" anchor="t"/>
          <a:lstStyle/>
          <a:p>
            <a:pPr marL="0" indent="0" algn="l">
              <a:spcBef>
                <a:spcPts val="0"/>
              </a:spcBef>
              <a:spcAft>
                <a:spcPts val="500"/>
              </a:spcAft>
              <a:buNone/>
            </a:pPr>
            <a:r>
              <a:rPr lang="en-US" sz="1100" b="1" i="0" dirty="0">
                <a:solidFill>
                  <a:srgbClr val="007A78"/>
                </a:solidFill>
                <a:latin typeface="Calibri"/>
                <a:cs typeface="Calibri"/>
              </a:rPr>
              <a:t>Stage 3: R/02_data_cleaning.R</a:t>
            </a:r>
          </a:p>
          <a:p>
            <a:pPr marL="190500" indent="-142875" algn="l">
              <a:spcBef>
                <a:spcPts val="0"/>
              </a:spcBef>
              <a:spcAft>
                <a:spcPts val="400"/>
              </a:spcAft>
              <a:buFont typeface="Arial"/>
              <a:buChar char="•"/>
            </a:pPr>
            <a:r>
              <a:rPr lang="en-US" sz="930" b="0" i="0" dirty="0">
                <a:solidFill>
                  <a:srgbClr val="1E293B"/>
                </a:solidFill>
                <a:latin typeface="Calibri"/>
                <a:cs typeface="Calibri"/>
              </a:rPr>
              <a:t>What it contributes: Transforms noisy raw files into analysis-ready datasets.</a:t>
            </a:r>
          </a:p>
          <a:p>
            <a:pPr marL="190500" indent="-142875" algn="l">
              <a:spcBef>
                <a:spcPts val="0"/>
              </a:spcBef>
              <a:spcAft>
                <a:spcPts val="400"/>
              </a:spcAft>
              <a:buFont typeface="Arial"/>
              <a:buChar char="•"/>
            </a:pPr>
            <a:r>
              <a:rPr lang="en-US" sz="930" b="0" i="0" dirty="0">
                <a:solidFill>
                  <a:srgbClr val="1E293B"/>
                </a:solidFill>
                <a:latin typeface="Calibri"/>
                <a:cs typeface="Calibri"/>
              </a:rPr>
              <a:t>Key actions: Repairs OCR header typos, converts character strings to numeric, filters impossible pH/DO, standardizes states &amp; seasons.</a:t>
            </a:r>
          </a:p>
          <a:p>
            <a:pPr marL="190500" indent="-142875" algn="l">
              <a:spcBef>
                <a:spcPts val="0"/>
              </a:spcBef>
              <a:spcAft>
                <a:spcPts val="400"/>
              </a:spcAft>
              <a:buFont typeface="Arial"/>
              <a:buChar char="•"/>
            </a:pPr>
            <a:r>
              <a:rPr lang="en-US" sz="930" b="1" i="0" dirty="0">
                <a:solidFill>
                  <a:srgbClr val="1B365D"/>
                </a:solidFill>
                <a:latin typeface="Calibri"/>
                <a:cs typeface="Calibri"/>
              </a:rPr>
              <a:t>Outputs: nwdp_cpcb_master_water_quality.csv (109,422 rows) &amp; data_cleaning_audit_summary.csv.</a:t>
            </a:r>
          </a:p>
        </p:txBody>
      </p:sp>
      <p:sp>
        <p:nvSpPr>
          <p:cNvPr id="23" name="TextBox 23"/>
          <p:cNvSpPr txBox="1"/>
          <p:nvPr/>
        </p:nvSpPr>
        <p:spPr>
          <a:xfrm>
            <a:off x="6080760" y="2286000"/>
            <a:ext cx="2743200" cy="2423160"/>
          </a:xfrm>
          <a:prstGeom prst="roundRect">
            <a:avLst>
              <a:gd name="adj" fmla="val 4000"/>
            </a:avLst>
          </a:prstGeom>
          <a:solidFill>
            <a:srgbClr val="F4F7FA"/>
          </a:solidFill>
          <a:ln w="12700">
            <a:solidFill>
              <a:srgbClr val="CBD5E1"/>
            </a:solidFill>
          </a:ln>
        </p:spPr>
        <p:txBody>
          <a:bodyPr wrap="square" lIns="73152" tIns="54864" rIns="73152" bIns="54864" anchor="t"/>
          <a:lstStyle/>
          <a:p>
            <a:pPr marL="0" indent="0" algn="l">
              <a:spcBef>
                <a:spcPts val="0"/>
              </a:spcBef>
              <a:spcAft>
                <a:spcPts val="500"/>
              </a:spcAft>
              <a:buNone/>
            </a:pPr>
            <a:r>
              <a:rPr lang="en-US" sz="1100" b="1" i="0" dirty="0">
                <a:solidFill>
                  <a:srgbClr val="D95F02"/>
                </a:solidFill>
                <a:latin typeface="Calibri"/>
                <a:cs typeface="Calibri"/>
              </a:rPr>
              <a:t>Stage 4–7: R/03_exploratory_analysis.R &amp; .Rmd</a:t>
            </a:r>
          </a:p>
          <a:p>
            <a:pPr marL="190500" indent="-142875" algn="l">
              <a:spcBef>
                <a:spcPts val="0"/>
              </a:spcBef>
              <a:spcAft>
                <a:spcPts val="400"/>
              </a:spcAft>
              <a:buFont typeface="Arial"/>
              <a:buChar char="•"/>
            </a:pPr>
            <a:r>
              <a:rPr lang="en-US" sz="930" b="0" i="0" dirty="0">
                <a:solidFill>
                  <a:srgbClr val="1E293B"/>
                </a:solidFill>
                <a:latin typeface="Calibri"/>
                <a:cs typeface="Calibri"/>
              </a:rPr>
              <a:t>What it contributes: Executes statistical tests, generates 12 300-DPI figures, and trains the linear regression model.</a:t>
            </a:r>
          </a:p>
          <a:p>
            <a:pPr marL="190500" indent="-142875" algn="l">
              <a:spcBef>
                <a:spcPts val="0"/>
              </a:spcBef>
              <a:spcAft>
                <a:spcPts val="400"/>
              </a:spcAft>
              <a:buFont typeface="Arial"/>
              <a:buChar char="•"/>
            </a:pPr>
            <a:r>
              <a:rPr lang="en-US" sz="930" b="0" i="0" dirty="0">
                <a:solidFill>
                  <a:srgbClr val="1E293B"/>
                </a:solidFill>
                <a:latin typeface="Calibri"/>
                <a:cs typeface="Calibri"/>
              </a:rPr>
              <a:t>Key actions: Runs Wilcoxon &amp; Kruskal-Wallis tests, fits lm(DO ~ BOD), runs sensitivity checks, and knits reports.</a:t>
            </a:r>
          </a:p>
          <a:p>
            <a:pPr marL="190500" indent="-142875" algn="l">
              <a:spcBef>
                <a:spcPts val="0"/>
              </a:spcBef>
              <a:spcAft>
                <a:spcPts val="400"/>
              </a:spcAft>
              <a:buFont typeface="Arial"/>
              <a:buChar char="•"/>
            </a:pPr>
            <a:r>
              <a:rPr lang="en-US" sz="930" b="1" i="0" dirty="0">
                <a:solidFill>
                  <a:srgbClr val="1B365D"/>
                </a:solidFill>
                <a:latin typeface="Calibri"/>
                <a:cs typeface="Calibri"/>
              </a:rPr>
              <a:t>Outputs: Figures 01–12, HTML report, and PDF report.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2"/>
          <p:cNvSpPr/>
          <p:nvPr/>
        </p:nvSpPr>
        <p:spPr>
          <a:xfrm>
            <a:off x="0" y="0"/>
            <a:ext cx="9144000" cy="713232"/>
          </a:xfrm>
          <a:prstGeom prst="rect">
            <a:avLst/>
          </a:prstGeom>
          <a:solidFill>
            <a:srgbClr val="1B365D"/>
          </a:solidFill>
          <a:ln>
            <a:noFill/>
          </a:ln>
        </p:spPr>
      </p:sp>
      <p:sp>
        <p:nvSpPr>
          <p:cNvPr id="3" name="Rect 3"/>
          <p:cNvSpPr/>
          <p:nvPr/>
        </p:nvSpPr>
        <p:spPr>
          <a:xfrm>
            <a:off x="0" y="713232"/>
            <a:ext cx="9144000" cy="36576"/>
          </a:xfrm>
          <a:prstGeom prst="rect">
            <a:avLst/>
          </a:prstGeom>
          <a:solidFill>
            <a:srgbClr val="007A78"/>
          </a:solidFill>
          <a:ln>
            <a:noFill/>
          </a:ln>
        </p:spPr>
      </p:sp>
      <p:sp>
        <p:nvSpPr>
          <p:cNvPr id="4" name="TextBox 4"/>
          <p:cNvSpPr txBox="1"/>
          <p:nvPr/>
        </p:nvSpPr>
        <p:spPr>
          <a:xfrm>
            <a:off x="320040" y="54864"/>
            <a:ext cx="8503920" cy="621792"/>
          </a:xfrm>
          <a:prstGeom prst="rect">
            <a:avLst/>
          </a:prstGeom>
          <a:noFill/>
          <a:ln>
            <a:noFill/>
          </a:ln>
        </p:spPr>
        <p:txBody>
          <a:bodyPr wrap="square" lIns="18288" tIns="18288" rIns="18288" bIns="18288" anchor="t"/>
          <a:lstStyle/>
          <a:p>
            <a:pPr marL="0" indent="0" algn="l">
              <a:spcBef>
                <a:spcPts val="0"/>
              </a:spcBef>
              <a:spcAft>
                <a:spcPts val="100"/>
              </a:spcAft>
              <a:buNone/>
            </a:pPr>
            <a:r>
              <a:rPr lang="en-US" sz="850" b="1" i="0" dirty="0">
                <a:solidFill>
                  <a:srgbClr val="7FD4D2"/>
                </a:solidFill>
                <a:latin typeface="Calibri"/>
                <a:cs typeface="Calibri"/>
              </a:rPr>
              <a:t>SECTION 4  |  DATA AUDITING</a:t>
            </a:r>
          </a:p>
          <a:p>
            <a:pPr marL="0" indent="0" algn="l">
              <a:spcBef>
                <a:spcPts val="0"/>
              </a:spcBef>
              <a:spcAft>
                <a:spcPts val="100"/>
              </a:spcAft>
              <a:buNone/>
            </a:pPr>
            <a:r>
              <a:rPr lang="en-US" sz="1750" b="1" i="0" dirty="0">
                <a:solidFill>
                  <a:srgbClr val="FFFFFF"/>
                </a:solidFill>
                <a:latin typeface="Calibri"/>
                <a:cs typeface="Calibri"/>
              </a:rPr>
              <a:t>Data Inspection and Identified Quality Problems</a:t>
            </a:r>
          </a:p>
          <a:p>
            <a:pPr marL="0" indent="0" algn="l">
              <a:spcBef>
                <a:spcPts val="0"/>
              </a:spcBef>
              <a:spcAft>
                <a:spcPts val="0"/>
              </a:spcAft>
              <a:buNone/>
            </a:pPr>
            <a:r>
              <a:rPr lang="en-US" sz="950" b="0" i="1" dirty="0">
                <a:solidFill>
                  <a:srgbClr val="DCE6F1"/>
                </a:solidFill>
                <a:latin typeface="Calibri"/>
                <a:cs typeface="Calibri"/>
              </a:rPr>
              <a:t>Empirical anomalies uncovered during automated inspection of the 315 CPCB CSVs and Kaggle dataset</a:t>
            </a:r>
          </a:p>
        </p:txBody>
      </p:sp>
      <p:sp>
        <p:nvSpPr>
          <p:cNvPr id="5" name="Rect 5"/>
          <p:cNvSpPr/>
          <p:nvPr/>
        </p:nvSpPr>
        <p:spPr>
          <a:xfrm>
            <a:off x="0" y="4864608"/>
            <a:ext cx="9144000" cy="278892"/>
          </a:xfrm>
          <a:prstGeom prst="rect">
            <a:avLst/>
          </a:prstGeom>
          <a:solidFill>
            <a:srgbClr val="EEF2F6"/>
          </a:solidFill>
          <a:ln>
            <a:noFill/>
          </a:ln>
        </p:spPr>
      </p:sp>
      <p:sp>
        <p:nvSpPr>
          <p:cNvPr id="6" name="TextBox 6"/>
          <p:cNvSpPr txBox="1"/>
          <p:nvPr/>
        </p:nvSpPr>
        <p:spPr>
          <a:xfrm>
            <a:off x="320040" y="4882896"/>
            <a:ext cx="6858000" cy="228600"/>
          </a:xfrm>
          <a:prstGeom prst="rect">
            <a:avLst/>
          </a:prstGeom>
          <a:noFill/>
          <a:ln>
            <a:noFill/>
          </a:ln>
        </p:spPr>
        <p:txBody>
          <a:bodyPr wrap="square" lIns="0" tIns="18288" rIns="0" bIns="0" anchor="t"/>
          <a:lstStyle/>
          <a:p>
            <a:pPr marL="0" indent="0" algn="l">
              <a:spcBef>
                <a:spcPts val="0"/>
              </a:spcBef>
              <a:spcAft>
                <a:spcPts val="400"/>
              </a:spcAft>
              <a:buNone/>
            </a:pPr>
            <a:r>
              <a:rPr lang="en-US" sz="850" b="0" i="0" dirty="0">
                <a:solidFill>
                  <a:srgbClr val="475569"/>
                </a:solidFill>
                <a:latin typeface="Calibri"/>
                <a:cs typeface="Calibri"/>
              </a:rPr>
              <a:t>Emmanuel Jobin (2026EMAI20054)  |  DSC 513: Introduction to Data Science  |  IIIT Kottayam</a:t>
            </a:r>
          </a:p>
        </p:txBody>
      </p:sp>
      <p:sp>
        <p:nvSpPr>
          <p:cNvPr id="7" name="TextBox 7"/>
          <p:cNvSpPr txBox="1"/>
          <p:nvPr/>
        </p:nvSpPr>
        <p:spPr>
          <a:xfrm>
            <a:off x="7315200" y="4882896"/>
            <a:ext cx="1508760" cy="228600"/>
          </a:xfrm>
          <a:prstGeom prst="rect">
            <a:avLst/>
          </a:prstGeom>
          <a:noFill/>
          <a:ln>
            <a:noFill/>
          </a:ln>
        </p:spPr>
        <p:txBody>
          <a:bodyPr wrap="square" lIns="0" tIns="18288" rIns="0" bIns="0" anchor="t"/>
          <a:lstStyle/>
          <a:p>
            <a:pPr marL="0" indent="0" algn="r">
              <a:spcBef>
                <a:spcPts val="0"/>
              </a:spcBef>
              <a:spcAft>
                <a:spcPts val="400"/>
              </a:spcAft>
              <a:buNone/>
            </a:pPr>
            <a:r>
              <a:rPr lang="en-US" sz="850" b="1" i="0" dirty="0">
                <a:solidFill>
                  <a:srgbClr val="1B365D"/>
                </a:solidFill>
                <a:latin typeface="Calibri"/>
                <a:cs typeface="Calibri"/>
              </a:rPr>
              <a:t>Slide 7 of 18</a:t>
            </a:r>
          </a:p>
        </p:txBody>
      </p:sp>
      <p:graphicFrame>
        <p:nvGraphicFramePr>
          <p:cNvPr id="8" name="Table 8"/>
          <p:cNvGraphicFramePr>
            <a:graphicFrameLocks noGrp="1"/>
          </p:cNvGraphicFramePr>
          <p:nvPr/>
        </p:nvGraphicFramePr>
        <p:xfrm>
          <a:off x="320040" y="868680"/>
          <a:ext cx="4617720" cy="3840480"/>
        </p:xfrm>
        <a:graphic>
          <a:graphicData uri="http://schemas.openxmlformats.org/drawingml/2006/table">
            <a:tbl>
              <a:tblPr firstRow="1" bandRow="1"/>
              <a:tblGrid>
                <a:gridCol w="1062076"/>
                <a:gridCol w="738835"/>
                <a:gridCol w="1431493"/>
                <a:gridCol w="1385316"/>
              </a:tblGrid>
              <a:tr h="480060">
                <a:tc>
                  <a:txBody>
                    <a:bodyPr lIns="55000" rIns="55000" tIns="32000" bIns="32000" anchor="ctr"/>
                    <a:lstStyle/>
                    <a:p>
                      <a:pPr algn="l">
                        <a:buNone/>
                      </a:pPr>
                      <a:r>
                        <a:rPr lang="en-US" sz="850" b="1" dirty="0">
                          <a:solidFill>
                            <a:srgbClr val="FFFFFF"/>
                          </a:solidFill>
                          <a:latin typeface="Calibri"/>
                        </a:rPr>
                        <a:t>Anomaly Category</a:t>
                      </a:r>
                    </a:p>
                  </a:txBody>
                  <a:tcPr>
                    <a:lnL w="6350">
                      <a:solidFill>
                        <a:srgbClr val="CBD5E1"/>
                      </a:solidFill>
                    </a:lnL>
                    <a:lnR w="6350">
                      <a:solidFill>
                        <a:srgbClr val="CBD5E1"/>
                      </a:solidFill>
                    </a:lnR>
                    <a:lnT w="6350">
                      <a:solidFill>
                        <a:srgbClr val="CBD5E1"/>
                      </a:solidFill>
                    </a:lnT>
                    <a:lnB w="6350">
                      <a:solidFill>
                        <a:srgbClr val="CBD5E1"/>
                      </a:solidFill>
                    </a:lnB>
                    <a:solidFill>
                      <a:srgbClr val="1B365D"/>
                    </a:solidFill>
                  </a:tcPr>
                </a:tc>
                <a:tc>
                  <a:txBody>
                    <a:bodyPr lIns="55000" rIns="55000" tIns="32000" bIns="32000" anchor="ctr"/>
                    <a:lstStyle/>
                    <a:p>
                      <a:pPr algn="ctr">
                        <a:buNone/>
                      </a:pPr>
                      <a:r>
                        <a:rPr lang="en-US" sz="850" b="1" dirty="0">
                          <a:solidFill>
                            <a:srgbClr val="FFFFFF"/>
                          </a:solidFill>
                          <a:latin typeface="Calibri"/>
                        </a:rPr>
                        <a:t>Dataset</a:t>
                      </a:r>
                    </a:p>
                  </a:txBody>
                  <a:tcPr>
                    <a:lnL w="6350">
                      <a:solidFill>
                        <a:srgbClr val="CBD5E1"/>
                      </a:solidFill>
                    </a:lnL>
                    <a:lnR w="6350">
                      <a:solidFill>
                        <a:srgbClr val="CBD5E1"/>
                      </a:solidFill>
                    </a:lnR>
                    <a:lnT w="6350">
                      <a:solidFill>
                        <a:srgbClr val="CBD5E1"/>
                      </a:solidFill>
                    </a:lnT>
                    <a:lnB w="6350">
                      <a:solidFill>
                        <a:srgbClr val="CBD5E1"/>
                      </a:solidFill>
                    </a:lnB>
                    <a:solidFill>
                      <a:srgbClr val="1B365D"/>
                    </a:solidFill>
                  </a:tcPr>
                </a:tc>
                <a:tc>
                  <a:txBody>
                    <a:bodyPr lIns="55000" rIns="55000" tIns="32000" bIns="32000" anchor="ctr"/>
                    <a:lstStyle/>
                    <a:p>
                      <a:pPr algn="ctr">
                        <a:buNone/>
                      </a:pPr>
                      <a:r>
                        <a:rPr lang="en-US" sz="850" b="1" dirty="0">
                          <a:solidFill>
                            <a:srgbClr val="FFFFFF"/>
                          </a:solidFill>
                          <a:latin typeface="Calibri"/>
                        </a:rPr>
                        <a:t>Verified Count / Evidence</a:t>
                      </a:r>
                    </a:p>
                  </a:txBody>
                  <a:tcPr>
                    <a:lnL w="6350">
                      <a:solidFill>
                        <a:srgbClr val="CBD5E1"/>
                      </a:solidFill>
                    </a:lnL>
                    <a:lnR w="6350">
                      <a:solidFill>
                        <a:srgbClr val="CBD5E1"/>
                      </a:solidFill>
                    </a:lnR>
                    <a:lnT w="6350">
                      <a:solidFill>
                        <a:srgbClr val="CBD5E1"/>
                      </a:solidFill>
                    </a:lnT>
                    <a:lnB w="6350">
                      <a:solidFill>
                        <a:srgbClr val="CBD5E1"/>
                      </a:solidFill>
                    </a:lnB>
                    <a:solidFill>
                      <a:srgbClr val="1B365D"/>
                    </a:solidFill>
                  </a:tcPr>
                </a:tc>
                <a:tc>
                  <a:txBody>
                    <a:bodyPr lIns="55000" rIns="55000" tIns="32000" bIns="32000" anchor="ctr"/>
                    <a:lstStyle/>
                    <a:p>
                      <a:pPr algn="ctr">
                        <a:buNone/>
                      </a:pPr>
                      <a:r>
                        <a:rPr lang="en-US" sz="850" b="1" dirty="0">
                          <a:solidFill>
                            <a:srgbClr val="FFFFFF"/>
                          </a:solidFill>
                          <a:latin typeface="Calibri"/>
                        </a:rPr>
                        <a:t>Impact if Uncorrected</a:t>
                      </a:r>
                    </a:p>
                  </a:txBody>
                  <a:tcPr>
                    <a:lnL w="6350">
                      <a:solidFill>
                        <a:srgbClr val="CBD5E1"/>
                      </a:solidFill>
                    </a:lnL>
                    <a:lnR w="6350">
                      <a:solidFill>
                        <a:srgbClr val="CBD5E1"/>
                      </a:solidFill>
                    </a:lnR>
                    <a:lnT w="6350">
                      <a:solidFill>
                        <a:srgbClr val="CBD5E1"/>
                      </a:solidFill>
                    </a:lnT>
                    <a:lnB w="6350">
                      <a:solidFill>
                        <a:srgbClr val="CBD5E1"/>
                      </a:solidFill>
                    </a:lnB>
                    <a:solidFill>
                      <a:srgbClr val="1B365D"/>
                    </a:solidFill>
                  </a:tcPr>
                </a:tc>
              </a:tr>
              <a:tr h="480060">
                <a:tc>
                  <a:txBody>
                    <a:bodyPr lIns="55000" rIns="55000" tIns="32000" bIns="32000" anchor="ctr"/>
                    <a:lstStyle/>
                    <a:p>
                      <a:pPr algn="l">
                        <a:buNone/>
                      </a:pPr>
                      <a:r>
                        <a:rPr lang="en-US" sz="800" b="1" dirty="0">
                          <a:solidFill>
                            <a:srgbClr val="1E293B"/>
                          </a:solidFill>
                          <a:latin typeface="Calibri"/>
                        </a:rPr>
                        <a:t>File Misclassification</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ctr">
                        <a:buNone/>
                      </a:pPr>
                      <a:r>
                        <a:rPr lang="en-US" sz="800" b="0" dirty="0">
                          <a:solidFill>
                            <a:srgbClr val="1E293B"/>
                          </a:solidFill>
                          <a:latin typeface="Calibri"/>
                        </a:rPr>
                        <a:t>CPCB Chemical</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l">
                        <a:buNone/>
                      </a:pPr>
                      <a:r>
                        <a:rPr lang="en-US" sz="800" b="0" dirty="0">
                          <a:solidFill>
                            <a:srgbClr val="1E293B"/>
                          </a:solidFill>
                          <a:latin typeface="Calibri"/>
                        </a:rPr>
                        <a:t>1 CSV (Tamil Nadu 2018 Biological schema inside Chemical folder)</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l">
                        <a:buNone/>
                      </a:pPr>
                      <a:r>
                        <a:rPr lang="en-US" sz="800" b="0" dirty="0">
                          <a:solidFill>
                            <a:srgbClr val="1E293B"/>
                          </a:solidFill>
                          <a:latin typeface="Calibri"/>
                        </a:rPr>
                        <a:t>Blind rbind() fails or corrupts chemical columns with BOD/Coliform.</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480060">
                <a:tc>
                  <a:txBody>
                    <a:bodyPr lIns="55000" rIns="55000" tIns="32000" bIns="32000" anchor="ctr"/>
                    <a:lstStyle/>
                    <a:p>
                      <a:pPr algn="l">
                        <a:buNone/>
                      </a:pPr>
                      <a:r>
                        <a:rPr lang="en-US" sz="800" b="1" dirty="0">
                          <a:solidFill>
                            <a:srgbClr val="1E293B"/>
                          </a:solidFill>
                          <a:latin typeface="Calibri"/>
                        </a:rPr>
                        <a:t>OCR Header Typos</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ctr">
                        <a:buNone/>
                      </a:pPr>
                      <a:r>
                        <a:rPr lang="en-US" sz="800" b="0" dirty="0">
                          <a:solidFill>
                            <a:srgbClr val="1E293B"/>
                          </a:solidFill>
                          <a:latin typeface="Calibri"/>
                        </a:rPr>
                        <a:t>CPCB Biological</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l">
                        <a:buNone/>
                      </a:pPr>
                      <a:r>
                        <a:rPr lang="en-US" sz="800" b="0" dirty="0">
                          <a:solidFill>
                            <a:srgbClr val="1E293B"/>
                          </a:solidFill>
                          <a:latin typeface="Calibri"/>
                        </a:rPr>
                        <a:t>e.g. 'Biochemical Oxygen Deman (mg/L)' &amp; 'Fecal Coliform (MPN/100ml'</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l">
                        <a:buNone/>
                      </a:pPr>
                      <a:r>
                        <a:rPr lang="en-US" sz="800" b="0" dirty="0">
                          <a:solidFill>
                            <a:srgbClr val="1E293B"/>
                          </a:solidFill>
                          <a:latin typeface="Calibri"/>
                        </a:rPr>
                        <a:t>Columns fail to align across states during multi-file ingestion.</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r>
              <a:tr h="480060">
                <a:tc>
                  <a:txBody>
                    <a:bodyPr lIns="55000" rIns="55000" tIns="32000" bIns="32000" anchor="ctr"/>
                    <a:lstStyle/>
                    <a:p>
                      <a:pPr algn="l">
                        <a:buNone/>
                      </a:pPr>
                      <a:r>
                        <a:rPr lang="en-US" sz="800" b="1" dirty="0">
                          <a:solidFill>
                            <a:srgbClr val="1E293B"/>
                          </a:solidFill>
                          <a:latin typeface="Calibri"/>
                        </a:rPr>
                        <a:t>Character Encoding &amp; Strings</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ctr">
                        <a:buNone/>
                      </a:pPr>
                      <a:r>
                        <a:rPr lang="en-US" sz="800" b="0" dirty="0">
                          <a:solidFill>
                            <a:srgbClr val="1E293B"/>
                          </a:solidFill>
                          <a:latin typeface="Calibri"/>
                        </a:rPr>
                        <a:t>Kaggle &amp; CPCB</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l">
                        <a:buNone/>
                      </a:pPr>
                      <a:r>
                        <a:rPr lang="en-US" sz="800" b="0" dirty="0">
                          <a:solidFill>
                            <a:srgbClr val="1E293B"/>
                          </a:solidFill>
                          <a:latin typeface="Calibri"/>
                        </a:rPr>
                        <a:t>Latin-1 degree symbols; 'NAN', '-', '' stored in numeric columns</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l">
                        <a:buNone/>
                      </a:pPr>
                      <a:r>
                        <a:rPr lang="en-US" sz="800" b="0" dirty="0">
                          <a:solidFill>
                            <a:srgbClr val="1E293B"/>
                          </a:solidFill>
                          <a:latin typeface="Calibri"/>
                        </a:rPr>
                        <a:t>R imports numeric water-quality columns as character vectors.</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480060">
                <a:tc>
                  <a:txBody>
                    <a:bodyPr lIns="55000" rIns="55000" tIns="32000" bIns="32000" anchor="ctr"/>
                    <a:lstStyle/>
                    <a:p>
                      <a:pPr algn="l">
                        <a:buNone/>
                      </a:pPr>
                      <a:r>
                        <a:rPr lang="en-US" sz="800" b="1" dirty="0">
                          <a:solidFill>
                            <a:srgbClr val="1E293B"/>
                          </a:solidFill>
                          <a:latin typeface="Calibri"/>
                        </a:rPr>
                        <a:t>Exact Duplicate Rows</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ctr">
                        <a:buNone/>
                      </a:pPr>
                      <a:r>
                        <a:rPr lang="en-US" sz="800" b="0" dirty="0">
                          <a:solidFill>
                            <a:srgbClr val="1E293B"/>
                          </a:solidFill>
                          <a:latin typeface="Calibri"/>
                        </a:rPr>
                        <a:t>Kaggle</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l">
                        <a:buNone/>
                      </a:pPr>
                      <a:r>
                        <a:rPr lang="en-US" sz="800" b="0" dirty="0">
                          <a:solidFill>
                            <a:srgbClr val="1E293B"/>
                          </a:solidFill>
                          <a:latin typeface="Calibri"/>
                        </a:rPr>
                        <a:t>1 exact duplicate row (1,991 raw -&gt; 1,990 unique rows); 0 in CPCB</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l">
                        <a:buNone/>
                      </a:pPr>
                      <a:r>
                        <a:rPr lang="en-US" sz="800" b="0" dirty="0">
                          <a:solidFill>
                            <a:srgbClr val="1E293B"/>
                          </a:solidFill>
                          <a:latin typeface="Calibri"/>
                        </a:rPr>
                        <a:t>Double-counts identical station-year summary record.</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r>
              <a:tr h="480060">
                <a:tc>
                  <a:txBody>
                    <a:bodyPr lIns="55000" rIns="55000" tIns="32000" bIns="32000" anchor="ctr"/>
                    <a:lstStyle/>
                    <a:p>
                      <a:pPr algn="l">
                        <a:buNone/>
                      </a:pPr>
                      <a:r>
                        <a:rPr lang="en-US" sz="800" b="1" dirty="0">
                          <a:solidFill>
                            <a:srgbClr val="1E293B"/>
                          </a:solidFill>
                          <a:latin typeface="Calibri"/>
                        </a:rPr>
                        <a:t>Impossible pH (&gt; 14)</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ctr">
                        <a:buNone/>
                      </a:pPr>
                      <a:r>
                        <a:rPr lang="en-US" sz="800" b="0" dirty="0">
                          <a:solidFill>
                            <a:srgbClr val="1E293B"/>
                          </a:solidFill>
                          <a:latin typeface="Calibri"/>
                        </a:rPr>
                        <a:t>Kaggle &amp; CPCB</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l">
                        <a:buNone/>
                      </a:pPr>
                      <a:r>
                        <a:rPr lang="en-US" sz="800" b="0" dirty="0">
                          <a:solidFill>
                            <a:srgbClr val="1E293B"/>
                          </a:solidFill>
                          <a:latin typeface="Calibri"/>
                        </a:rPr>
                        <a:t>89 rows in Kaggle (pH 69–748 from column shift); 4 rows in CPCB</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l">
                        <a:buNone/>
                      </a:pPr>
                      <a:r>
                        <a:rPr lang="en-US" sz="800" b="0" dirty="0">
                          <a:solidFill>
                            <a:srgbClr val="1E293B"/>
                          </a:solidFill>
                          <a:latin typeface="Calibri"/>
                        </a:rPr>
                        <a:t>Distorts Kaggle mean pH to 27.68 (SD = 104.53) instead of 7.23!</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480060">
                <a:tc>
                  <a:txBody>
                    <a:bodyPr lIns="55000" rIns="55000" tIns="32000" bIns="32000" anchor="ctr"/>
                    <a:lstStyle/>
                    <a:p>
                      <a:pPr algn="l">
                        <a:buNone/>
                      </a:pPr>
                      <a:r>
                        <a:rPr lang="en-US" sz="800" b="1" dirty="0">
                          <a:solidFill>
                            <a:srgbClr val="1E293B"/>
                          </a:solidFill>
                          <a:latin typeface="Calibri"/>
                        </a:rPr>
                        <a:t>Impossible DO (&gt; 25 mg/L)</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ctr">
                        <a:buNone/>
                      </a:pPr>
                      <a:r>
                        <a:rPr lang="en-US" sz="800" b="0" dirty="0">
                          <a:solidFill>
                            <a:srgbClr val="1E293B"/>
                          </a:solidFill>
                          <a:latin typeface="Calibri"/>
                        </a:rPr>
                        <a:t>CPCB Master</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l">
                        <a:buNone/>
                      </a:pPr>
                      <a:r>
                        <a:rPr lang="en-US" sz="800" b="0" dirty="0">
                          <a:solidFill>
                            <a:srgbClr val="1E293B"/>
                          </a:solidFill>
                          <a:latin typeface="Calibri"/>
                        </a:rPr>
                        <a:t>11 rows with DO between 26.0 and 95.0 mg/L (98 rows with DO = 0 kept)</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l">
                        <a:buNone/>
                      </a:pPr>
                      <a:r>
                        <a:rPr lang="en-US" sz="800" b="0" dirty="0">
                          <a:solidFill>
                            <a:srgbClr val="1E293B"/>
                          </a:solidFill>
                          <a:latin typeface="Calibri"/>
                        </a:rPr>
                        <a:t>Exceeds physical atmospheric oxygen saturation; skews DO summary.</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r>
              <a:tr h="480060">
                <a:tc>
                  <a:txBody>
                    <a:bodyPr lIns="55000" rIns="55000" tIns="32000" bIns="32000" anchor="ctr"/>
                    <a:lstStyle/>
                    <a:p>
                      <a:pPr algn="l">
                        <a:buNone/>
                      </a:pPr>
                      <a:r>
                        <a:rPr lang="en-US" sz="800" b="1" dirty="0">
                          <a:solidFill>
                            <a:srgbClr val="1E293B"/>
                          </a:solidFill>
                          <a:latin typeface="Calibri"/>
                        </a:rPr>
                        <a:t>Inconsistent State Names</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ctr">
                        <a:buNone/>
                      </a:pPr>
                      <a:r>
                        <a:rPr lang="en-US" sz="800" b="0" dirty="0">
                          <a:solidFill>
                            <a:srgbClr val="1E293B"/>
                          </a:solidFill>
                          <a:latin typeface="Calibri"/>
                        </a:rPr>
                        <a:t>Kaggle &amp; CPCB</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l">
                        <a:buNone/>
                      </a:pPr>
                      <a:r>
                        <a:rPr lang="en-US" sz="800" b="0" dirty="0">
                          <a:solidFill>
                            <a:srgbClr val="1E293B"/>
                          </a:solidFill>
                          <a:latin typeface="Calibri"/>
                        </a:rPr>
                        <a:t>1,780 CPCB rows ('odisha'/'Orissa'); Kaggle states embedded in text</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l">
                        <a:buNone/>
                      </a:pPr>
                      <a:r>
                        <a:rPr lang="en-US" sz="800" b="0" dirty="0">
                          <a:solidFill>
                            <a:srgbClr val="1E293B"/>
                          </a:solidFill>
                          <a:latin typeface="Calibri"/>
                        </a:rPr>
                        <a:t>Splits identical states into separate groups in geographic plots.</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bl>
          </a:graphicData>
        </a:graphic>
      </p:graphicFrame>
      <p:sp>
        <p:nvSpPr>
          <p:cNvPr id="9" name="Rect 9"/>
          <p:cNvSpPr/>
          <p:nvPr/>
        </p:nvSpPr>
        <p:spPr>
          <a:xfrm>
            <a:off x="5047488" y="1531620"/>
            <a:ext cx="3803904" cy="2304288"/>
          </a:xfrm>
          <a:prstGeom prst="rect">
            <a:avLst/>
          </a:prstGeom>
          <a:solidFill>
            <a:srgbClr val="FFFFFF"/>
          </a:solidFill>
          <a:ln w="9525">
            <a:solidFill>
              <a:srgbClr val="CBD5E1"/>
            </a:solidFill>
          </a:ln>
        </p:spPr>
      </p:sp>
      <p:pic>
        <p:nvPicPr>
          <p:cNvPr id="10" name="Picture 10" descr="01_missingness_overview.png"/>
          <p:cNvPicPr>
            <a:picLocks noGrp="1" noChangeAspect="1"/>
          </p:cNvPicPr>
          <p:nvPr/>
        </p:nvPicPr>
        <p:blipFill>
          <a:blip r:embed="rId3"/>
          <a:stretch>
            <a:fillRect/>
          </a:stretch>
        </p:blipFill>
        <p:spPr bwMode="auto">
          <a:xfrm>
            <a:off x="5074920" y="1559052"/>
            <a:ext cx="3749040" cy="2249424"/>
          </a:xfrm>
          <a:prstGeom prst="rect">
            <a:avLst/>
          </a:prstGeom>
          <a:noFill/>
        </p:spPr>
      </p:pic>
      <p:sp>
        <p:nvSpPr>
          <p:cNvPr id="11" name="TextBox 11"/>
          <p:cNvSpPr txBox="1"/>
          <p:nvPr/>
        </p:nvSpPr>
        <p:spPr>
          <a:xfrm>
            <a:off x="5074920" y="3845052"/>
            <a:ext cx="3749040" cy="201168"/>
          </a:xfrm>
          <a:prstGeom prst="rect">
            <a:avLst/>
          </a:prstGeom>
          <a:noFill/>
          <a:ln>
            <a:noFill/>
          </a:ln>
        </p:spPr>
        <p:txBody>
          <a:bodyPr wrap="square" lIns="18288" tIns="9144" rIns="18288" bIns="9144" anchor="t"/>
          <a:lstStyle/>
          <a:p>
            <a:pPr marL="0" indent="0" algn="ctr">
              <a:spcBef>
                <a:spcPts val="0"/>
              </a:spcBef>
              <a:spcAft>
                <a:spcPts val="400"/>
              </a:spcAft>
              <a:buNone/>
            </a:pPr>
            <a:r>
              <a:rPr lang="en-US" sz="850" b="0" i="1" dirty="0">
                <a:solidFill>
                  <a:srgbClr val="475569"/>
                </a:solidFill>
                <a:latin typeface="Calibri"/>
                <a:cs typeface="Calibri"/>
              </a:rPr>
              <a:t>Figure 1: Parameter-wise missingness (%) in CPCB Master (109,422 rows)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2"/>
          <p:cNvSpPr/>
          <p:nvPr/>
        </p:nvSpPr>
        <p:spPr>
          <a:xfrm>
            <a:off x="0" y="0"/>
            <a:ext cx="9144000" cy="713232"/>
          </a:xfrm>
          <a:prstGeom prst="rect">
            <a:avLst/>
          </a:prstGeom>
          <a:solidFill>
            <a:srgbClr val="1B365D"/>
          </a:solidFill>
          <a:ln>
            <a:noFill/>
          </a:ln>
        </p:spPr>
      </p:sp>
      <p:sp>
        <p:nvSpPr>
          <p:cNvPr id="3" name="Rect 3"/>
          <p:cNvSpPr/>
          <p:nvPr/>
        </p:nvSpPr>
        <p:spPr>
          <a:xfrm>
            <a:off x="0" y="713232"/>
            <a:ext cx="9144000" cy="36576"/>
          </a:xfrm>
          <a:prstGeom prst="rect">
            <a:avLst/>
          </a:prstGeom>
          <a:solidFill>
            <a:srgbClr val="007A78"/>
          </a:solidFill>
          <a:ln>
            <a:noFill/>
          </a:ln>
        </p:spPr>
      </p:sp>
      <p:sp>
        <p:nvSpPr>
          <p:cNvPr id="4" name="TextBox 4"/>
          <p:cNvSpPr txBox="1"/>
          <p:nvPr/>
        </p:nvSpPr>
        <p:spPr>
          <a:xfrm>
            <a:off x="320040" y="54864"/>
            <a:ext cx="8503920" cy="621792"/>
          </a:xfrm>
          <a:prstGeom prst="rect">
            <a:avLst/>
          </a:prstGeom>
          <a:noFill/>
          <a:ln>
            <a:noFill/>
          </a:ln>
        </p:spPr>
        <p:txBody>
          <a:bodyPr wrap="square" lIns="18288" tIns="18288" rIns="18288" bIns="18288" anchor="t"/>
          <a:lstStyle/>
          <a:p>
            <a:pPr marL="0" indent="0" algn="l">
              <a:spcBef>
                <a:spcPts val="0"/>
              </a:spcBef>
              <a:spcAft>
                <a:spcPts val="100"/>
              </a:spcAft>
              <a:buNone/>
            </a:pPr>
            <a:r>
              <a:rPr lang="en-US" sz="850" b="1" i="0" dirty="0">
                <a:solidFill>
                  <a:srgbClr val="7FD4D2"/>
                </a:solidFill>
                <a:latin typeface="Calibri"/>
                <a:cs typeface="Calibri"/>
              </a:rPr>
              <a:t>SECTION 4  |  PREPROCESSING PIPELINE</a:t>
            </a:r>
          </a:p>
          <a:p>
            <a:pPr marL="0" indent="0" algn="l">
              <a:spcBef>
                <a:spcPts val="0"/>
              </a:spcBef>
              <a:spcAft>
                <a:spcPts val="100"/>
              </a:spcAft>
              <a:buNone/>
            </a:pPr>
            <a:r>
              <a:rPr lang="en-US" sz="1750" b="1" i="0" dirty="0">
                <a:solidFill>
                  <a:srgbClr val="FFFFFF"/>
                </a:solidFill>
                <a:latin typeface="Calibri"/>
                <a:cs typeface="Calibri"/>
              </a:rPr>
              <a:t>Data Cleaning and Preprocessing in R</a:t>
            </a:r>
          </a:p>
          <a:p>
            <a:pPr marL="0" indent="0" algn="l">
              <a:spcBef>
                <a:spcPts val="0"/>
              </a:spcBef>
              <a:spcAft>
                <a:spcPts val="0"/>
              </a:spcAft>
              <a:buNone/>
            </a:pPr>
            <a:r>
              <a:rPr lang="en-US" sz="950" b="0" i="1" dirty="0">
                <a:solidFill>
                  <a:srgbClr val="DCE6F1"/>
                </a:solidFill>
                <a:latin typeface="Calibri"/>
                <a:cs typeface="Calibri"/>
              </a:rPr>
              <a:t>What was done, why it was needed, how it was coded in R, and verified before/after impact</a:t>
            </a:r>
          </a:p>
        </p:txBody>
      </p:sp>
      <p:sp>
        <p:nvSpPr>
          <p:cNvPr id="5" name="Rect 5"/>
          <p:cNvSpPr/>
          <p:nvPr/>
        </p:nvSpPr>
        <p:spPr>
          <a:xfrm>
            <a:off x="0" y="4864608"/>
            <a:ext cx="9144000" cy="278892"/>
          </a:xfrm>
          <a:prstGeom prst="rect">
            <a:avLst/>
          </a:prstGeom>
          <a:solidFill>
            <a:srgbClr val="EEF2F6"/>
          </a:solidFill>
          <a:ln>
            <a:noFill/>
          </a:ln>
        </p:spPr>
      </p:sp>
      <p:sp>
        <p:nvSpPr>
          <p:cNvPr id="6" name="TextBox 6"/>
          <p:cNvSpPr txBox="1"/>
          <p:nvPr/>
        </p:nvSpPr>
        <p:spPr>
          <a:xfrm>
            <a:off x="320040" y="4882896"/>
            <a:ext cx="6858000" cy="228600"/>
          </a:xfrm>
          <a:prstGeom prst="rect">
            <a:avLst/>
          </a:prstGeom>
          <a:noFill/>
          <a:ln>
            <a:noFill/>
          </a:ln>
        </p:spPr>
        <p:txBody>
          <a:bodyPr wrap="square" lIns="0" tIns="18288" rIns="0" bIns="0" anchor="t"/>
          <a:lstStyle/>
          <a:p>
            <a:pPr marL="0" indent="0" algn="l">
              <a:spcBef>
                <a:spcPts val="0"/>
              </a:spcBef>
              <a:spcAft>
                <a:spcPts val="400"/>
              </a:spcAft>
              <a:buNone/>
            </a:pPr>
            <a:r>
              <a:rPr lang="en-US" sz="850" b="0" i="0" dirty="0">
                <a:solidFill>
                  <a:srgbClr val="475569"/>
                </a:solidFill>
                <a:latin typeface="Calibri"/>
                <a:cs typeface="Calibri"/>
              </a:rPr>
              <a:t>Emmanuel Jobin (2026EMAI20054)  |  DSC 513: Introduction to Data Science  |  IIIT Kottayam</a:t>
            </a:r>
          </a:p>
        </p:txBody>
      </p:sp>
      <p:sp>
        <p:nvSpPr>
          <p:cNvPr id="7" name="TextBox 7"/>
          <p:cNvSpPr txBox="1"/>
          <p:nvPr/>
        </p:nvSpPr>
        <p:spPr>
          <a:xfrm>
            <a:off x="7315200" y="4882896"/>
            <a:ext cx="1508760" cy="228600"/>
          </a:xfrm>
          <a:prstGeom prst="rect">
            <a:avLst/>
          </a:prstGeom>
          <a:noFill/>
          <a:ln>
            <a:noFill/>
          </a:ln>
        </p:spPr>
        <p:txBody>
          <a:bodyPr wrap="square" lIns="0" tIns="18288" rIns="0" bIns="0" anchor="t"/>
          <a:lstStyle/>
          <a:p>
            <a:pPr marL="0" indent="0" algn="r">
              <a:spcBef>
                <a:spcPts val="0"/>
              </a:spcBef>
              <a:spcAft>
                <a:spcPts val="400"/>
              </a:spcAft>
              <a:buNone/>
            </a:pPr>
            <a:r>
              <a:rPr lang="en-US" sz="850" b="1" i="0" dirty="0">
                <a:solidFill>
                  <a:srgbClr val="1B365D"/>
                </a:solidFill>
                <a:latin typeface="Calibri"/>
                <a:cs typeface="Calibri"/>
              </a:rPr>
              <a:t>Slide 8 of 18</a:t>
            </a:r>
          </a:p>
        </p:txBody>
      </p:sp>
      <p:sp>
        <p:nvSpPr>
          <p:cNvPr id="8" name="TextBox 8"/>
          <p:cNvSpPr txBox="1"/>
          <p:nvPr/>
        </p:nvSpPr>
        <p:spPr>
          <a:xfrm>
            <a:off x="320040" y="868680"/>
            <a:ext cx="4434840" cy="1965960"/>
          </a:xfrm>
          <a:prstGeom prst="roundRect">
            <a:avLst>
              <a:gd name="adj" fmla="val 4000"/>
            </a:avLst>
          </a:prstGeom>
          <a:solidFill>
            <a:srgbClr val="F4F7FA"/>
          </a:solidFill>
          <a:ln w="12700">
            <a:solidFill>
              <a:srgbClr val="CBD5E1"/>
            </a:solidFill>
          </a:ln>
        </p:spPr>
        <p:txBody>
          <a:bodyPr wrap="square" lIns="73152" tIns="54864" rIns="73152" bIns="54864" anchor="t"/>
          <a:lstStyle/>
          <a:p>
            <a:pPr marL="0" indent="0" algn="l">
              <a:spcBef>
                <a:spcPts val="0"/>
              </a:spcBef>
              <a:spcAft>
                <a:spcPts val="400"/>
              </a:spcAft>
              <a:buNone/>
            </a:pPr>
            <a:r>
              <a:rPr lang="en-US" sz="1100" b="1" i="0" dirty="0">
                <a:solidFill>
                  <a:srgbClr val="1B365D"/>
                </a:solidFill>
                <a:latin typeface="Calibri"/>
                <a:cs typeface="Calibri"/>
              </a:rPr>
              <a:t>What, Why, and How of Key Cleaning Steps (02_data_cleaning.R)</a:t>
            </a:r>
          </a:p>
          <a:p>
            <a:pPr marL="190500" indent="-142875" algn="l">
              <a:spcBef>
                <a:spcPts val="0"/>
              </a:spcBef>
              <a:spcAft>
                <a:spcPts val="300"/>
              </a:spcAft>
              <a:buFont typeface="Arial"/>
              <a:buChar char="•"/>
            </a:pPr>
            <a:r>
              <a:rPr lang="en-US" sz="900" b="0" i="0" dirty="0">
                <a:solidFill>
                  <a:srgbClr val="1E293B"/>
                </a:solidFill>
                <a:latin typeface="Calibri"/>
                <a:cs typeface="Calibri"/>
              </a:rPr>
              <a:t>1. Schema-Based Routing &amp; Consolidation: Routed all 315 CSVs by actual column headers (catching the misclassified file) and consolidated by (station, sample_datetime) into 109,422 rows.</a:t>
            </a:r>
          </a:p>
          <a:p>
            <a:pPr marL="190500" indent="-142875" algn="l">
              <a:spcBef>
                <a:spcPts val="0"/>
              </a:spcBef>
              <a:spcAft>
                <a:spcPts val="300"/>
              </a:spcAft>
              <a:buFont typeface="Arial"/>
              <a:buChar char="•"/>
            </a:pPr>
            <a:r>
              <a:rPr lang="en-US" sz="900" b="0" i="0" dirty="0">
                <a:solidFill>
                  <a:srgbClr val="1E293B"/>
                </a:solidFill>
                <a:latin typeface="Calibri"/>
                <a:cs typeface="Calibri"/>
              </a:rPr>
              <a:t>2. Safe Type Conversion: Trimmed whitespace, converted 'NAN'/'-'/'' to NA, and applied as.numeric() and as.POSIXct().</a:t>
            </a:r>
          </a:p>
          <a:p>
            <a:pPr marL="190500" indent="-142875" algn="l">
              <a:spcBef>
                <a:spcPts val="0"/>
              </a:spcBef>
              <a:spcAft>
                <a:spcPts val="300"/>
              </a:spcAft>
              <a:buFont typeface="Arial"/>
              <a:buChar char="•"/>
            </a:pPr>
            <a:r>
              <a:rPr lang="en-US" sz="900" b="0" i="0" dirty="0">
                <a:solidFill>
                  <a:srgbClr val="1E293B"/>
                </a:solidFill>
                <a:latin typeface="Calibri"/>
                <a:cs typeface="Calibri"/>
              </a:rPr>
              <a:t>3. Physical Range Validation: Replaced impossible pH (&lt; 0 or &gt; 14: 89 Kaggle, 4 CPCB) and DO (&lt; 0 or &gt; 25 mg/L: 11 CPCB) with NA rather than deleting whole rows.</a:t>
            </a:r>
          </a:p>
          <a:p>
            <a:pPr marL="190500" indent="-142875" algn="l">
              <a:spcBef>
                <a:spcPts val="0"/>
              </a:spcBef>
              <a:spcAft>
                <a:spcPts val="400"/>
              </a:spcAft>
              <a:buFont typeface="Arial"/>
              <a:buChar char="•"/>
            </a:pPr>
            <a:r>
              <a:rPr lang="en-US" sz="900" b="0" i="0" dirty="0">
                <a:solidFill>
                  <a:srgbClr val="1E293B"/>
                </a:solidFill>
                <a:latin typeface="Calibri"/>
                <a:cs typeface="Calibri"/>
              </a:rPr>
              <a:t>4. State &amp; Season Standardization: Mapped 1,780 CPCB state variants to 36 canonical States/UTs; recovered 1,983/1,990 Kaggle states via regex + station_code lookup; derived 4 seasons.</a:t>
            </a:r>
          </a:p>
        </p:txBody>
      </p:sp>
      <p:sp>
        <p:nvSpPr>
          <p:cNvPr id="9" name="TextBox 9"/>
          <p:cNvSpPr txBox="1"/>
          <p:nvPr/>
        </p:nvSpPr>
        <p:spPr>
          <a:xfrm>
            <a:off x="320040" y="2926080"/>
            <a:ext cx="4434840" cy="1810512"/>
          </a:xfrm>
          <a:prstGeom prst="roundRect">
            <a:avLst>
              <a:gd name="adj" fmla="val 4000"/>
            </a:avLst>
          </a:prstGeom>
          <a:solidFill>
            <a:srgbClr val="F8FAFC"/>
          </a:solidFill>
          <a:ln w="12700">
            <a:solidFill>
              <a:srgbClr val="94A3B8"/>
            </a:solidFill>
          </a:ln>
        </p:spPr>
        <p:txBody>
          <a:bodyPr wrap="square" lIns="73152" tIns="54864" rIns="73152" bIns="54864" anchor="t"/>
          <a:lstStyle/>
          <a:p>
            <a:pPr marL="0" indent="0" algn="l">
              <a:spcBef>
                <a:spcPts val="0"/>
              </a:spcBef>
              <a:spcAft>
                <a:spcPts val="300"/>
              </a:spcAft>
              <a:buNone/>
            </a:pPr>
            <a:r>
              <a:rPr lang="en-US" sz="950" b="1" i="0" dirty="0">
                <a:solidFill>
                  <a:srgbClr val="007A78"/>
                </a:solidFill>
                <a:latin typeface="Calibri"/>
                <a:cs typeface="Calibri"/>
              </a:rPr>
              <a:t>Genuine R Code Excerpt (02_data_cleaning.R / .Rmd):</a:t>
            </a:r>
          </a:p>
          <a:p>
            <a:pPr marL="0" indent="0" algn="l">
              <a:spcBef>
                <a:spcPts val="0"/>
              </a:spcBef>
              <a:spcAft>
                <a:spcPts val="0"/>
              </a:spcAft>
              <a:buNone/>
            </a:pPr>
            <a:r>
              <a:rPr lang="en-US" sz="800" b="0" i="0" dirty="0">
                <a:solidFill>
                  <a:srgbClr val="0F2342"/>
                </a:solidFill>
                <a:latin typeface="Courier New"/>
                <a:cs typeface="Courier New"/>
              </a:rPr>
              <a:t># 1. Replace non-standard missing strings &amp; convert to numeric
x_clean &lt;- trimws(as.character(x))
x_clean[x_clean %in% c("", "NA", "NAN", "NaN", "-", "null")] &lt;- NA
val_num &lt;- suppressWarnings(as.numeric(x_clean))
# 2. Replace physically impossible pH &amp; DO with NA (keep valid row)
df$ph &lt;- ifelse(df$ph &lt; 0 | df$ph &gt; 14, NA_real_, df$ph)
df$dissolved_oxygen_mg_l &lt;- ifelse(
  df$dissolved_oxygen_mg_l &lt; 0 | df$dissolved_oxygen_mg_l &gt; 25,
  NA_real_, df$dissolved_oxygen_mg_l
)</a:t>
            </a:r>
          </a:p>
        </p:txBody>
      </p:sp>
      <p:sp>
        <p:nvSpPr>
          <p:cNvPr id="10" name="Rect 10"/>
          <p:cNvSpPr/>
          <p:nvPr/>
        </p:nvSpPr>
        <p:spPr>
          <a:xfrm>
            <a:off x="4864608" y="1393546"/>
            <a:ext cx="3986784" cy="2571293"/>
          </a:xfrm>
          <a:prstGeom prst="rect">
            <a:avLst/>
          </a:prstGeom>
          <a:solidFill>
            <a:srgbClr val="FFFFFF"/>
          </a:solidFill>
          <a:ln w="9525">
            <a:solidFill>
              <a:srgbClr val="CBD5E1"/>
            </a:solidFill>
          </a:ln>
        </p:spPr>
      </p:sp>
      <p:pic>
        <p:nvPicPr>
          <p:cNvPr id="11" name="Picture 11" descr="09_cleaning_before_after_ph.png"/>
          <p:cNvPicPr>
            <a:picLocks noGrp="1" noChangeAspect="1"/>
          </p:cNvPicPr>
          <p:nvPr/>
        </p:nvPicPr>
        <p:blipFill>
          <a:blip r:embed="rId3"/>
          <a:stretch>
            <a:fillRect/>
          </a:stretch>
        </p:blipFill>
        <p:spPr bwMode="auto">
          <a:xfrm>
            <a:off x="4892040" y="1420978"/>
            <a:ext cx="3931920" cy="2516429"/>
          </a:xfrm>
          <a:prstGeom prst="rect">
            <a:avLst/>
          </a:prstGeom>
          <a:noFill/>
        </p:spPr>
      </p:pic>
      <p:sp>
        <p:nvSpPr>
          <p:cNvPr id="12" name="TextBox 12"/>
          <p:cNvSpPr txBox="1"/>
          <p:nvPr/>
        </p:nvSpPr>
        <p:spPr>
          <a:xfrm>
            <a:off x="4892040" y="3973982"/>
            <a:ext cx="3931920" cy="201168"/>
          </a:xfrm>
          <a:prstGeom prst="rect">
            <a:avLst/>
          </a:prstGeom>
          <a:noFill/>
          <a:ln>
            <a:noFill/>
          </a:ln>
        </p:spPr>
        <p:txBody>
          <a:bodyPr wrap="square" lIns="18288" tIns="9144" rIns="18288" bIns="9144" anchor="t"/>
          <a:lstStyle/>
          <a:p>
            <a:pPr marL="0" indent="0" algn="ctr">
              <a:spcBef>
                <a:spcPts val="0"/>
              </a:spcBef>
              <a:spcAft>
                <a:spcPts val="400"/>
              </a:spcAft>
              <a:buNone/>
            </a:pPr>
            <a:r>
              <a:rPr lang="en-US" sz="850" b="0" i="1" dirty="0">
                <a:solidFill>
                  <a:srgbClr val="475569"/>
                </a:solidFill>
                <a:latin typeface="Calibri"/>
                <a:cs typeface="Calibri"/>
              </a:rPr>
              <a:t>Figure 2: Kaggle pH Before Cleaning (Mean=27.68, Max=748) vs. After Cleaning (Mean=7.23, SD=0.65)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2"/>
          <p:cNvSpPr/>
          <p:nvPr/>
        </p:nvSpPr>
        <p:spPr>
          <a:xfrm>
            <a:off x="0" y="0"/>
            <a:ext cx="9144000" cy="713232"/>
          </a:xfrm>
          <a:prstGeom prst="rect">
            <a:avLst/>
          </a:prstGeom>
          <a:solidFill>
            <a:srgbClr val="1B365D"/>
          </a:solidFill>
          <a:ln>
            <a:noFill/>
          </a:ln>
        </p:spPr>
      </p:sp>
      <p:sp>
        <p:nvSpPr>
          <p:cNvPr id="3" name="Rect 3"/>
          <p:cNvSpPr/>
          <p:nvPr/>
        </p:nvSpPr>
        <p:spPr>
          <a:xfrm>
            <a:off x="0" y="713232"/>
            <a:ext cx="9144000" cy="36576"/>
          </a:xfrm>
          <a:prstGeom prst="rect">
            <a:avLst/>
          </a:prstGeom>
          <a:solidFill>
            <a:srgbClr val="007A78"/>
          </a:solidFill>
          <a:ln>
            <a:noFill/>
          </a:ln>
        </p:spPr>
      </p:sp>
      <p:sp>
        <p:nvSpPr>
          <p:cNvPr id="4" name="TextBox 4"/>
          <p:cNvSpPr txBox="1"/>
          <p:nvPr/>
        </p:nvSpPr>
        <p:spPr>
          <a:xfrm>
            <a:off x="320040" y="54864"/>
            <a:ext cx="8503920" cy="621792"/>
          </a:xfrm>
          <a:prstGeom prst="rect">
            <a:avLst/>
          </a:prstGeom>
          <a:noFill/>
          <a:ln>
            <a:noFill/>
          </a:ln>
        </p:spPr>
        <p:txBody>
          <a:bodyPr wrap="square" lIns="18288" tIns="18288" rIns="18288" bIns="18288" anchor="t"/>
          <a:lstStyle/>
          <a:p>
            <a:pPr marL="0" indent="0" algn="l">
              <a:spcBef>
                <a:spcPts val="0"/>
              </a:spcBef>
              <a:spcAft>
                <a:spcPts val="100"/>
              </a:spcAft>
              <a:buNone/>
            </a:pPr>
            <a:r>
              <a:rPr lang="en-US" sz="850" b="1" i="0" dirty="0">
                <a:solidFill>
                  <a:srgbClr val="7FD4D2"/>
                </a:solidFill>
                <a:latin typeface="Calibri"/>
                <a:cs typeface="Calibri"/>
              </a:rPr>
              <a:t>SECTION 5  |  EXPLORATORY DATA ANALYSIS</a:t>
            </a:r>
          </a:p>
          <a:p>
            <a:pPr marL="0" indent="0" algn="l">
              <a:spcBef>
                <a:spcPts val="0"/>
              </a:spcBef>
              <a:spcAft>
                <a:spcPts val="100"/>
              </a:spcAft>
              <a:buNone/>
            </a:pPr>
            <a:r>
              <a:rPr lang="en-US" sz="1750" b="1" i="0" dirty="0">
                <a:solidFill>
                  <a:srgbClr val="FFFFFF"/>
                </a:solidFill>
                <a:latin typeface="Calibri"/>
                <a:cs typeface="Calibri"/>
              </a:rPr>
              <a:t>Univariate Distributions of Core Water-Quality Parameters</a:t>
            </a:r>
          </a:p>
          <a:p>
            <a:pPr marL="0" indent="0" algn="l">
              <a:spcBef>
                <a:spcPts val="0"/>
              </a:spcBef>
              <a:spcAft>
                <a:spcPts val="0"/>
              </a:spcAft>
              <a:buNone/>
            </a:pPr>
            <a:r>
              <a:rPr lang="en-US" sz="950" b="0" i="1" dirty="0">
                <a:solidFill>
                  <a:srgbClr val="DCE6F1"/>
                </a:solidFill>
                <a:latin typeface="Calibri"/>
                <a:cs typeface="Calibri"/>
              </a:rPr>
              <a:t>Parametric (Mean, SD) and non-parametric (Median, IQR) statistics across 109,422 CPCB records</a:t>
            </a:r>
          </a:p>
        </p:txBody>
      </p:sp>
      <p:sp>
        <p:nvSpPr>
          <p:cNvPr id="5" name="Rect 5"/>
          <p:cNvSpPr/>
          <p:nvPr/>
        </p:nvSpPr>
        <p:spPr>
          <a:xfrm>
            <a:off x="0" y="4864608"/>
            <a:ext cx="9144000" cy="278892"/>
          </a:xfrm>
          <a:prstGeom prst="rect">
            <a:avLst/>
          </a:prstGeom>
          <a:solidFill>
            <a:srgbClr val="EEF2F6"/>
          </a:solidFill>
          <a:ln>
            <a:noFill/>
          </a:ln>
        </p:spPr>
      </p:sp>
      <p:sp>
        <p:nvSpPr>
          <p:cNvPr id="6" name="TextBox 6"/>
          <p:cNvSpPr txBox="1"/>
          <p:nvPr/>
        </p:nvSpPr>
        <p:spPr>
          <a:xfrm>
            <a:off x="320040" y="4882896"/>
            <a:ext cx="6858000" cy="228600"/>
          </a:xfrm>
          <a:prstGeom prst="rect">
            <a:avLst/>
          </a:prstGeom>
          <a:noFill/>
          <a:ln>
            <a:noFill/>
          </a:ln>
        </p:spPr>
        <p:txBody>
          <a:bodyPr wrap="square" lIns="0" tIns="18288" rIns="0" bIns="0" anchor="t"/>
          <a:lstStyle/>
          <a:p>
            <a:pPr marL="0" indent="0" algn="l">
              <a:spcBef>
                <a:spcPts val="0"/>
              </a:spcBef>
              <a:spcAft>
                <a:spcPts val="400"/>
              </a:spcAft>
              <a:buNone/>
            </a:pPr>
            <a:r>
              <a:rPr lang="en-US" sz="850" b="0" i="0" dirty="0">
                <a:solidFill>
                  <a:srgbClr val="475569"/>
                </a:solidFill>
                <a:latin typeface="Calibri"/>
                <a:cs typeface="Calibri"/>
              </a:rPr>
              <a:t>Emmanuel Jobin (2026EMAI20054)  |  DSC 513: Introduction to Data Science  |  IIIT Kottayam</a:t>
            </a:r>
          </a:p>
        </p:txBody>
      </p:sp>
      <p:sp>
        <p:nvSpPr>
          <p:cNvPr id="7" name="TextBox 7"/>
          <p:cNvSpPr txBox="1"/>
          <p:nvPr/>
        </p:nvSpPr>
        <p:spPr>
          <a:xfrm>
            <a:off x="7315200" y="4882896"/>
            <a:ext cx="1508760" cy="228600"/>
          </a:xfrm>
          <a:prstGeom prst="rect">
            <a:avLst/>
          </a:prstGeom>
          <a:noFill/>
          <a:ln>
            <a:noFill/>
          </a:ln>
        </p:spPr>
        <p:txBody>
          <a:bodyPr wrap="square" lIns="0" tIns="18288" rIns="0" bIns="0" anchor="t"/>
          <a:lstStyle/>
          <a:p>
            <a:pPr marL="0" indent="0" algn="r">
              <a:spcBef>
                <a:spcPts val="0"/>
              </a:spcBef>
              <a:spcAft>
                <a:spcPts val="400"/>
              </a:spcAft>
              <a:buNone/>
            </a:pPr>
            <a:r>
              <a:rPr lang="en-US" sz="850" b="1" i="0" dirty="0">
                <a:solidFill>
                  <a:srgbClr val="1B365D"/>
                </a:solidFill>
                <a:latin typeface="Calibri"/>
                <a:cs typeface="Calibri"/>
              </a:rPr>
              <a:t>Slide 9 of 18</a:t>
            </a:r>
          </a:p>
        </p:txBody>
      </p:sp>
      <p:graphicFrame>
        <p:nvGraphicFramePr>
          <p:cNvPr id="8" name="Table 8"/>
          <p:cNvGraphicFramePr>
            <a:graphicFrameLocks noGrp="1"/>
          </p:cNvGraphicFramePr>
          <p:nvPr/>
        </p:nvGraphicFramePr>
        <p:xfrm>
          <a:off x="320040" y="868680"/>
          <a:ext cx="4343400" cy="2148840"/>
        </p:xfrm>
        <a:graphic>
          <a:graphicData uri="http://schemas.openxmlformats.org/drawingml/2006/table">
            <a:tbl>
              <a:tblPr firstRow="1" bandRow="1"/>
              <a:tblGrid>
                <a:gridCol w="1172718"/>
                <a:gridCol w="564642"/>
                <a:gridCol w="477774"/>
                <a:gridCol w="564642"/>
                <a:gridCol w="477774"/>
                <a:gridCol w="434340"/>
                <a:gridCol w="651510"/>
              </a:tblGrid>
              <a:tr h="306977">
                <a:tc>
                  <a:txBody>
                    <a:bodyPr lIns="55000" rIns="55000" tIns="32000" bIns="32000" anchor="ctr"/>
                    <a:lstStyle/>
                    <a:p>
                      <a:pPr algn="l">
                        <a:buNone/>
                      </a:pPr>
                      <a:r>
                        <a:rPr lang="en-US" sz="850" b="1" dirty="0">
                          <a:solidFill>
                            <a:srgbClr val="FFFFFF"/>
                          </a:solidFill>
                          <a:latin typeface="Calibri"/>
                        </a:rPr>
                        <a:t>Parameter (Dataset)</a:t>
                      </a:r>
                    </a:p>
                  </a:txBody>
                  <a:tcPr>
                    <a:lnL w="6350">
                      <a:solidFill>
                        <a:srgbClr val="CBD5E1"/>
                      </a:solidFill>
                    </a:lnL>
                    <a:lnR w="6350">
                      <a:solidFill>
                        <a:srgbClr val="CBD5E1"/>
                      </a:solidFill>
                    </a:lnR>
                    <a:lnT w="6350">
                      <a:solidFill>
                        <a:srgbClr val="CBD5E1"/>
                      </a:solidFill>
                    </a:lnT>
                    <a:lnB w="6350">
                      <a:solidFill>
                        <a:srgbClr val="CBD5E1"/>
                      </a:solidFill>
                    </a:lnB>
                    <a:solidFill>
                      <a:srgbClr val="1B365D"/>
                    </a:solidFill>
                  </a:tcPr>
                </a:tc>
                <a:tc>
                  <a:txBody>
                    <a:bodyPr lIns="55000" rIns="55000" tIns="32000" bIns="32000" anchor="ctr"/>
                    <a:lstStyle/>
                    <a:p>
                      <a:pPr algn="ctr">
                        <a:buNone/>
                      </a:pPr>
                      <a:r>
                        <a:rPr lang="en-US" sz="850" b="1" dirty="0">
                          <a:solidFill>
                            <a:srgbClr val="FFFFFF"/>
                          </a:solidFill>
                          <a:latin typeface="Calibri"/>
                        </a:rPr>
                        <a:t>Valid N</a:t>
                      </a:r>
                    </a:p>
                  </a:txBody>
                  <a:tcPr>
                    <a:lnL w="6350">
                      <a:solidFill>
                        <a:srgbClr val="CBD5E1"/>
                      </a:solidFill>
                    </a:lnL>
                    <a:lnR w="6350">
                      <a:solidFill>
                        <a:srgbClr val="CBD5E1"/>
                      </a:solidFill>
                    </a:lnR>
                    <a:lnT w="6350">
                      <a:solidFill>
                        <a:srgbClr val="CBD5E1"/>
                      </a:solidFill>
                    </a:lnT>
                    <a:lnB w="6350">
                      <a:solidFill>
                        <a:srgbClr val="CBD5E1"/>
                      </a:solidFill>
                    </a:lnB>
                    <a:solidFill>
                      <a:srgbClr val="1B365D"/>
                    </a:solidFill>
                  </a:tcPr>
                </a:tc>
                <a:tc>
                  <a:txBody>
                    <a:bodyPr lIns="55000" rIns="55000" tIns="32000" bIns="32000" anchor="ctr"/>
                    <a:lstStyle/>
                    <a:p>
                      <a:pPr algn="ctr">
                        <a:buNone/>
                      </a:pPr>
                      <a:r>
                        <a:rPr lang="en-US" sz="850" b="1" dirty="0">
                          <a:solidFill>
                            <a:srgbClr val="FFFFFF"/>
                          </a:solidFill>
                          <a:latin typeface="Calibri"/>
                        </a:rPr>
                        <a:t>Mean</a:t>
                      </a:r>
                    </a:p>
                  </a:txBody>
                  <a:tcPr>
                    <a:lnL w="6350">
                      <a:solidFill>
                        <a:srgbClr val="CBD5E1"/>
                      </a:solidFill>
                    </a:lnL>
                    <a:lnR w="6350">
                      <a:solidFill>
                        <a:srgbClr val="CBD5E1"/>
                      </a:solidFill>
                    </a:lnR>
                    <a:lnT w="6350">
                      <a:solidFill>
                        <a:srgbClr val="CBD5E1"/>
                      </a:solidFill>
                    </a:lnT>
                    <a:lnB w="6350">
                      <a:solidFill>
                        <a:srgbClr val="CBD5E1"/>
                      </a:solidFill>
                    </a:lnB>
                    <a:solidFill>
                      <a:srgbClr val="1B365D"/>
                    </a:solidFill>
                  </a:tcPr>
                </a:tc>
                <a:tc>
                  <a:txBody>
                    <a:bodyPr lIns="55000" rIns="55000" tIns="32000" bIns="32000" anchor="ctr"/>
                    <a:lstStyle/>
                    <a:p>
                      <a:pPr algn="ctr">
                        <a:buNone/>
                      </a:pPr>
                      <a:r>
                        <a:rPr lang="en-US" sz="850" b="1" dirty="0">
                          <a:solidFill>
                            <a:srgbClr val="FFFFFF"/>
                          </a:solidFill>
                          <a:latin typeface="Calibri"/>
                        </a:rPr>
                        <a:t>SD</a:t>
                      </a:r>
                    </a:p>
                  </a:txBody>
                  <a:tcPr>
                    <a:lnL w="6350">
                      <a:solidFill>
                        <a:srgbClr val="CBD5E1"/>
                      </a:solidFill>
                    </a:lnL>
                    <a:lnR w="6350">
                      <a:solidFill>
                        <a:srgbClr val="CBD5E1"/>
                      </a:solidFill>
                    </a:lnR>
                    <a:lnT w="6350">
                      <a:solidFill>
                        <a:srgbClr val="CBD5E1"/>
                      </a:solidFill>
                    </a:lnT>
                    <a:lnB w="6350">
                      <a:solidFill>
                        <a:srgbClr val="CBD5E1"/>
                      </a:solidFill>
                    </a:lnB>
                    <a:solidFill>
                      <a:srgbClr val="1B365D"/>
                    </a:solidFill>
                  </a:tcPr>
                </a:tc>
                <a:tc>
                  <a:txBody>
                    <a:bodyPr lIns="55000" rIns="55000" tIns="32000" bIns="32000" anchor="ctr"/>
                    <a:lstStyle/>
                    <a:p>
                      <a:pPr algn="ctr">
                        <a:buNone/>
                      </a:pPr>
                      <a:r>
                        <a:rPr lang="en-US" sz="850" b="1" dirty="0">
                          <a:solidFill>
                            <a:srgbClr val="FFFFFF"/>
                          </a:solidFill>
                          <a:latin typeface="Calibri"/>
                        </a:rPr>
                        <a:t>Median</a:t>
                      </a:r>
                    </a:p>
                  </a:txBody>
                  <a:tcPr>
                    <a:lnL w="6350">
                      <a:solidFill>
                        <a:srgbClr val="CBD5E1"/>
                      </a:solidFill>
                    </a:lnL>
                    <a:lnR w="6350">
                      <a:solidFill>
                        <a:srgbClr val="CBD5E1"/>
                      </a:solidFill>
                    </a:lnR>
                    <a:lnT w="6350">
                      <a:solidFill>
                        <a:srgbClr val="CBD5E1"/>
                      </a:solidFill>
                    </a:lnT>
                    <a:lnB w="6350">
                      <a:solidFill>
                        <a:srgbClr val="CBD5E1"/>
                      </a:solidFill>
                    </a:lnB>
                    <a:solidFill>
                      <a:srgbClr val="1B365D"/>
                    </a:solidFill>
                  </a:tcPr>
                </a:tc>
                <a:tc>
                  <a:txBody>
                    <a:bodyPr lIns="55000" rIns="55000" tIns="32000" bIns="32000" anchor="ctr"/>
                    <a:lstStyle/>
                    <a:p>
                      <a:pPr algn="ctr">
                        <a:buNone/>
                      </a:pPr>
                      <a:r>
                        <a:rPr lang="en-US" sz="850" b="1" dirty="0">
                          <a:solidFill>
                            <a:srgbClr val="FFFFFF"/>
                          </a:solidFill>
                          <a:latin typeface="Calibri"/>
                        </a:rPr>
                        <a:t>IQR</a:t>
                      </a:r>
                    </a:p>
                  </a:txBody>
                  <a:tcPr>
                    <a:lnL w="6350">
                      <a:solidFill>
                        <a:srgbClr val="CBD5E1"/>
                      </a:solidFill>
                    </a:lnL>
                    <a:lnR w="6350">
                      <a:solidFill>
                        <a:srgbClr val="CBD5E1"/>
                      </a:solidFill>
                    </a:lnR>
                    <a:lnT w="6350">
                      <a:solidFill>
                        <a:srgbClr val="CBD5E1"/>
                      </a:solidFill>
                    </a:lnT>
                    <a:lnB w="6350">
                      <a:solidFill>
                        <a:srgbClr val="CBD5E1"/>
                      </a:solidFill>
                    </a:lnB>
                    <a:solidFill>
                      <a:srgbClr val="1B365D"/>
                    </a:solidFill>
                  </a:tcPr>
                </a:tc>
                <a:tc>
                  <a:txBody>
                    <a:bodyPr lIns="55000" rIns="55000" tIns="32000" bIns="32000" anchor="ctr"/>
                    <a:lstStyle/>
                    <a:p>
                      <a:pPr algn="ctr">
                        <a:buNone/>
                      </a:pPr>
                      <a:r>
                        <a:rPr lang="en-US" sz="850" b="1" dirty="0">
                          <a:solidFill>
                            <a:srgbClr val="FFFFFF"/>
                          </a:solidFill>
                          <a:latin typeface="Calibri"/>
                        </a:rPr>
                        <a:t>Min–Max</a:t>
                      </a:r>
                    </a:p>
                  </a:txBody>
                  <a:tcPr>
                    <a:lnL w="6350">
                      <a:solidFill>
                        <a:srgbClr val="CBD5E1"/>
                      </a:solidFill>
                    </a:lnL>
                    <a:lnR w="6350">
                      <a:solidFill>
                        <a:srgbClr val="CBD5E1"/>
                      </a:solidFill>
                    </a:lnR>
                    <a:lnT w="6350">
                      <a:solidFill>
                        <a:srgbClr val="CBD5E1"/>
                      </a:solidFill>
                    </a:lnT>
                    <a:lnB w="6350">
                      <a:solidFill>
                        <a:srgbClr val="CBD5E1"/>
                      </a:solidFill>
                    </a:lnB>
                    <a:solidFill>
                      <a:srgbClr val="1B365D"/>
                    </a:solidFill>
                  </a:tcPr>
                </a:tc>
              </a:tr>
              <a:tr h="306977">
                <a:tc>
                  <a:txBody>
                    <a:bodyPr lIns="55000" rIns="55000" tIns="32000" bIns="32000" anchor="ctr"/>
                    <a:lstStyle/>
                    <a:p>
                      <a:pPr algn="l">
                        <a:buNone/>
                      </a:pPr>
                      <a:r>
                        <a:rPr lang="en-US" sz="800" b="1" dirty="0">
                          <a:solidFill>
                            <a:srgbClr val="1E293B"/>
                          </a:solidFill>
                          <a:latin typeface="Calibri"/>
                        </a:rPr>
                        <a:t>DO (mg/L) [CPCB]</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ctr">
                        <a:buNone/>
                      </a:pPr>
                      <a:r>
                        <a:rPr lang="en-US" sz="800" b="0" dirty="0">
                          <a:solidFill>
                            <a:srgbClr val="1E293B"/>
                          </a:solidFill>
                          <a:latin typeface="Calibri"/>
                        </a:rPr>
                        <a:t>96,978</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ctr">
                        <a:buNone/>
                      </a:pPr>
                      <a:r>
                        <a:rPr lang="en-US" sz="800" b="0" dirty="0">
                          <a:solidFill>
                            <a:srgbClr val="1E293B"/>
                          </a:solidFill>
                          <a:latin typeface="Calibri"/>
                        </a:rPr>
                        <a:t>6.54</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ctr">
                        <a:buNone/>
                      </a:pPr>
                      <a:r>
                        <a:rPr lang="en-US" sz="800" b="0" dirty="0">
                          <a:solidFill>
                            <a:srgbClr val="1E293B"/>
                          </a:solidFill>
                          <a:latin typeface="Calibri"/>
                        </a:rPr>
                        <a:t>1.87</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ctr">
                        <a:buNone/>
                      </a:pPr>
                      <a:r>
                        <a:rPr lang="en-US" sz="800" b="0" dirty="0">
                          <a:solidFill>
                            <a:srgbClr val="1E293B"/>
                          </a:solidFill>
                          <a:latin typeface="Calibri"/>
                        </a:rPr>
                        <a:t>6.80</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ctr">
                        <a:buNone/>
                      </a:pPr>
                      <a:r>
                        <a:rPr lang="en-US" sz="800" b="0" dirty="0">
                          <a:solidFill>
                            <a:srgbClr val="1E293B"/>
                          </a:solidFill>
                          <a:latin typeface="Calibri"/>
                        </a:rPr>
                        <a:t>1.90</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ctr">
                        <a:buNone/>
                      </a:pPr>
                      <a:r>
                        <a:rPr lang="en-US" sz="800" b="0" dirty="0">
                          <a:solidFill>
                            <a:srgbClr val="1E293B"/>
                          </a:solidFill>
                          <a:latin typeface="Calibri"/>
                        </a:rPr>
                        <a:t>0.00–25.0</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306977">
                <a:tc>
                  <a:txBody>
                    <a:bodyPr lIns="55000" rIns="55000" tIns="32000" bIns="32000" anchor="ctr"/>
                    <a:lstStyle/>
                    <a:p>
                      <a:pPr algn="l">
                        <a:buNone/>
                      </a:pPr>
                      <a:r>
                        <a:rPr lang="en-US" sz="800" b="1" dirty="0">
                          <a:solidFill>
                            <a:srgbClr val="1E293B"/>
                          </a:solidFill>
                          <a:latin typeface="Calibri"/>
                        </a:rPr>
                        <a:t>BOD (mg/L) [CPCB]</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ctr">
                        <a:buNone/>
                      </a:pPr>
                      <a:r>
                        <a:rPr lang="en-US" sz="800" b="0" dirty="0">
                          <a:solidFill>
                            <a:srgbClr val="1E293B"/>
                          </a:solidFill>
                          <a:latin typeface="Calibri"/>
                        </a:rPr>
                        <a:t>84,272</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ctr">
                        <a:buNone/>
                      </a:pPr>
                      <a:r>
                        <a:rPr lang="en-US" sz="800" b="0" dirty="0">
                          <a:solidFill>
                            <a:srgbClr val="1E293B"/>
                          </a:solidFill>
                          <a:latin typeface="Calibri"/>
                        </a:rPr>
                        <a:t>5.76</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ctr">
                        <a:buNone/>
                      </a:pPr>
                      <a:r>
                        <a:rPr lang="en-US" sz="800" b="0" dirty="0">
                          <a:solidFill>
                            <a:srgbClr val="1E293B"/>
                          </a:solidFill>
                          <a:latin typeface="Calibri"/>
                        </a:rPr>
                        <a:t>16.26</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ctr">
                        <a:buNone/>
                      </a:pPr>
                      <a:r>
                        <a:rPr lang="en-US" sz="800" b="0" dirty="0">
                          <a:solidFill>
                            <a:srgbClr val="1E293B"/>
                          </a:solidFill>
                          <a:latin typeface="Calibri"/>
                        </a:rPr>
                        <a:t>2.30</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ctr">
                        <a:buNone/>
                      </a:pPr>
                      <a:r>
                        <a:rPr lang="en-US" sz="800" b="0" dirty="0">
                          <a:solidFill>
                            <a:srgbClr val="1E293B"/>
                          </a:solidFill>
                          <a:latin typeface="Calibri"/>
                        </a:rPr>
                        <a:t>2.40</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ctr">
                        <a:buNone/>
                      </a:pPr>
                      <a:r>
                        <a:rPr lang="en-US" sz="800" b="0" dirty="0">
                          <a:solidFill>
                            <a:srgbClr val="1E293B"/>
                          </a:solidFill>
                          <a:latin typeface="Calibri"/>
                        </a:rPr>
                        <a:t>0.00–1315</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r>
              <a:tr h="306977">
                <a:tc>
                  <a:txBody>
                    <a:bodyPr lIns="55000" rIns="55000" tIns="32000" bIns="32000" anchor="ctr"/>
                    <a:lstStyle/>
                    <a:p>
                      <a:pPr algn="l">
                        <a:buNone/>
                      </a:pPr>
                      <a:r>
                        <a:rPr lang="en-US" sz="800" b="1" dirty="0">
                          <a:solidFill>
                            <a:srgbClr val="1E293B"/>
                          </a:solidFill>
                          <a:latin typeface="Calibri"/>
                        </a:rPr>
                        <a:t>pH [CPCB]</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ctr">
                        <a:buNone/>
                      </a:pPr>
                      <a:r>
                        <a:rPr lang="en-US" sz="800" b="0" dirty="0">
                          <a:solidFill>
                            <a:srgbClr val="1E293B"/>
                          </a:solidFill>
                          <a:latin typeface="Calibri"/>
                        </a:rPr>
                        <a:t>107,342</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ctr">
                        <a:buNone/>
                      </a:pPr>
                      <a:r>
                        <a:rPr lang="en-US" sz="800" b="0" dirty="0">
                          <a:solidFill>
                            <a:srgbClr val="1E293B"/>
                          </a:solidFill>
                          <a:latin typeface="Calibri"/>
                        </a:rPr>
                        <a:t>7.53</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ctr">
                        <a:buNone/>
                      </a:pPr>
                      <a:r>
                        <a:rPr lang="en-US" sz="800" b="0" dirty="0">
                          <a:solidFill>
                            <a:srgbClr val="1E293B"/>
                          </a:solidFill>
                          <a:latin typeface="Calibri"/>
                        </a:rPr>
                        <a:t>0.61</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ctr">
                        <a:buNone/>
                      </a:pPr>
                      <a:r>
                        <a:rPr lang="en-US" sz="800" b="0" dirty="0">
                          <a:solidFill>
                            <a:srgbClr val="1E293B"/>
                          </a:solidFill>
                          <a:latin typeface="Calibri"/>
                        </a:rPr>
                        <a:t>7.58</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ctr">
                        <a:buNone/>
                      </a:pPr>
                      <a:r>
                        <a:rPr lang="en-US" sz="800" b="0" dirty="0">
                          <a:solidFill>
                            <a:srgbClr val="1E293B"/>
                          </a:solidFill>
                          <a:latin typeface="Calibri"/>
                        </a:rPr>
                        <a:t>0.70</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ctr">
                        <a:buNone/>
                      </a:pPr>
                      <a:r>
                        <a:rPr lang="en-US" sz="800" b="0" dirty="0">
                          <a:solidFill>
                            <a:srgbClr val="1E293B"/>
                          </a:solidFill>
                          <a:latin typeface="Calibri"/>
                        </a:rPr>
                        <a:t>2.00–14.0</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306977">
                <a:tc>
                  <a:txBody>
                    <a:bodyPr lIns="55000" rIns="55000" tIns="32000" bIns="32000" anchor="ctr"/>
                    <a:lstStyle/>
                    <a:p>
                      <a:pPr algn="l">
                        <a:buNone/>
                      </a:pPr>
                      <a:r>
                        <a:rPr lang="en-US" sz="800" b="1" dirty="0">
                          <a:solidFill>
                            <a:srgbClr val="1E293B"/>
                          </a:solidFill>
                          <a:latin typeface="Calibri"/>
                        </a:rPr>
                        <a:t>EC (uS/cm) [CPCB]</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ctr">
                        <a:buNone/>
                      </a:pPr>
                      <a:r>
                        <a:rPr lang="en-US" sz="800" b="0" dirty="0">
                          <a:solidFill>
                            <a:srgbClr val="1E293B"/>
                          </a:solidFill>
                          <a:latin typeface="Calibri"/>
                        </a:rPr>
                        <a:t>48,160</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ctr">
                        <a:buNone/>
                      </a:pPr>
                      <a:r>
                        <a:rPr lang="en-US" sz="800" b="0" dirty="0">
                          <a:solidFill>
                            <a:srgbClr val="1E293B"/>
                          </a:solidFill>
                          <a:latin typeface="Calibri"/>
                        </a:rPr>
                        <a:t>3,474.5</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ctr">
                        <a:buNone/>
                      </a:pPr>
                      <a:r>
                        <a:rPr lang="en-US" sz="800" b="0" dirty="0">
                          <a:solidFill>
                            <a:srgbClr val="1E293B"/>
                          </a:solidFill>
                          <a:latin typeface="Calibri"/>
                        </a:rPr>
                        <a:t>171,821</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ctr">
                        <a:buNone/>
                      </a:pPr>
                      <a:r>
                        <a:rPr lang="en-US" sz="800" b="0" dirty="0">
                          <a:solidFill>
                            <a:srgbClr val="1E293B"/>
                          </a:solidFill>
                          <a:latin typeface="Calibri"/>
                        </a:rPr>
                        <a:t>395.0</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ctr">
                        <a:buNone/>
                      </a:pPr>
                      <a:r>
                        <a:rPr lang="en-US" sz="800" b="0" dirty="0">
                          <a:solidFill>
                            <a:srgbClr val="1E293B"/>
                          </a:solidFill>
                          <a:latin typeface="Calibri"/>
                        </a:rPr>
                        <a:t>749.0</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ctr">
                        <a:buNone/>
                      </a:pPr>
                      <a:r>
                        <a:rPr lang="en-US" sz="800" b="0" dirty="0">
                          <a:solidFill>
                            <a:srgbClr val="1E293B"/>
                          </a:solidFill>
                          <a:latin typeface="Calibri"/>
                        </a:rPr>
                        <a:t>1.0–2.54e7</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r>
              <a:tr h="306977">
                <a:tc>
                  <a:txBody>
                    <a:bodyPr lIns="55000" rIns="55000" tIns="32000" bIns="32000" anchor="ctr"/>
                    <a:lstStyle/>
                    <a:p>
                      <a:pPr algn="l">
                        <a:buNone/>
                      </a:pPr>
                      <a:r>
                        <a:rPr lang="en-US" sz="800" b="1" dirty="0">
                          <a:solidFill>
                            <a:srgbClr val="1E293B"/>
                          </a:solidFill>
                          <a:latin typeface="Calibri"/>
                        </a:rPr>
                        <a:t>DO (mg/L) [Kaggle]</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ctr">
                        <a:buNone/>
                      </a:pPr>
                      <a:r>
                        <a:rPr lang="en-US" sz="800" b="0" dirty="0">
                          <a:solidFill>
                            <a:srgbClr val="1E293B"/>
                          </a:solidFill>
                          <a:latin typeface="Calibri"/>
                        </a:rPr>
                        <a:t>1,960</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ctr">
                        <a:buNone/>
                      </a:pPr>
                      <a:r>
                        <a:rPr lang="en-US" sz="800" b="0" dirty="0">
                          <a:solidFill>
                            <a:srgbClr val="1E293B"/>
                          </a:solidFill>
                          <a:latin typeface="Calibri"/>
                        </a:rPr>
                        <a:t>6.39</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ctr">
                        <a:buNone/>
                      </a:pPr>
                      <a:r>
                        <a:rPr lang="en-US" sz="800" b="0" dirty="0">
                          <a:solidFill>
                            <a:srgbClr val="1E293B"/>
                          </a:solidFill>
                          <a:latin typeface="Calibri"/>
                        </a:rPr>
                        <a:t>1.33</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ctr">
                        <a:buNone/>
                      </a:pPr>
                      <a:r>
                        <a:rPr lang="en-US" sz="800" b="0" dirty="0">
                          <a:solidFill>
                            <a:srgbClr val="1E293B"/>
                          </a:solidFill>
                          <a:latin typeface="Calibri"/>
                        </a:rPr>
                        <a:t>6.70</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ctr">
                        <a:buNone/>
                      </a:pPr>
                      <a:r>
                        <a:rPr lang="en-US" sz="800" b="0" dirty="0">
                          <a:solidFill>
                            <a:srgbClr val="1E293B"/>
                          </a:solidFill>
                          <a:latin typeface="Calibri"/>
                        </a:rPr>
                        <a:t>1.30</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ctr">
                        <a:buNone/>
                      </a:pPr>
                      <a:r>
                        <a:rPr lang="en-US" sz="800" b="0" dirty="0">
                          <a:solidFill>
                            <a:srgbClr val="1E293B"/>
                          </a:solidFill>
                          <a:latin typeface="Calibri"/>
                        </a:rPr>
                        <a:t>0.00–11.4</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306977">
                <a:tc>
                  <a:txBody>
                    <a:bodyPr lIns="55000" rIns="55000" tIns="32000" bIns="32000" anchor="ctr"/>
                    <a:lstStyle/>
                    <a:p>
                      <a:pPr algn="l">
                        <a:buNone/>
                      </a:pPr>
                      <a:r>
                        <a:rPr lang="en-US" sz="800" b="1" dirty="0">
                          <a:solidFill>
                            <a:srgbClr val="1E293B"/>
                          </a:solidFill>
                          <a:latin typeface="Calibri"/>
                        </a:rPr>
                        <a:t>BOD (mg/L) [Kaggle]</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ctr">
                        <a:buNone/>
                      </a:pPr>
                      <a:r>
                        <a:rPr lang="en-US" sz="800" b="0" dirty="0">
                          <a:solidFill>
                            <a:srgbClr val="1E293B"/>
                          </a:solidFill>
                          <a:latin typeface="Calibri"/>
                        </a:rPr>
                        <a:t>1,948</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ctr">
                        <a:buNone/>
                      </a:pPr>
                      <a:r>
                        <a:rPr lang="en-US" sz="800" b="0" dirty="0">
                          <a:solidFill>
                            <a:srgbClr val="1E293B"/>
                          </a:solidFill>
                          <a:latin typeface="Calibri"/>
                        </a:rPr>
                        <a:t>6.94</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ctr">
                        <a:buNone/>
                      </a:pPr>
                      <a:r>
                        <a:rPr lang="en-US" sz="800" b="0" dirty="0">
                          <a:solidFill>
                            <a:srgbClr val="1E293B"/>
                          </a:solidFill>
                          <a:latin typeface="Calibri"/>
                        </a:rPr>
                        <a:t>29.40</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ctr">
                        <a:buNone/>
                      </a:pPr>
                      <a:r>
                        <a:rPr lang="en-US" sz="800" b="0" dirty="0">
                          <a:solidFill>
                            <a:srgbClr val="1E293B"/>
                          </a:solidFill>
                          <a:latin typeface="Calibri"/>
                        </a:rPr>
                        <a:t>1.90</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ctr">
                        <a:buNone/>
                      </a:pPr>
                      <a:r>
                        <a:rPr lang="en-US" sz="800" b="0" dirty="0">
                          <a:solidFill>
                            <a:srgbClr val="1E293B"/>
                          </a:solidFill>
                          <a:latin typeface="Calibri"/>
                        </a:rPr>
                        <a:t>2.40</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ctr">
                        <a:buNone/>
                      </a:pPr>
                      <a:r>
                        <a:rPr lang="en-US" sz="800" b="0" dirty="0">
                          <a:solidFill>
                            <a:srgbClr val="1E293B"/>
                          </a:solidFill>
                          <a:latin typeface="Calibri"/>
                        </a:rPr>
                        <a:t>0.10–534.5</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r>
            </a:tbl>
          </a:graphicData>
        </a:graphic>
      </p:graphicFrame>
      <p:sp>
        <p:nvSpPr>
          <p:cNvPr id="9" name="TextBox 9"/>
          <p:cNvSpPr txBox="1"/>
          <p:nvPr/>
        </p:nvSpPr>
        <p:spPr>
          <a:xfrm>
            <a:off x="320040" y="3127248"/>
            <a:ext cx="4343400" cy="1600200"/>
          </a:xfrm>
          <a:prstGeom prst="roundRect">
            <a:avLst>
              <a:gd name="adj" fmla="val 4000"/>
            </a:avLst>
          </a:prstGeom>
          <a:solidFill>
            <a:srgbClr val="F4F7FA"/>
          </a:solidFill>
          <a:ln w="12700">
            <a:solidFill>
              <a:srgbClr val="CBD5E1"/>
            </a:solidFill>
          </a:ln>
        </p:spPr>
        <p:txBody>
          <a:bodyPr wrap="square" lIns="73152" tIns="54864" rIns="73152" bIns="54864" anchor="t"/>
          <a:lstStyle/>
          <a:p>
            <a:pPr marL="0" indent="0" algn="l">
              <a:spcBef>
                <a:spcPts val="0"/>
              </a:spcBef>
              <a:spcAft>
                <a:spcPts val="400"/>
              </a:spcAft>
              <a:buNone/>
            </a:pPr>
            <a:r>
              <a:rPr lang="en-US" sz="1100" b="1" i="0" dirty="0">
                <a:solidFill>
                  <a:srgbClr val="1B365D"/>
                </a:solidFill>
                <a:latin typeface="Calibri"/>
                <a:cs typeface="Calibri"/>
              </a:rPr>
              <a:t>What the Distributions Reveal</a:t>
            </a:r>
          </a:p>
          <a:p>
            <a:pPr marL="190500" indent="-142875" algn="l">
              <a:spcBef>
                <a:spcPts val="0"/>
              </a:spcBef>
              <a:spcAft>
                <a:spcPts val="300"/>
              </a:spcAft>
              <a:buFont typeface="Arial"/>
              <a:buChar char="•"/>
            </a:pPr>
            <a:r>
              <a:rPr lang="en-US" sz="900" b="0" i="0" dirty="0">
                <a:solidFill>
                  <a:srgbClr val="1E293B"/>
                </a:solidFill>
                <a:latin typeface="Calibri"/>
                <a:cs typeface="Calibri"/>
              </a:rPr>
              <a:t>1. DO &amp; pH are Near-Symmetric: CPCB Dissolved Oxygen has Mean = 6.54 mg/L and Median = 6.80 mg/L (90.8% of records meet CPCB Class C &gt;= 4.0 mg/L). pH is tightly centered at Median = 7.58 (IQR = 0.70).</a:t>
            </a:r>
          </a:p>
          <a:p>
            <a:pPr marL="190500" indent="-142875" algn="l">
              <a:spcBef>
                <a:spcPts val="0"/>
              </a:spcBef>
              <a:spcAft>
                <a:spcPts val="300"/>
              </a:spcAft>
              <a:buFont typeface="Arial"/>
              <a:buChar char="•"/>
            </a:pPr>
            <a:r>
              <a:rPr lang="en-US" sz="900" b="0" i="0" dirty="0">
                <a:solidFill>
                  <a:srgbClr val="1E293B"/>
                </a:solidFill>
                <a:latin typeface="Calibri"/>
                <a:cs typeface="Calibri"/>
              </a:rPr>
              <a:t>2. BOD &amp; EC are Extremely Right-Skewed: CPCB BOD has Median = 2.30 mg/L but Mean = 5.76 mg/L (SD = 16.26, Max = 1,315 mg/L) due to severe urban/industrial sewage outfalls.</a:t>
            </a:r>
          </a:p>
          <a:p>
            <a:pPr marL="190500" indent="-142875" algn="l">
              <a:spcBef>
                <a:spcPts val="0"/>
              </a:spcBef>
              <a:spcAft>
                <a:spcPts val="400"/>
              </a:spcAft>
              <a:buFont typeface="Arial"/>
              <a:buChar char="•"/>
            </a:pPr>
            <a:r>
              <a:rPr lang="en-US" sz="900" b="1" i="0" dirty="0">
                <a:solidFill>
                  <a:srgbClr val="007A78"/>
                </a:solidFill>
                <a:latin typeface="Calibri"/>
                <a:cs typeface="Calibri"/>
              </a:rPr>
              <a:t>3. Why Non-Parametric Tests Are Required: Extreme skewness in BOD and EC violates normality assumptions, justifying Median/IQR and rank-based tests.</a:t>
            </a:r>
          </a:p>
        </p:txBody>
      </p:sp>
      <p:sp>
        <p:nvSpPr>
          <p:cNvPr id="10" name="Rect 10"/>
          <p:cNvSpPr/>
          <p:nvPr/>
        </p:nvSpPr>
        <p:spPr>
          <a:xfrm>
            <a:off x="4773168" y="1310640"/>
            <a:ext cx="4078224" cy="2737104"/>
          </a:xfrm>
          <a:prstGeom prst="rect">
            <a:avLst/>
          </a:prstGeom>
          <a:solidFill>
            <a:srgbClr val="FFFFFF"/>
          </a:solidFill>
          <a:ln w="9525">
            <a:solidFill>
              <a:srgbClr val="CBD5E1"/>
            </a:solidFill>
          </a:ln>
        </p:spPr>
      </p:sp>
      <p:pic>
        <p:nvPicPr>
          <p:cNvPr id="11" name="Picture 11" descr="11_four_parameter_distributions.png"/>
          <p:cNvPicPr>
            <a:picLocks noGrp="1" noChangeAspect="1"/>
          </p:cNvPicPr>
          <p:nvPr/>
        </p:nvPicPr>
        <p:blipFill>
          <a:blip r:embed="rId3"/>
          <a:stretch>
            <a:fillRect/>
          </a:stretch>
        </p:blipFill>
        <p:spPr bwMode="auto">
          <a:xfrm>
            <a:off x="4800600" y="1338072"/>
            <a:ext cx="4023360" cy="2682240"/>
          </a:xfrm>
          <a:prstGeom prst="rect">
            <a:avLst/>
          </a:prstGeom>
          <a:noFill/>
        </p:spPr>
      </p:pic>
      <p:sp>
        <p:nvSpPr>
          <p:cNvPr id="12" name="TextBox 12"/>
          <p:cNvSpPr txBox="1"/>
          <p:nvPr/>
        </p:nvSpPr>
        <p:spPr>
          <a:xfrm>
            <a:off x="4800600" y="4056888"/>
            <a:ext cx="4023360" cy="201168"/>
          </a:xfrm>
          <a:prstGeom prst="rect">
            <a:avLst/>
          </a:prstGeom>
          <a:noFill/>
          <a:ln>
            <a:noFill/>
          </a:ln>
        </p:spPr>
        <p:txBody>
          <a:bodyPr wrap="square" lIns="18288" tIns="9144" rIns="18288" bIns="9144" anchor="t"/>
          <a:lstStyle/>
          <a:p>
            <a:pPr marL="0" indent="0" algn="ctr">
              <a:spcBef>
                <a:spcPts val="0"/>
              </a:spcBef>
              <a:spcAft>
                <a:spcPts val="400"/>
              </a:spcAft>
              <a:buNone/>
            </a:pPr>
            <a:r>
              <a:rPr lang="en-US" sz="850" b="0" i="1" dirty="0">
                <a:solidFill>
                  <a:srgbClr val="475569"/>
                </a:solidFill>
                <a:latin typeface="Calibri"/>
                <a:cs typeface="Calibri"/>
              </a:rPr>
              <a:t>Figure 3: Four-panel distributions of DO, BOD (log10), pH, and EC (log10) with CPCB thresholds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2"/>
          <p:cNvSpPr/>
          <p:nvPr/>
        </p:nvSpPr>
        <p:spPr>
          <a:xfrm>
            <a:off x="0" y="0"/>
            <a:ext cx="9144000" cy="713232"/>
          </a:xfrm>
          <a:prstGeom prst="rect">
            <a:avLst/>
          </a:prstGeom>
          <a:solidFill>
            <a:srgbClr val="1B365D"/>
          </a:solidFill>
          <a:ln>
            <a:noFill/>
          </a:ln>
        </p:spPr>
      </p:sp>
      <p:sp>
        <p:nvSpPr>
          <p:cNvPr id="3" name="Rect 3"/>
          <p:cNvSpPr/>
          <p:nvPr/>
        </p:nvSpPr>
        <p:spPr>
          <a:xfrm>
            <a:off x="0" y="713232"/>
            <a:ext cx="9144000" cy="36576"/>
          </a:xfrm>
          <a:prstGeom prst="rect">
            <a:avLst/>
          </a:prstGeom>
          <a:solidFill>
            <a:srgbClr val="007A78"/>
          </a:solidFill>
          <a:ln>
            <a:noFill/>
          </a:ln>
        </p:spPr>
      </p:sp>
      <p:sp>
        <p:nvSpPr>
          <p:cNvPr id="4" name="TextBox 4"/>
          <p:cNvSpPr txBox="1"/>
          <p:nvPr/>
        </p:nvSpPr>
        <p:spPr>
          <a:xfrm>
            <a:off x="320040" y="54864"/>
            <a:ext cx="8503920" cy="621792"/>
          </a:xfrm>
          <a:prstGeom prst="rect">
            <a:avLst/>
          </a:prstGeom>
          <a:noFill/>
          <a:ln>
            <a:noFill/>
          </a:ln>
        </p:spPr>
        <p:txBody>
          <a:bodyPr wrap="square" lIns="18288" tIns="18288" rIns="18288" bIns="18288" anchor="t"/>
          <a:lstStyle/>
          <a:p>
            <a:pPr marL="0" indent="0" algn="l">
              <a:spcBef>
                <a:spcPts val="0"/>
              </a:spcBef>
              <a:spcAft>
                <a:spcPts val="100"/>
              </a:spcAft>
              <a:buNone/>
            </a:pPr>
            <a:r>
              <a:rPr lang="en-US" sz="850" b="1" i="0" dirty="0">
                <a:solidFill>
                  <a:srgbClr val="7FD4D2"/>
                </a:solidFill>
                <a:latin typeface="Calibri"/>
                <a:cs typeface="Calibri"/>
              </a:rPr>
              <a:t>SECTION 5  |  SPATIAL &amp; TEMPORAL VARIATIONS</a:t>
            </a:r>
          </a:p>
          <a:p>
            <a:pPr marL="0" indent="0" algn="l">
              <a:spcBef>
                <a:spcPts val="0"/>
              </a:spcBef>
              <a:spcAft>
                <a:spcPts val="100"/>
              </a:spcAft>
              <a:buNone/>
            </a:pPr>
            <a:r>
              <a:rPr lang="en-US" sz="1750" b="1" i="0" dirty="0">
                <a:solidFill>
                  <a:srgbClr val="FFFFFF"/>
                </a:solidFill>
                <a:latin typeface="Calibri"/>
                <a:cs typeface="Calibri"/>
              </a:rPr>
              <a:t>Geographic and Seasonal Water-Quality Patterns</a:t>
            </a:r>
          </a:p>
          <a:p>
            <a:pPr marL="0" indent="0" algn="l">
              <a:spcBef>
                <a:spcPts val="0"/>
              </a:spcBef>
              <a:spcAft>
                <a:spcPts val="0"/>
              </a:spcAft>
              <a:buNone/>
            </a:pPr>
            <a:r>
              <a:rPr lang="en-US" sz="950" b="0" i="1" dirty="0">
                <a:solidFill>
                  <a:srgbClr val="DCE6F1"/>
                </a:solidFill>
                <a:latin typeface="Calibri"/>
                <a:cs typeface="Calibri"/>
              </a:rPr>
              <a:t>State-level heterogeneity across 36 States/UTs and hydrological monsoon dilution effects</a:t>
            </a:r>
          </a:p>
        </p:txBody>
      </p:sp>
      <p:sp>
        <p:nvSpPr>
          <p:cNvPr id="5" name="Rect 5"/>
          <p:cNvSpPr/>
          <p:nvPr/>
        </p:nvSpPr>
        <p:spPr>
          <a:xfrm>
            <a:off x="0" y="4864608"/>
            <a:ext cx="9144000" cy="278892"/>
          </a:xfrm>
          <a:prstGeom prst="rect">
            <a:avLst/>
          </a:prstGeom>
          <a:solidFill>
            <a:srgbClr val="EEF2F6"/>
          </a:solidFill>
          <a:ln>
            <a:noFill/>
          </a:ln>
        </p:spPr>
      </p:sp>
      <p:sp>
        <p:nvSpPr>
          <p:cNvPr id="6" name="TextBox 6"/>
          <p:cNvSpPr txBox="1"/>
          <p:nvPr/>
        </p:nvSpPr>
        <p:spPr>
          <a:xfrm>
            <a:off x="320040" y="4882896"/>
            <a:ext cx="6858000" cy="228600"/>
          </a:xfrm>
          <a:prstGeom prst="rect">
            <a:avLst/>
          </a:prstGeom>
          <a:noFill/>
          <a:ln>
            <a:noFill/>
          </a:ln>
        </p:spPr>
        <p:txBody>
          <a:bodyPr wrap="square" lIns="0" tIns="18288" rIns="0" bIns="0" anchor="t"/>
          <a:lstStyle/>
          <a:p>
            <a:pPr marL="0" indent="0" algn="l">
              <a:spcBef>
                <a:spcPts val="0"/>
              </a:spcBef>
              <a:spcAft>
                <a:spcPts val="400"/>
              </a:spcAft>
              <a:buNone/>
            </a:pPr>
            <a:r>
              <a:rPr lang="en-US" sz="850" b="0" i="0" dirty="0">
                <a:solidFill>
                  <a:srgbClr val="475569"/>
                </a:solidFill>
                <a:latin typeface="Calibri"/>
                <a:cs typeface="Calibri"/>
              </a:rPr>
              <a:t>Emmanuel Jobin (2026EMAI20054)  |  DSC 513: Introduction to Data Science  |  IIIT Kottayam</a:t>
            </a:r>
          </a:p>
        </p:txBody>
      </p:sp>
      <p:sp>
        <p:nvSpPr>
          <p:cNvPr id="7" name="TextBox 7"/>
          <p:cNvSpPr txBox="1"/>
          <p:nvPr/>
        </p:nvSpPr>
        <p:spPr>
          <a:xfrm>
            <a:off x="7315200" y="4882896"/>
            <a:ext cx="1508760" cy="228600"/>
          </a:xfrm>
          <a:prstGeom prst="rect">
            <a:avLst/>
          </a:prstGeom>
          <a:noFill/>
          <a:ln>
            <a:noFill/>
          </a:ln>
        </p:spPr>
        <p:txBody>
          <a:bodyPr wrap="square" lIns="0" tIns="18288" rIns="0" bIns="0" anchor="t"/>
          <a:lstStyle/>
          <a:p>
            <a:pPr marL="0" indent="0" algn="r">
              <a:spcBef>
                <a:spcPts val="0"/>
              </a:spcBef>
              <a:spcAft>
                <a:spcPts val="400"/>
              </a:spcAft>
              <a:buNone/>
            </a:pPr>
            <a:r>
              <a:rPr lang="en-US" sz="850" b="1" i="0" dirty="0">
                <a:solidFill>
                  <a:srgbClr val="1B365D"/>
                </a:solidFill>
                <a:latin typeface="Calibri"/>
                <a:cs typeface="Calibri"/>
              </a:rPr>
              <a:t>Slide 10 of 18</a:t>
            </a:r>
          </a:p>
        </p:txBody>
      </p:sp>
      <p:sp>
        <p:nvSpPr>
          <p:cNvPr id="8" name="Rect 8"/>
          <p:cNvSpPr/>
          <p:nvPr/>
        </p:nvSpPr>
        <p:spPr>
          <a:xfrm>
            <a:off x="536753" y="813816"/>
            <a:ext cx="3727094" cy="2350008"/>
          </a:xfrm>
          <a:prstGeom prst="rect">
            <a:avLst/>
          </a:prstGeom>
          <a:solidFill>
            <a:srgbClr val="FFFFFF"/>
          </a:solidFill>
          <a:ln w="9525">
            <a:solidFill>
              <a:srgbClr val="CBD5E1"/>
            </a:solidFill>
          </a:ln>
        </p:spPr>
      </p:sp>
      <p:pic>
        <p:nvPicPr>
          <p:cNvPr id="9" name="Picture 9" descr="04_state_dissolved_oxygen_boxplot.png"/>
          <p:cNvPicPr>
            <a:picLocks noGrp="1" noChangeAspect="1"/>
          </p:cNvPicPr>
          <p:nvPr/>
        </p:nvPicPr>
        <p:blipFill>
          <a:blip r:embed="rId3"/>
          <a:stretch>
            <a:fillRect/>
          </a:stretch>
        </p:blipFill>
        <p:spPr bwMode="auto">
          <a:xfrm>
            <a:off x="564185" y="841248"/>
            <a:ext cx="3672230" cy="2295144"/>
          </a:xfrm>
          <a:prstGeom prst="rect">
            <a:avLst/>
          </a:prstGeom>
          <a:noFill/>
        </p:spPr>
      </p:pic>
      <p:sp>
        <p:nvSpPr>
          <p:cNvPr id="10" name="TextBox 10"/>
          <p:cNvSpPr txBox="1"/>
          <p:nvPr/>
        </p:nvSpPr>
        <p:spPr>
          <a:xfrm>
            <a:off x="320040" y="3172968"/>
            <a:ext cx="4160520" cy="201168"/>
          </a:xfrm>
          <a:prstGeom prst="rect">
            <a:avLst/>
          </a:prstGeom>
          <a:noFill/>
          <a:ln>
            <a:noFill/>
          </a:ln>
        </p:spPr>
        <p:txBody>
          <a:bodyPr wrap="square" lIns="18288" tIns="9144" rIns="18288" bIns="9144" anchor="t"/>
          <a:lstStyle/>
          <a:p>
            <a:pPr marL="0" indent="0" algn="ctr">
              <a:spcBef>
                <a:spcPts val="0"/>
              </a:spcBef>
              <a:spcAft>
                <a:spcPts val="400"/>
              </a:spcAft>
              <a:buNone/>
            </a:pPr>
            <a:r>
              <a:rPr lang="en-US" sz="850" b="0" i="1" dirty="0">
                <a:solidFill>
                  <a:srgbClr val="475569"/>
                </a:solidFill>
                <a:latin typeface="Calibri"/>
                <a:cs typeface="Calibri"/>
              </a:rPr>
              <a:t>Figure 7: Dissolved Oxygen across top 15 monitored states</a:t>
            </a:r>
          </a:p>
        </p:txBody>
      </p:sp>
      <p:sp>
        <p:nvSpPr>
          <p:cNvPr id="11" name="Rect 11"/>
          <p:cNvSpPr/>
          <p:nvPr/>
        </p:nvSpPr>
        <p:spPr>
          <a:xfrm>
            <a:off x="4803648" y="813816"/>
            <a:ext cx="3880104" cy="2350008"/>
          </a:xfrm>
          <a:prstGeom prst="rect">
            <a:avLst/>
          </a:prstGeom>
          <a:solidFill>
            <a:srgbClr val="FFFFFF"/>
          </a:solidFill>
          <a:ln w="9525">
            <a:solidFill>
              <a:srgbClr val="CBD5E1"/>
            </a:solidFill>
          </a:ln>
        </p:spPr>
      </p:sp>
      <p:pic>
        <p:nvPicPr>
          <p:cNvPr id="12" name="Picture 12" descr="05_seasonal_bod_variation.png"/>
          <p:cNvPicPr>
            <a:picLocks noGrp="1" noChangeAspect="1"/>
          </p:cNvPicPr>
          <p:nvPr/>
        </p:nvPicPr>
        <p:blipFill>
          <a:blip r:embed="rId4"/>
          <a:stretch>
            <a:fillRect/>
          </a:stretch>
        </p:blipFill>
        <p:spPr bwMode="auto">
          <a:xfrm>
            <a:off x="4831080" y="841248"/>
            <a:ext cx="3825240" cy="2295144"/>
          </a:xfrm>
          <a:prstGeom prst="rect">
            <a:avLst/>
          </a:prstGeom>
          <a:noFill/>
        </p:spPr>
      </p:pic>
      <p:sp>
        <p:nvSpPr>
          <p:cNvPr id="13" name="TextBox 13"/>
          <p:cNvSpPr txBox="1"/>
          <p:nvPr/>
        </p:nvSpPr>
        <p:spPr>
          <a:xfrm>
            <a:off x="4663440" y="3172968"/>
            <a:ext cx="4160520" cy="201168"/>
          </a:xfrm>
          <a:prstGeom prst="rect">
            <a:avLst/>
          </a:prstGeom>
          <a:noFill/>
          <a:ln>
            <a:noFill/>
          </a:ln>
        </p:spPr>
        <p:txBody>
          <a:bodyPr wrap="square" lIns="18288" tIns="9144" rIns="18288" bIns="9144" anchor="t"/>
          <a:lstStyle/>
          <a:p>
            <a:pPr marL="0" indent="0" algn="ctr">
              <a:spcBef>
                <a:spcPts val="0"/>
              </a:spcBef>
              <a:spcAft>
                <a:spcPts val="400"/>
              </a:spcAft>
              <a:buNone/>
            </a:pPr>
            <a:r>
              <a:rPr lang="en-US" sz="850" b="0" i="1" dirty="0">
                <a:solidFill>
                  <a:srgbClr val="475569"/>
                </a:solidFill>
                <a:latin typeface="Calibri"/>
                <a:cs typeface="Calibri"/>
              </a:rPr>
              <a:t>Figure 8: Seasonal BOD variation (log10 scale) vs. 3.0 mg/L threshold</a:t>
            </a:r>
          </a:p>
        </p:txBody>
      </p:sp>
      <p:sp>
        <p:nvSpPr>
          <p:cNvPr id="14" name="TextBox 14"/>
          <p:cNvSpPr txBox="1"/>
          <p:nvPr/>
        </p:nvSpPr>
        <p:spPr>
          <a:xfrm>
            <a:off x="320040" y="3429000"/>
            <a:ext cx="4160520" cy="1325880"/>
          </a:xfrm>
          <a:prstGeom prst="roundRect">
            <a:avLst>
              <a:gd name="adj" fmla="val 4000"/>
            </a:avLst>
          </a:prstGeom>
          <a:solidFill>
            <a:srgbClr val="F4F7FA"/>
          </a:solidFill>
          <a:ln w="12700">
            <a:solidFill>
              <a:srgbClr val="CBD5E1"/>
            </a:solidFill>
          </a:ln>
        </p:spPr>
        <p:txBody>
          <a:bodyPr wrap="square" lIns="73152" tIns="54864" rIns="73152" bIns="54864" anchor="t"/>
          <a:lstStyle/>
          <a:p>
            <a:pPr marL="0" indent="0" algn="l">
              <a:spcBef>
                <a:spcPts val="0"/>
              </a:spcBef>
              <a:spcAft>
                <a:spcPts val="300"/>
              </a:spcAft>
              <a:buNone/>
            </a:pPr>
            <a:r>
              <a:rPr lang="en-US" sz="1050" b="1" i="0" dirty="0">
                <a:solidFill>
                  <a:srgbClr val="1B365D"/>
                </a:solidFill>
                <a:latin typeface="Calibri"/>
                <a:cs typeface="Calibri"/>
              </a:rPr>
              <a:t>Geographic Findings &amp; Kruskal-Wallis Test</a:t>
            </a:r>
          </a:p>
          <a:p>
            <a:pPr marL="190500" indent="-142875" algn="l">
              <a:spcBef>
                <a:spcPts val="0"/>
              </a:spcBef>
              <a:spcAft>
                <a:spcPts val="200"/>
              </a:spcAft>
              <a:buFont typeface="Arial"/>
              <a:buChar char="•"/>
            </a:pPr>
            <a:r>
              <a:rPr lang="en-US" sz="890" b="0" i="0" dirty="0">
                <a:solidFill>
                  <a:srgbClr val="1E293B"/>
                </a:solidFill>
                <a:latin typeface="Calibri"/>
                <a:cs typeface="Calibri"/>
              </a:rPr>
              <a:t>Monitoring volume is uneven: Maharashtra (14,225 rows), Kerala (11,599), and Assam (8,399) lead total observations.</a:t>
            </a:r>
          </a:p>
          <a:p>
            <a:pPr marL="190500" indent="-142875" algn="l">
              <a:spcBef>
                <a:spcPts val="0"/>
              </a:spcBef>
              <a:spcAft>
                <a:spcPts val="200"/>
              </a:spcAft>
              <a:buFont typeface="Arial"/>
              <a:buChar char="•"/>
            </a:pPr>
            <a:r>
              <a:rPr lang="en-US" sz="890" b="1" i="0" dirty="0">
                <a:solidFill>
                  <a:srgbClr val="007A78"/>
                </a:solidFill>
                <a:latin typeface="Calibri"/>
                <a:cs typeface="Calibri"/>
              </a:rPr>
              <a:t>Kruskal-Wallis Test across top 6 states (n = 51,694): Chi-sq = 11,725.65, df = 5, p &lt; 2.2e-16.</a:t>
            </a:r>
          </a:p>
          <a:p>
            <a:pPr marL="190500" indent="-142875" algn="l">
              <a:spcBef>
                <a:spcPts val="0"/>
              </a:spcBef>
              <a:spcAft>
                <a:spcPts val="400"/>
              </a:spcAft>
              <a:buFont typeface="Arial"/>
              <a:buChar char="•"/>
            </a:pPr>
            <a:r>
              <a:rPr lang="en-US" sz="890" b="0" i="0" dirty="0">
                <a:solidFill>
                  <a:srgbClr val="1E293B"/>
                </a:solidFill>
                <a:latin typeface="Calibri"/>
                <a:cs typeface="Calibri"/>
              </a:rPr>
              <a:t>States with dense industrial/urban corridors (Maharashtra, Telangana) exhibit wider hypoxic DO tails (&lt; 4.0 mg/L) than high-rainfall states (Kerala, Odisha).</a:t>
            </a:r>
          </a:p>
        </p:txBody>
      </p:sp>
      <p:sp>
        <p:nvSpPr>
          <p:cNvPr id="15" name="TextBox 15"/>
          <p:cNvSpPr txBox="1"/>
          <p:nvPr/>
        </p:nvSpPr>
        <p:spPr>
          <a:xfrm>
            <a:off x="4663440" y="3429000"/>
            <a:ext cx="4160520" cy="1325880"/>
          </a:xfrm>
          <a:prstGeom prst="roundRect">
            <a:avLst>
              <a:gd name="adj" fmla="val 4000"/>
            </a:avLst>
          </a:prstGeom>
          <a:solidFill>
            <a:srgbClr val="FFF5EB"/>
          </a:solidFill>
          <a:ln w="12700">
            <a:solidFill>
              <a:srgbClr val="D95F02"/>
            </a:solidFill>
          </a:ln>
        </p:spPr>
        <p:txBody>
          <a:bodyPr wrap="square" lIns="73152" tIns="54864" rIns="73152" bIns="54864" anchor="t"/>
          <a:lstStyle/>
          <a:p>
            <a:pPr marL="0" indent="0" algn="l">
              <a:spcBef>
                <a:spcPts val="0"/>
              </a:spcBef>
              <a:spcAft>
                <a:spcPts val="300"/>
              </a:spcAft>
              <a:buNone/>
            </a:pPr>
            <a:r>
              <a:rPr lang="en-US" sz="1050" b="1" i="0" dirty="0">
                <a:solidFill>
                  <a:srgbClr val="D95F02"/>
                </a:solidFill>
                <a:latin typeface="Calibri"/>
                <a:cs typeface="Calibri"/>
              </a:rPr>
              <a:t>Seasonal Findings &amp; Wilcoxon Rank-Sum Test</a:t>
            </a:r>
          </a:p>
          <a:p>
            <a:pPr marL="190500" indent="-142875" algn="l">
              <a:spcBef>
                <a:spcPts val="0"/>
              </a:spcBef>
              <a:spcAft>
                <a:spcPts val="200"/>
              </a:spcAft>
              <a:buFont typeface="Arial"/>
              <a:buChar char="•"/>
            </a:pPr>
            <a:r>
              <a:rPr lang="en-US" sz="890" b="0" i="0" dirty="0">
                <a:solidFill>
                  <a:srgbClr val="1E293B"/>
                </a:solidFill>
                <a:latin typeface="Calibri"/>
                <a:cs typeface="Calibri"/>
              </a:rPr>
              <a:t>Valid timestamps (109,422 rows) classified into Pre-Monsoon (Mar–May), Monsoon (Jun–Sep), Post-Monsoon (Oct–Nov), and Winter (Dec–Feb).</a:t>
            </a:r>
          </a:p>
          <a:p>
            <a:pPr marL="190500" indent="-142875" algn="l">
              <a:spcBef>
                <a:spcPts val="0"/>
              </a:spcBef>
              <a:spcAft>
                <a:spcPts val="200"/>
              </a:spcAft>
              <a:buFont typeface="Arial"/>
              <a:buChar char="•"/>
            </a:pPr>
            <a:r>
              <a:rPr lang="en-US" sz="890" b="1" i="0" dirty="0">
                <a:solidFill>
                  <a:srgbClr val="1B365D"/>
                </a:solidFill>
                <a:latin typeface="Calibri"/>
                <a:cs typeface="Calibri"/>
              </a:rPr>
              <a:t>Wilcoxon Test (Pre-Monsoon vs. Monsoon DO): W = 360,532,006, p = 5.48e-24 (Pre-Monsoon median DO = 6.80 vs. Monsoon = 6.70 mg/L).</a:t>
            </a:r>
          </a:p>
          <a:p>
            <a:pPr marL="190500" indent="-142875" algn="l">
              <a:spcBef>
                <a:spcPts val="0"/>
              </a:spcBef>
              <a:spcAft>
                <a:spcPts val="400"/>
              </a:spcAft>
              <a:buFont typeface="Arial"/>
              <a:buChar char="•"/>
            </a:pPr>
            <a:r>
              <a:rPr lang="en-US" sz="890" b="0" i="0" dirty="0">
                <a:solidFill>
                  <a:srgbClr val="1E293B"/>
                </a:solidFill>
                <a:latin typeface="Calibri"/>
                <a:cs typeface="Calibri"/>
              </a:rPr>
              <a:t>Monsoon Dilution: High monsoon river discharge reduces median BOD from 2.40 mg/L (Pre-Monsoon) to 2.10 mg/L (Monsoon).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2"/>
          <p:cNvSpPr/>
          <p:nvPr/>
        </p:nvSpPr>
        <p:spPr>
          <a:xfrm>
            <a:off x="0" y="0"/>
            <a:ext cx="9144000" cy="713232"/>
          </a:xfrm>
          <a:prstGeom prst="rect">
            <a:avLst/>
          </a:prstGeom>
          <a:solidFill>
            <a:srgbClr val="1B365D"/>
          </a:solidFill>
          <a:ln>
            <a:noFill/>
          </a:ln>
        </p:spPr>
      </p:sp>
      <p:sp>
        <p:nvSpPr>
          <p:cNvPr id="3" name="Rect 3"/>
          <p:cNvSpPr/>
          <p:nvPr/>
        </p:nvSpPr>
        <p:spPr>
          <a:xfrm>
            <a:off x="0" y="713232"/>
            <a:ext cx="9144000" cy="36576"/>
          </a:xfrm>
          <a:prstGeom prst="rect">
            <a:avLst/>
          </a:prstGeom>
          <a:solidFill>
            <a:srgbClr val="007A78"/>
          </a:solidFill>
          <a:ln>
            <a:noFill/>
          </a:ln>
        </p:spPr>
      </p:sp>
      <p:sp>
        <p:nvSpPr>
          <p:cNvPr id="4" name="TextBox 4"/>
          <p:cNvSpPr txBox="1"/>
          <p:nvPr/>
        </p:nvSpPr>
        <p:spPr>
          <a:xfrm>
            <a:off x="320040" y="54864"/>
            <a:ext cx="8503920" cy="621792"/>
          </a:xfrm>
          <a:prstGeom prst="rect">
            <a:avLst/>
          </a:prstGeom>
          <a:noFill/>
          <a:ln>
            <a:noFill/>
          </a:ln>
        </p:spPr>
        <p:txBody>
          <a:bodyPr wrap="square" lIns="18288" tIns="18288" rIns="18288" bIns="18288" anchor="t"/>
          <a:lstStyle/>
          <a:p>
            <a:pPr marL="0" indent="0" algn="l">
              <a:spcBef>
                <a:spcPts val="0"/>
              </a:spcBef>
              <a:spcAft>
                <a:spcPts val="100"/>
              </a:spcAft>
              <a:buNone/>
            </a:pPr>
            <a:r>
              <a:rPr lang="en-US" sz="850" b="1" i="0" dirty="0">
                <a:solidFill>
                  <a:srgbClr val="7FD4D2"/>
                </a:solidFill>
                <a:latin typeface="Calibri"/>
                <a:cs typeface="Calibri"/>
              </a:rPr>
              <a:t>SECTION 5  |  MULTIVARIATE &amp; HISTORICAL ANALYSIS</a:t>
            </a:r>
          </a:p>
          <a:p>
            <a:pPr marL="0" indent="0" algn="l">
              <a:spcBef>
                <a:spcPts val="0"/>
              </a:spcBef>
              <a:spcAft>
                <a:spcPts val="100"/>
              </a:spcAft>
              <a:buNone/>
            </a:pPr>
            <a:r>
              <a:rPr lang="en-US" sz="1750" b="1" i="0" dirty="0">
                <a:solidFill>
                  <a:srgbClr val="FFFFFF"/>
                </a:solidFill>
                <a:latin typeface="Calibri"/>
                <a:cs typeface="Calibri"/>
              </a:rPr>
              <a:t>Relationships Between Water-Quality Variables</a:t>
            </a:r>
          </a:p>
          <a:p>
            <a:pPr marL="0" indent="0" algn="l">
              <a:spcBef>
                <a:spcPts val="0"/>
              </a:spcBef>
              <a:spcAft>
                <a:spcPts val="0"/>
              </a:spcAft>
              <a:buNone/>
            </a:pPr>
            <a:r>
              <a:rPr lang="en-US" sz="950" b="0" i="1" dirty="0">
                <a:solidFill>
                  <a:srgbClr val="DCE6F1"/>
                </a:solidFill>
                <a:latin typeface="Calibri"/>
                <a:cs typeface="Calibri"/>
              </a:rPr>
              <a:t>Non-linear DO–BOD decay, Spearman rank correlations, and historical vs. modern state medians</a:t>
            </a:r>
          </a:p>
        </p:txBody>
      </p:sp>
      <p:sp>
        <p:nvSpPr>
          <p:cNvPr id="5" name="Rect 5"/>
          <p:cNvSpPr/>
          <p:nvPr/>
        </p:nvSpPr>
        <p:spPr>
          <a:xfrm>
            <a:off x="0" y="4864608"/>
            <a:ext cx="9144000" cy="278892"/>
          </a:xfrm>
          <a:prstGeom prst="rect">
            <a:avLst/>
          </a:prstGeom>
          <a:solidFill>
            <a:srgbClr val="EEF2F6"/>
          </a:solidFill>
          <a:ln>
            <a:noFill/>
          </a:ln>
        </p:spPr>
      </p:sp>
      <p:sp>
        <p:nvSpPr>
          <p:cNvPr id="6" name="TextBox 6"/>
          <p:cNvSpPr txBox="1"/>
          <p:nvPr/>
        </p:nvSpPr>
        <p:spPr>
          <a:xfrm>
            <a:off x="320040" y="4882896"/>
            <a:ext cx="6858000" cy="228600"/>
          </a:xfrm>
          <a:prstGeom prst="rect">
            <a:avLst/>
          </a:prstGeom>
          <a:noFill/>
          <a:ln>
            <a:noFill/>
          </a:ln>
        </p:spPr>
        <p:txBody>
          <a:bodyPr wrap="square" lIns="0" tIns="18288" rIns="0" bIns="0" anchor="t"/>
          <a:lstStyle/>
          <a:p>
            <a:pPr marL="0" indent="0" algn="l">
              <a:spcBef>
                <a:spcPts val="0"/>
              </a:spcBef>
              <a:spcAft>
                <a:spcPts val="400"/>
              </a:spcAft>
              <a:buNone/>
            </a:pPr>
            <a:r>
              <a:rPr lang="en-US" sz="850" b="0" i="0" dirty="0">
                <a:solidFill>
                  <a:srgbClr val="475569"/>
                </a:solidFill>
                <a:latin typeface="Calibri"/>
                <a:cs typeface="Calibri"/>
              </a:rPr>
              <a:t>Emmanuel Jobin (2026EMAI20054)  |  DSC 513: Introduction to Data Science  |  IIIT Kottayam</a:t>
            </a:r>
          </a:p>
        </p:txBody>
      </p:sp>
      <p:sp>
        <p:nvSpPr>
          <p:cNvPr id="7" name="TextBox 7"/>
          <p:cNvSpPr txBox="1"/>
          <p:nvPr/>
        </p:nvSpPr>
        <p:spPr>
          <a:xfrm>
            <a:off x="7315200" y="4882896"/>
            <a:ext cx="1508760" cy="228600"/>
          </a:xfrm>
          <a:prstGeom prst="rect">
            <a:avLst/>
          </a:prstGeom>
          <a:noFill/>
          <a:ln>
            <a:noFill/>
          </a:ln>
        </p:spPr>
        <p:txBody>
          <a:bodyPr wrap="square" lIns="0" tIns="18288" rIns="0" bIns="0" anchor="t"/>
          <a:lstStyle/>
          <a:p>
            <a:pPr marL="0" indent="0" algn="r">
              <a:spcBef>
                <a:spcPts val="0"/>
              </a:spcBef>
              <a:spcAft>
                <a:spcPts val="400"/>
              </a:spcAft>
              <a:buNone/>
            </a:pPr>
            <a:r>
              <a:rPr lang="en-US" sz="850" b="1" i="0" dirty="0">
                <a:solidFill>
                  <a:srgbClr val="1B365D"/>
                </a:solidFill>
                <a:latin typeface="Calibri"/>
                <a:cs typeface="Calibri"/>
              </a:rPr>
              <a:t>Slide 11 of 18</a:t>
            </a:r>
          </a:p>
        </p:txBody>
      </p:sp>
      <p:sp>
        <p:nvSpPr>
          <p:cNvPr id="8" name="Rect 8"/>
          <p:cNvSpPr/>
          <p:nvPr/>
        </p:nvSpPr>
        <p:spPr>
          <a:xfrm>
            <a:off x="635508" y="813816"/>
            <a:ext cx="3575304" cy="2167128"/>
          </a:xfrm>
          <a:prstGeom prst="rect">
            <a:avLst/>
          </a:prstGeom>
          <a:solidFill>
            <a:srgbClr val="FFFFFF"/>
          </a:solidFill>
          <a:ln w="9525">
            <a:solidFill>
              <a:srgbClr val="CBD5E1"/>
            </a:solidFill>
          </a:ln>
        </p:spPr>
      </p:sp>
      <p:pic>
        <p:nvPicPr>
          <p:cNvPr id="9" name="Picture 9" descr="08_do_vs_bod_relationship.png"/>
          <p:cNvPicPr>
            <a:picLocks noGrp="1" noChangeAspect="1"/>
          </p:cNvPicPr>
          <p:nvPr/>
        </p:nvPicPr>
        <p:blipFill>
          <a:blip r:embed="rId3"/>
          <a:stretch>
            <a:fillRect/>
          </a:stretch>
        </p:blipFill>
        <p:spPr bwMode="auto">
          <a:xfrm>
            <a:off x="662940" y="841248"/>
            <a:ext cx="3520440" cy="2112264"/>
          </a:xfrm>
          <a:prstGeom prst="rect">
            <a:avLst/>
          </a:prstGeom>
          <a:noFill/>
        </p:spPr>
      </p:pic>
      <p:sp>
        <p:nvSpPr>
          <p:cNvPr id="10" name="TextBox 10"/>
          <p:cNvSpPr txBox="1"/>
          <p:nvPr/>
        </p:nvSpPr>
        <p:spPr>
          <a:xfrm>
            <a:off x="320040" y="2990088"/>
            <a:ext cx="4206240" cy="201168"/>
          </a:xfrm>
          <a:prstGeom prst="rect">
            <a:avLst/>
          </a:prstGeom>
          <a:noFill/>
          <a:ln>
            <a:noFill/>
          </a:ln>
        </p:spPr>
        <p:txBody>
          <a:bodyPr wrap="square" lIns="18288" tIns="9144" rIns="18288" bIns="9144" anchor="t"/>
          <a:lstStyle/>
          <a:p>
            <a:pPr marL="0" indent="0" algn="ctr">
              <a:spcBef>
                <a:spcPts val="0"/>
              </a:spcBef>
              <a:spcAft>
                <a:spcPts val="400"/>
              </a:spcAft>
              <a:buNone/>
            </a:pPr>
            <a:r>
              <a:rPr lang="en-US" sz="850" b="0" i="1" dirty="0">
                <a:solidFill>
                  <a:srgbClr val="475569"/>
                </a:solidFill>
                <a:latin typeface="Calibri"/>
                <a:cs typeface="Calibri"/>
              </a:rPr>
              <a:t>Figure 9: DO vs. BOD scatter plot with GAM smoothing curve</a:t>
            </a:r>
          </a:p>
        </p:txBody>
      </p:sp>
      <p:sp>
        <p:nvSpPr>
          <p:cNvPr id="11" name="Rect 11"/>
          <p:cNvSpPr/>
          <p:nvPr/>
        </p:nvSpPr>
        <p:spPr>
          <a:xfrm>
            <a:off x="5490972" y="813816"/>
            <a:ext cx="2551176" cy="2167128"/>
          </a:xfrm>
          <a:prstGeom prst="rect">
            <a:avLst/>
          </a:prstGeom>
          <a:solidFill>
            <a:srgbClr val="FFFFFF"/>
          </a:solidFill>
          <a:ln w="9525">
            <a:solidFill>
              <a:srgbClr val="CBD5E1"/>
            </a:solidFill>
          </a:ln>
        </p:spPr>
      </p:sp>
      <p:pic>
        <p:nvPicPr>
          <p:cNvPr id="12" name="Picture 12" descr="06_correlation_matrix.png"/>
          <p:cNvPicPr>
            <a:picLocks noGrp="1" noChangeAspect="1"/>
          </p:cNvPicPr>
          <p:nvPr/>
        </p:nvPicPr>
        <p:blipFill>
          <a:blip r:embed="rId4"/>
          <a:stretch>
            <a:fillRect/>
          </a:stretch>
        </p:blipFill>
        <p:spPr bwMode="auto">
          <a:xfrm>
            <a:off x="5518404" y="841248"/>
            <a:ext cx="2496312" cy="2112264"/>
          </a:xfrm>
          <a:prstGeom prst="rect">
            <a:avLst/>
          </a:prstGeom>
          <a:noFill/>
        </p:spPr>
      </p:pic>
      <p:sp>
        <p:nvSpPr>
          <p:cNvPr id="13" name="TextBox 13"/>
          <p:cNvSpPr txBox="1"/>
          <p:nvPr/>
        </p:nvSpPr>
        <p:spPr>
          <a:xfrm>
            <a:off x="4709160" y="2990088"/>
            <a:ext cx="4114800" cy="201168"/>
          </a:xfrm>
          <a:prstGeom prst="rect">
            <a:avLst/>
          </a:prstGeom>
          <a:noFill/>
          <a:ln>
            <a:noFill/>
          </a:ln>
        </p:spPr>
        <p:txBody>
          <a:bodyPr wrap="square" lIns="18288" tIns="9144" rIns="18288" bIns="9144" anchor="t"/>
          <a:lstStyle/>
          <a:p>
            <a:pPr marL="0" indent="0" algn="ctr">
              <a:spcBef>
                <a:spcPts val="0"/>
              </a:spcBef>
              <a:spcAft>
                <a:spcPts val="400"/>
              </a:spcAft>
              <a:buNone/>
            </a:pPr>
            <a:r>
              <a:rPr lang="en-US" sz="850" b="0" i="1" dirty="0">
                <a:solidFill>
                  <a:srgbClr val="475569"/>
                </a:solidFill>
                <a:latin typeface="Calibri"/>
                <a:cs typeface="Calibri"/>
              </a:rPr>
              <a:t>Figure 10: Spearman rank correlation matrix (complete pairwise observations)</a:t>
            </a:r>
          </a:p>
        </p:txBody>
      </p:sp>
      <p:sp>
        <p:nvSpPr>
          <p:cNvPr id="14" name="TextBox 14"/>
          <p:cNvSpPr txBox="1"/>
          <p:nvPr/>
        </p:nvSpPr>
        <p:spPr>
          <a:xfrm>
            <a:off x="320040" y="3273552"/>
            <a:ext cx="8503920" cy="1481328"/>
          </a:xfrm>
          <a:prstGeom prst="roundRect">
            <a:avLst>
              <a:gd name="adj" fmla="val 4000"/>
            </a:avLst>
          </a:prstGeom>
          <a:solidFill>
            <a:srgbClr val="F4F7FA"/>
          </a:solidFill>
          <a:ln w="12700">
            <a:solidFill>
              <a:srgbClr val="CBD5E1"/>
            </a:solidFill>
          </a:ln>
        </p:spPr>
        <p:txBody>
          <a:bodyPr wrap="square" lIns="73152" tIns="54864" rIns="73152" bIns="54864" anchor="t"/>
          <a:lstStyle/>
          <a:p>
            <a:pPr marL="0" indent="0" algn="l">
              <a:spcBef>
                <a:spcPts val="0"/>
              </a:spcBef>
              <a:spcAft>
                <a:spcPts val="300"/>
              </a:spcAft>
              <a:buNone/>
            </a:pPr>
            <a:r>
              <a:rPr lang="en-US" sz="1100" b="1" i="0" dirty="0">
                <a:solidFill>
                  <a:srgbClr val="1B365D"/>
                </a:solidFill>
                <a:latin typeface="Calibri"/>
                <a:cs typeface="Calibri"/>
              </a:rPr>
              <a:t>Key Multivariate &amp; Decadal Insights (Correlation != Causation)</a:t>
            </a:r>
          </a:p>
          <a:p>
            <a:pPr marL="190500" indent="-142875" algn="l">
              <a:spcBef>
                <a:spcPts val="0"/>
              </a:spcBef>
              <a:spcAft>
                <a:spcPts val="200"/>
              </a:spcAft>
              <a:buFont typeface="Arial"/>
              <a:buChar char="•"/>
            </a:pPr>
            <a:r>
              <a:rPr lang="en-US" sz="910" b="0" i="0" dirty="0">
                <a:solidFill>
                  <a:srgbClr val="1E293B"/>
                </a:solidFill>
                <a:latin typeface="Calibri"/>
                <a:cs typeface="Calibri"/>
              </a:rPr>
              <a:t>1. Inverse Non-Linear DO vs. BOD Association (Spearman rho = -0.34): In clean waters (BOD &lt;= 3 mg/L), DO remains high (6–9 mg/L). As BOD rises above 10 mg/L, DO decays non-linearly toward 0 mg/L.</a:t>
            </a:r>
          </a:p>
          <a:p>
            <a:pPr marL="190500" indent="-142875" algn="l">
              <a:spcBef>
                <a:spcPts val="0"/>
              </a:spcBef>
              <a:spcAft>
                <a:spcPts val="200"/>
              </a:spcAft>
              <a:buFont typeface="Arial"/>
              <a:buChar char="•"/>
            </a:pPr>
            <a:r>
              <a:rPr lang="en-US" sz="910" b="0" i="0" dirty="0">
                <a:solidFill>
                  <a:srgbClr val="1E293B"/>
                </a:solidFill>
                <a:latin typeface="Calibri"/>
                <a:cs typeface="Calibri"/>
              </a:rPr>
              <a:t>2. Secondary Correlations: Conductivity vs. BOD is positively correlated (rho = 0.25, as sewage carries dissolved ions), and pH vs. DO shows a weak positive correlation (rho = 0.12, linked to daytime algal photosynthesis). These observational correlations measure statistical co-variation, not direct causation.</a:t>
            </a:r>
          </a:p>
          <a:p>
            <a:pPr marL="190500" indent="-142875" algn="l">
              <a:spcBef>
                <a:spcPts val="0"/>
              </a:spcBef>
              <a:spcAft>
                <a:spcPts val="400"/>
              </a:spcAft>
              <a:buFont typeface="Arial"/>
              <a:buChar char="•"/>
            </a:pPr>
            <a:r>
              <a:rPr lang="en-US" sz="910" b="1" i="0" dirty="0">
                <a:solidFill>
                  <a:srgbClr val="007A78"/>
                </a:solidFill>
                <a:latin typeface="Calibri"/>
                <a:cs typeface="Calibri"/>
              </a:rPr>
              <a:t>3. Historical vs. Modern State Comparison (19 Matched States with &gt;= 15 Kaggle rows): State median DO remained broadly stable between 2003–2014 and 2018–2024 (e.g., Kerala 6.60 -&gt; 6.80 mg/L), though tenfold station expansion (321 to 4,017 stations) prevents longitudinal trend claims.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2"/>
          <p:cNvSpPr/>
          <p:nvPr/>
        </p:nvSpPr>
        <p:spPr>
          <a:xfrm>
            <a:off x="0" y="0"/>
            <a:ext cx="9144000" cy="713232"/>
          </a:xfrm>
          <a:prstGeom prst="rect">
            <a:avLst/>
          </a:prstGeom>
          <a:solidFill>
            <a:srgbClr val="1B365D"/>
          </a:solidFill>
          <a:ln>
            <a:noFill/>
          </a:ln>
        </p:spPr>
      </p:sp>
      <p:sp>
        <p:nvSpPr>
          <p:cNvPr id="3" name="Rect 3"/>
          <p:cNvSpPr/>
          <p:nvPr/>
        </p:nvSpPr>
        <p:spPr>
          <a:xfrm>
            <a:off x="0" y="713232"/>
            <a:ext cx="9144000" cy="36576"/>
          </a:xfrm>
          <a:prstGeom prst="rect">
            <a:avLst/>
          </a:prstGeom>
          <a:solidFill>
            <a:srgbClr val="007A78"/>
          </a:solidFill>
          <a:ln>
            <a:noFill/>
          </a:ln>
        </p:spPr>
      </p:sp>
      <p:sp>
        <p:nvSpPr>
          <p:cNvPr id="4" name="TextBox 4"/>
          <p:cNvSpPr txBox="1"/>
          <p:nvPr/>
        </p:nvSpPr>
        <p:spPr>
          <a:xfrm>
            <a:off x="320040" y="54864"/>
            <a:ext cx="8503920" cy="621792"/>
          </a:xfrm>
          <a:prstGeom prst="rect">
            <a:avLst/>
          </a:prstGeom>
          <a:noFill/>
          <a:ln>
            <a:noFill/>
          </a:ln>
        </p:spPr>
        <p:txBody>
          <a:bodyPr wrap="square" lIns="18288" tIns="18288" rIns="18288" bIns="18288" anchor="t"/>
          <a:lstStyle/>
          <a:p>
            <a:pPr marL="0" indent="0" algn="l">
              <a:spcBef>
                <a:spcPts val="0"/>
              </a:spcBef>
              <a:spcAft>
                <a:spcPts val="100"/>
              </a:spcAft>
              <a:buNone/>
            </a:pPr>
            <a:r>
              <a:rPr lang="en-US" sz="850" b="1" i="0" dirty="0">
                <a:solidFill>
                  <a:srgbClr val="7FD4D2"/>
                </a:solidFill>
                <a:latin typeface="Calibri"/>
                <a:cs typeface="Calibri"/>
              </a:rPr>
              <a:t>SECTION 6  |  BASIC MACHINE LEARNING</a:t>
            </a:r>
          </a:p>
          <a:p>
            <a:pPr marL="0" indent="0" algn="l">
              <a:spcBef>
                <a:spcPts val="0"/>
              </a:spcBef>
              <a:spcAft>
                <a:spcPts val="100"/>
              </a:spcAft>
              <a:buNone/>
            </a:pPr>
            <a:r>
              <a:rPr lang="en-US" sz="1750" b="1" i="0" dirty="0">
                <a:solidFill>
                  <a:srgbClr val="FFFFFF"/>
                </a:solidFill>
                <a:latin typeface="Calibri"/>
                <a:cs typeface="Calibri"/>
              </a:rPr>
              <a:t>Why Use Machine Learning? Simple Linear Regression</a:t>
            </a:r>
          </a:p>
          <a:p>
            <a:pPr marL="0" indent="0" algn="l">
              <a:spcBef>
                <a:spcPts val="0"/>
              </a:spcBef>
              <a:spcAft>
                <a:spcPts val="0"/>
              </a:spcAft>
              <a:buNone/>
            </a:pPr>
            <a:r>
              <a:rPr lang="en-US" sz="950" b="0" i="1" dirty="0">
                <a:solidFill>
                  <a:srgbClr val="DCE6F1"/>
                </a:solidFill>
                <a:latin typeface="Calibri"/>
                <a:cs typeface="Calibri"/>
              </a:rPr>
              <a:t>Formulating a beginner-friendly supervised learning task to predict Dissolved Oxygen from BOD</a:t>
            </a:r>
          </a:p>
        </p:txBody>
      </p:sp>
      <p:sp>
        <p:nvSpPr>
          <p:cNvPr id="5" name="Rect 5"/>
          <p:cNvSpPr/>
          <p:nvPr/>
        </p:nvSpPr>
        <p:spPr>
          <a:xfrm>
            <a:off x="0" y="4864608"/>
            <a:ext cx="9144000" cy="278892"/>
          </a:xfrm>
          <a:prstGeom prst="rect">
            <a:avLst/>
          </a:prstGeom>
          <a:solidFill>
            <a:srgbClr val="EEF2F6"/>
          </a:solidFill>
          <a:ln>
            <a:noFill/>
          </a:ln>
        </p:spPr>
      </p:sp>
      <p:sp>
        <p:nvSpPr>
          <p:cNvPr id="6" name="TextBox 6"/>
          <p:cNvSpPr txBox="1"/>
          <p:nvPr/>
        </p:nvSpPr>
        <p:spPr>
          <a:xfrm>
            <a:off x="320040" y="4882896"/>
            <a:ext cx="6858000" cy="228600"/>
          </a:xfrm>
          <a:prstGeom prst="rect">
            <a:avLst/>
          </a:prstGeom>
          <a:noFill/>
          <a:ln>
            <a:noFill/>
          </a:ln>
        </p:spPr>
        <p:txBody>
          <a:bodyPr wrap="square" lIns="0" tIns="18288" rIns="0" bIns="0" anchor="t"/>
          <a:lstStyle/>
          <a:p>
            <a:pPr marL="0" indent="0" algn="l">
              <a:spcBef>
                <a:spcPts val="0"/>
              </a:spcBef>
              <a:spcAft>
                <a:spcPts val="400"/>
              </a:spcAft>
              <a:buNone/>
            </a:pPr>
            <a:r>
              <a:rPr lang="en-US" sz="850" b="0" i="0" dirty="0">
                <a:solidFill>
                  <a:srgbClr val="475569"/>
                </a:solidFill>
                <a:latin typeface="Calibri"/>
                <a:cs typeface="Calibri"/>
              </a:rPr>
              <a:t>Emmanuel Jobin (2026EMAI20054)  |  DSC 513: Introduction to Data Science  |  IIIT Kottayam</a:t>
            </a:r>
          </a:p>
        </p:txBody>
      </p:sp>
      <p:sp>
        <p:nvSpPr>
          <p:cNvPr id="7" name="TextBox 7"/>
          <p:cNvSpPr txBox="1"/>
          <p:nvPr/>
        </p:nvSpPr>
        <p:spPr>
          <a:xfrm>
            <a:off x="7315200" y="4882896"/>
            <a:ext cx="1508760" cy="228600"/>
          </a:xfrm>
          <a:prstGeom prst="rect">
            <a:avLst/>
          </a:prstGeom>
          <a:noFill/>
          <a:ln>
            <a:noFill/>
          </a:ln>
        </p:spPr>
        <p:txBody>
          <a:bodyPr wrap="square" lIns="0" tIns="18288" rIns="0" bIns="0" anchor="t"/>
          <a:lstStyle/>
          <a:p>
            <a:pPr marL="0" indent="0" algn="r">
              <a:spcBef>
                <a:spcPts val="0"/>
              </a:spcBef>
              <a:spcAft>
                <a:spcPts val="400"/>
              </a:spcAft>
              <a:buNone/>
            </a:pPr>
            <a:r>
              <a:rPr lang="en-US" sz="850" b="1" i="0" dirty="0">
                <a:solidFill>
                  <a:srgbClr val="1B365D"/>
                </a:solidFill>
                <a:latin typeface="Calibri"/>
                <a:cs typeface="Calibri"/>
              </a:rPr>
              <a:t>Slide 12 of 18</a:t>
            </a:r>
          </a:p>
        </p:txBody>
      </p:sp>
      <p:sp>
        <p:nvSpPr>
          <p:cNvPr id="8" name="TextBox 8"/>
          <p:cNvSpPr txBox="1"/>
          <p:nvPr/>
        </p:nvSpPr>
        <p:spPr>
          <a:xfrm>
            <a:off x="320040" y="868680"/>
            <a:ext cx="4160520" cy="1920240"/>
          </a:xfrm>
          <a:prstGeom prst="roundRect">
            <a:avLst>
              <a:gd name="adj" fmla="val 4000"/>
            </a:avLst>
          </a:prstGeom>
          <a:solidFill>
            <a:srgbClr val="F4F7FA"/>
          </a:solidFill>
          <a:ln w="12700">
            <a:solidFill>
              <a:srgbClr val="CBD5E1"/>
            </a:solidFill>
          </a:ln>
        </p:spPr>
        <p:txBody>
          <a:bodyPr wrap="square" lIns="73152" tIns="54864" rIns="73152" bIns="54864" anchor="t"/>
          <a:lstStyle/>
          <a:p>
            <a:pPr marL="0" indent="0" algn="l">
              <a:spcBef>
                <a:spcPts val="0"/>
              </a:spcBef>
              <a:spcAft>
                <a:spcPts val="500"/>
              </a:spcAft>
              <a:buNone/>
            </a:pPr>
            <a:r>
              <a:rPr lang="en-US" sz="1200" b="1" i="0" dirty="0">
                <a:solidFill>
                  <a:srgbClr val="1B365D"/>
                </a:solidFill>
                <a:latin typeface="Calibri"/>
                <a:cs typeface="Calibri"/>
              </a:rPr>
              <a:t>What Does a Supervised Prediction Model Do?</a:t>
            </a:r>
          </a:p>
          <a:p>
            <a:pPr marL="190500" indent="-142875" algn="l">
              <a:spcBef>
                <a:spcPts val="0"/>
              </a:spcBef>
              <a:spcAft>
                <a:spcPts val="400"/>
              </a:spcAft>
              <a:buFont typeface="Arial"/>
              <a:buChar char="•"/>
            </a:pPr>
            <a:r>
              <a:rPr lang="en-US" sz="980" b="0" i="0" dirty="0">
                <a:solidFill>
                  <a:srgbClr val="1E293B"/>
                </a:solidFill>
                <a:latin typeface="Calibri"/>
                <a:cs typeface="Calibri"/>
              </a:rPr>
              <a:t>A supervised regression model learns a mathematical equation from historical training data to predict a continuous numerical target variable (Y) from one or more predictor variables (X).</a:t>
            </a:r>
          </a:p>
          <a:p>
            <a:pPr marL="190500" indent="-142875" algn="l">
              <a:spcBef>
                <a:spcPts val="0"/>
              </a:spcBef>
              <a:spcAft>
                <a:spcPts val="400"/>
              </a:spcAft>
              <a:buFont typeface="Arial"/>
              <a:buChar char="•"/>
            </a:pPr>
            <a:r>
              <a:rPr lang="en-US" sz="980" b="0" i="0" dirty="0">
                <a:solidFill>
                  <a:srgbClr val="1E293B"/>
                </a:solidFill>
                <a:latin typeface="Calibri"/>
                <a:cs typeface="Calibri"/>
              </a:rPr>
              <a:t>Why Simple Linear Regression? It is the most interpretable foundational machine learning model: it estimates an explicit intercept and slope using Ordinary Least Squares (OLS) without black-box complexity.</a:t>
            </a:r>
          </a:p>
        </p:txBody>
      </p:sp>
      <p:sp>
        <p:nvSpPr>
          <p:cNvPr id="9" name="TextBox 9"/>
          <p:cNvSpPr txBox="1"/>
          <p:nvPr/>
        </p:nvSpPr>
        <p:spPr>
          <a:xfrm>
            <a:off x="4663440" y="868680"/>
            <a:ext cx="4160520" cy="1920240"/>
          </a:xfrm>
          <a:prstGeom prst="roundRect">
            <a:avLst>
              <a:gd name="adj" fmla="val 4000"/>
            </a:avLst>
          </a:prstGeom>
          <a:solidFill>
            <a:srgbClr val="E6F4F1"/>
          </a:solidFill>
          <a:ln w="12700">
            <a:solidFill>
              <a:srgbClr val="007A78"/>
            </a:solidFill>
          </a:ln>
        </p:spPr>
        <p:txBody>
          <a:bodyPr wrap="square" lIns="73152" tIns="54864" rIns="73152" bIns="54864" anchor="t"/>
          <a:lstStyle/>
          <a:p>
            <a:pPr marL="0" indent="0" algn="l">
              <a:spcBef>
                <a:spcPts val="0"/>
              </a:spcBef>
              <a:spcAft>
                <a:spcPts val="500"/>
              </a:spcAft>
              <a:buNone/>
            </a:pPr>
            <a:r>
              <a:rPr lang="en-US" sz="1200" b="1" i="0" dirty="0">
                <a:solidFill>
                  <a:srgbClr val="007A78"/>
                </a:solidFill>
                <a:latin typeface="Calibri"/>
                <a:cs typeface="Calibri"/>
              </a:rPr>
              <a:t>Target (Y) and Predictor (X) Selection</a:t>
            </a:r>
          </a:p>
          <a:p>
            <a:pPr marL="190500" indent="-142875" algn="l">
              <a:spcBef>
                <a:spcPts val="0"/>
              </a:spcBef>
              <a:spcAft>
                <a:spcPts val="400"/>
              </a:spcAft>
              <a:buFont typeface="Arial"/>
              <a:buChar char="•"/>
            </a:pPr>
            <a:r>
              <a:rPr lang="en-US" sz="980" b="0" i="0" dirty="0">
                <a:solidFill>
                  <a:srgbClr val="1E293B"/>
                </a:solidFill>
                <a:latin typeface="Calibri"/>
                <a:cs typeface="Calibri"/>
              </a:rPr>
              <a:t>Target Variable (Response, Y): Dissolved Oxygen (dissolved_oxygen_mg_l, in mg/L) — primary indicator of aquatic ecosystem survival.</a:t>
            </a:r>
          </a:p>
          <a:p>
            <a:pPr marL="190500" indent="-142875" algn="l">
              <a:spcBef>
                <a:spcPts val="0"/>
              </a:spcBef>
              <a:spcAft>
                <a:spcPts val="400"/>
              </a:spcAft>
              <a:buFont typeface="Arial"/>
              <a:buChar char="•"/>
            </a:pPr>
            <a:r>
              <a:rPr lang="en-US" sz="980" b="0" i="0" dirty="0">
                <a:solidFill>
                  <a:srgbClr val="1E293B"/>
                </a:solidFill>
                <a:latin typeface="Calibri"/>
                <a:cs typeface="Calibri"/>
              </a:rPr>
              <a:t>Predictor Variable (Feature, X): Biochemical Oxygen Demand (bod_mg_l, in mg/L) — primary indicator of organic sewage pollution.</a:t>
            </a:r>
          </a:p>
          <a:p>
            <a:pPr marL="190500" indent="-142875" algn="l">
              <a:spcBef>
                <a:spcPts val="0"/>
              </a:spcBef>
              <a:spcAft>
                <a:spcPts val="400"/>
              </a:spcAft>
              <a:buFont typeface="Arial"/>
              <a:buChar char="•"/>
            </a:pPr>
            <a:r>
              <a:rPr lang="en-US" sz="950" b="1" i="0" dirty="0">
                <a:solidFill>
                  <a:srgbClr val="1B365D"/>
                </a:solidFill>
                <a:latin typeface="Calibri"/>
                <a:cs typeface="Calibri"/>
              </a:rPr>
              <a:t>Both variables are numeric, use identical units (mg/L), and have 80,223 complete paired observations in CPCB.</a:t>
            </a:r>
          </a:p>
        </p:txBody>
      </p:sp>
      <p:sp>
        <p:nvSpPr>
          <p:cNvPr id="10" name="TextBox 10"/>
          <p:cNvSpPr txBox="1"/>
          <p:nvPr/>
        </p:nvSpPr>
        <p:spPr>
          <a:xfrm>
            <a:off x="320040" y="2926080"/>
            <a:ext cx="8503920" cy="1828800"/>
          </a:xfrm>
          <a:prstGeom prst="roundRect">
            <a:avLst>
              <a:gd name="adj" fmla="val 4000"/>
            </a:avLst>
          </a:prstGeom>
          <a:solidFill>
            <a:srgbClr val="FFF5EB"/>
          </a:solidFill>
          <a:ln w="12700">
            <a:solidFill>
              <a:srgbClr val="D95F02"/>
            </a:solidFill>
          </a:ln>
        </p:spPr>
        <p:txBody>
          <a:bodyPr wrap="square" lIns="73152" tIns="54864" rIns="73152" bIns="54864" anchor="t"/>
          <a:lstStyle/>
          <a:p>
            <a:pPr marL="0" indent="0" algn="l">
              <a:spcBef>
                <a:spcPts val="0"/>
              </a:spcBef>
              <a:spcAft>
                <a:spcPts val="500"/>
              </a:spcAft>
              <a:buNone/>
            </a:pPr>
            <a:r>
              <a:rPr lang="en-US" sz="1200" b="1" i="0" dirty="0">
                <a:solidFill>
                  <a:srgbClr val="D95F02"/>
                </a:solidFill>
                <a:latin typeface="Calibri"/>
                <a:cs typeface="Calibri"/>
              </a:rPr>
              <a:t>Why Split Data 80:20 into Training and Testing Sets? (Preventing Data Leakage)</a:t>
            </a:r>
          </a:p>
          <a:p>
            <a:pPr marL="190500" indent="-142875" algn="l">
              <a:spcBef>
                <a:spcPts val="0"/>
              </a:spcBef>
              <a:spcAft>
                <a:spcPts val="300"/>
              </a:spcAft>
              <a:buFont typeface="Arial"/>
              <a:buChar char="•"/>
            </a:pPr>
            <a:r>
              <a:rPr lang="en-US" sz="980" b="0" i="0" dirty="0">
                <a:solidFill>
                  <a:srgbClr val="1E293B"/>
                </a:solidFill>
                <a:latin typeface="Calibri"/>
                <a:cs typeface="Calibri"/>
              </a:rPr>
              <a:t>Training Set (80% of data): Used exclusively by R's lm() function to estimate the intercept (Beta_0) and slope (Beta_1).</a:t>
            </a:r>
          </a:p>
          <a:p>
            <a:pPr marL="190500" indent="-142875" algn="l">
              <a:spcBef>
                <a:spcPts val="0"/>
              </a:spcBef>
              <a:spcAft>
                <a:spcPts val="300"/>
              </a:spcAft>
              <a:buFont typeface="Arial"/>
              <a:buChar char="•"/>
            </a:pPr>
            <a:r>
              <a:rPr lang="en-US" sz="980" b="0" i="0" dirty="0">
                <a:solidFill>
                  <a:srgbClr val="1E293B"/>
                </a:solidFill>
                <a:latin typeface="Calibri"/>
                <a:cs typeface="Calibri"/>
              </a:rPr>
              <a:t>Testing Set (20% hold-out data): Kept completely separate during training and used only with predict() to evaluate how accurately the model generalizes to unseen observations.</a:t>
            </a:r>
          </a:p>
          <a:p>
            <a:pPr marL="190500" indent="-142875" algn="l">
              <a:spcBef>
                <a:spcPts val="0"/>
              </a:spcBef>
              <a:spcAft>
                <a:spcPts val="400"/>
              </a:spcAft>
              <a:buFont typeface="Arial"/>
              <a:buChar char="•"/>
            </a:pPr>
            <a:r>
              <a:rPr lang="en-US" sz="960" b="0" i="1" dirty="0">
                <a:solidFill>
                  <a:srgbClr val="0F2342"/>
                </a:solidFill>
                <a:latin typeface="Calibri"/>
                <a:cs typeface="Calibri"/>
              </a:rPr>
              <a:t>Scope Note: This single-predictor linear regression is an educational demonstration of supervised machine learning in R, not a complete operational river-forecasting system.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2"/>
          <p:cNvSpPr/>
          <p:nvPr/>
        </p:nvSpPr>
        <p:spPr>
          <a:xfrm>
            <a:off x="0" y="0"/>
            <a:ext cx="9144000" cy="713232"/>
          </a:xfrm>
          <a:prstGeom prst="rect">
            <a:avLst/>
          </a:prstGeom>
          <a:solidFill>
            <a:srgbClr val="1B365D"/>
          </a:solidFill>
          <a:ln>
            <a:noFill/>
          </a:ln>
        </p:spPr>
      </p:sp>
      <p:sp>
        <p:nvSpPr>
          <p:cNvPr id="3" name="Rect 3"/>
          <p:cNvSpPr/>
          <p:nvPr/>
        </p:nvSpPr>
        <p:spPr>
          <a:xfrm>
            <a:off x="0" y="713232"/>
            <a:ext cx="9144000" cy="36576"/>
          </a:xfrm>
          <a:prstGeom prst="rect">
            <a:avLst/>
          </a:prstGeom>
          <a:solidFill>
            <a:srgbClr val="007A78"/>
          </a:solidFill>
          <a:ln>
            <a:noFill/>
          </a:ln>
        </p:spPr>
      </p:sp>
      <p:sp>
        <p:nvSpPr>
          <p:cNvPr id="4" name="TextBox 4"/>
          <p:cNvSpPr txBox="1"/>
          <p:nvPr/>
        </p:nvSpPr>
        <p:spPr>
          <a:xfrm>
            <a:off x="320040" y="54864"/>
            <a:ext cx="8503920" cy="621792"/>
          </a:xfrm>
          <a:prstGeom prst="rect">
            <a:avLst/>
          </a:prstGeom>
          <a:noFill/>
          <a:ln>
            <a:noFill/>
          </a:ln>
        </p:spPr>
        <p:txBody>
          <a:bodyPr wrap="square" lIns="18288" tIns="18288" rIns="18288" bIns="18288" anchor="t"/>
          <a:lstStyle/>
          <a:p>
            <a:pPr marL="0" indent="0" algn="l">
              <a:spcBef>
                <a:spcPts val="0"/>
              </a:spcBef>
              <a:spcAft>
                <a:spcPts val="100"/>
              </a:spcAft>
              <a:buNone/>
            </a:pPr>
            <a:r>
              <a:rPr lang="en-US" sz="850" b="1" i="0" dirty="0">
                <a:solidFill>
                  <a:srgbClr val="7FD4D2"/>
                </a:solidFill>
                <a:latin typeface="Calibri"/>
                <a:cs typeface="Calibri"/>
              </a:rPr>
              <a:t>SECTION 6  |  MODEL SPECIFICATION &amp; R IMPLEMENTATION</a:t>
            </a:r>
          </a:p>
          <a:p>
            <a:pPr marL="0" indent="0" algn="l">
              <a:spcBef>
                <a:spcPts val="0"/>
              </a:spcBef>
              <a:spcAft>
                <a:spcPts val="100"/>
              </a:spcAft>
              <a:buNone/>
            </a:pPr>
            <a:r>
              <a:rPr lang="en-US" sz="1750" b="1" i="0" dirty="0">
                <a:solidFill>
                  <a:srgbClr val="FFFFFF"/>
                </a:solidFill>
                <a:latin typeface="Calibri"/>
                <a:cs typeface="Calibri"/>
              </a:rPr>
              <a:t>Linear Regression: Mathematical Model and R Code</a:t>
            </a:r>
          </a:p>
          <a:p>
            <a:pPr marL="0" indent="0" algn="l">
              <a:spcBef>
                <a:spcPts val="0"/>
              </a:spcBef>
              <a:spcAft>
                <a:spcPts val="0"/>
              </a:spcAft>
              <a:buNone/>
            </a:pPr>
            <a:r>
              <a:rPr lang="en-US" sz="950" b="0" i="1" dirty="0">
                <a:solidFill>
                  <a:srgbClr val="DCE6F1"/>
                </a:solidFill>
                <a:latin typeface="Calibri"/>
                <a:cs typeface="Calibri"/>
              </a:rPr>
              <a:t>Fitting the model on the 80% training set and generating predictions on the 20% test set</a:t>
            </a:r>
          </a:p>
        </p:txBody>
      </p:sp>
      <p:sp>
        <p:nvSpPr>
          <p:cNvPr id="5" name="Rect 5"/>
          <p:cNvSpPr/>
          <p:nvPr/>
        </p:nvSpPr>
        <p:spPr>
          <a:xfrm>
            <a:off x="0" y="4864608"/>
            <a:ext cx="9144000" cy="278892"/>
          </a:xfrm>
          <a:prstGeom prst="rect">
            <a:avLst/>
          </a:prstGeom>
          <a:solidFill>
            <a:srgbClr val="EEF2F6"/>
          </a:solidFill>
          <a:ln>
            <a:noFill/>
          </a:ln>
        </p:spPr>
      </p:sp>
      <p:sp>
        <p:nvSpPr>
          <p:cNvPr id="6" name="TextBox 6"/>
          <p:cNvSpPr txBox="1"/>
          <p:nvPr/>
        </p:nvSpPr>
        <p:spPr>
          <a:xfrm>
            <a:off x="320040" y="4882896"/>
            <a:ext cx="6858000" cy="228600"/>
          </a:xfrm>
          <a:prstGeom prst="rect">
            <a:avLst/>
          </a:prstGeom>
          <a:noFill/>
          <a:ln>
            <a:noFill/>
          </a:ln>
        </p:spPr>
        <p:txBody>
          <a:bodyPr wrap="square" lIns="0" tIns="18288" rIns="0" bIns="0" anchor="t"/>
          <a:lstStyle/>
          <a:p>
            <a:pPr marL="0" indent="0" algn="l">
              <a:spcBef>
                <a:spcPts val="0"/>
              </a:spcBef>
              <a:spcAft>
                <a:spcPts val="400"/>
              </a:spcAft>
              <a:buNone/>
            </a:pPr>
            <a:r>
              <a:rPr lang="en-US" sz="850" b="0" i="0" dirty="0">
                <a:solidFill>
                  <a:srgbClr val="475569"/>
                </a:solidFill>
                <a:latin typeface="Calibri"/>
                <a:cs typeface="Calibri"/>
              </a:rPr>
              <a:t>Emmanuel Jobin (2026EMAI20054)  |  DSC 513: Introduction to Data Science  |  IIIT Kottayam</a:t>
            </a:r>
          </a:p>
        </p:txBody>
      </p:sp>
      <p:sp>
        <p:nvSpPr>
          <p:cNvPr id="7" name="TextBox 7"/>
          <p:cNvSpPr txBox="1"/>
          <p:nvPr/>
        </p:nvSpPr>
        <p:spPr>
          <a:xfrm>
            <a:off x="7315200" y="4882896"/>
            <a:ext cx="1508760" cy="228600"/>
          </a:xfrm>
          <a:prstGeom prst="rect">
            <a:avLst/>
          </a:prstGeom>
          <a:noFill/>
          <a:ln>
            <a:noFill/>
          </a:ln>
        </p:spPr>
        <p:txBody>
          <a:bodyPr wrap="square" lIns="0" tIns="18288" rIns="0" bIns="0" anchor="t"/>
          <a:lstStyle/>
          <a:p>
            <a:pPr marL="0" indent="0" algn="r">
              <a:spcBef>
                <a:spcPts val="0"/>
              </a:spcBef>
              <a:spcAft>
                <a:spcPts val="400"/>
              </a:spcAft>
              <a:buNone/>
            </a:pPr>
            <a:r>
              <a:rPr lang="en-US" sz="850" b="1" i="0" dirty="0">
                <a:solidFill>
                  <a:srgbClr val="1B365D"/>
                </a:solidFill>
                <a:latin typeface="Calibri"/>
                <a:cs typeface="Calibri"/>
              </a:rPr>
              <a:t>Slide 13 of 18</a:t>
            </a:r>
          </a:p>
        </p:txBody>
      </p:sp>
      <p:sp>
        <p:nvSpPr>
          <p:cNvPr id="8" name="TextBox 8"/>
          <p:cNvSpPr txBox="1"/>
          <p:nvPr/>
        </p:nvSpPr>
        <p:spPr>
          <a:xfrm>
            <a:off x="320040" y="841248"/>
            <a:ext cx="8503920" cy="749808"/>
          </a:xfrm>
          <a:prstGeom prst="roundRect">
            <a:avLst>
              <a:gd name="adj" fmla="val 4000"/>
            </a:avLst>
          </a:prstGeom>
          <a:solidFill>
            <a:srgbClr val="1B365D"/>
          </a:solidFill>
          <a:ln w="12700">
            <a:solidFill>
              <a:srgbClr val="007A78"/>
            </a:solidFill>
          </a:ln>
        </p:spPr>
        <p:txBody>
          <a:bodyPr wrap="square" lIns="73152" tIns="54864" rIns="73152" bIns="54864" anchor="t"/>
          <a:lstStyle/>
          <a:p>
            <a:pPr marL="0" indent="0" algn="ctr">
              <a:spcBef>
                <a:spcPts val="0"/>
              </a:spcBef>
              <a:spcAft>
                <a:spcPts val="200"/>
              </a:spcAft>
              <a:buNone/>
            </a:pPr>
            <a:r>
              <a:rPr lang="en-US" sz="1250" b="1" i="0" dirty="0">
                <a:solidFill>
                  <a:srgbClr val="FFFFFF"/>
                </a:solidFill>
                <a:latin typeface="Calibri"/>
                <a:cs typeface="Calibri"/>
              </a:rPr>
              <a:t>Model Form:   DO = Intercept (β₀) + Slope (β₁) × BOD       |       Fitted Primary Equation:   Predicted DO = 7.0745 − 0.1784 × BOD</a:t>
            </a:r>
          </a:p>
          <a:p>
            <a:pPr marL="0" indent="0" algn="ctr">
              <a:spcBef>
                <a:spcPts val="0"/>
              </a:spcBef>
              <a:spcAft>
                <a:spcPts val="400"/>
              </a:spcAft>
              <a:buNone/>
            </a:pPr>
            <a:r>
              <a:rPr lang="en-US" sz="950" b="0" i="0" dirty="0">
                <a:solidFill>
                  <a:srgbClr val="DCE6F1"/>
                </a:solidFill>
                <a:latin typeface="Calibri"/>
                <a:cs typeface="Calibri"/>
              </a:rPr>
              <a:t>(Trained on n = 63,893 observations with set.seed(513); both coefficients statistically significant at p &lt; 2e-16)</a:t>
            </a:r>
          </a:p>
        </p:txBody>
      </p:sp>
      <p:sp>
        <p:nvSpPr>
          <p:cNvPr id="9" name="TextBox 9"/>
          <p:cNvSpPr txBox="1"/>
          <p:nvPr/>
        </p:nvSpPr>
        <p:spPr>
          <a:xfrm>
            <a:off x="320040" y="1719072"/>
            <a:ext cx="4251960" cy="3035808"/>
          </a:xfrm>
          <a:prstGeom prst="roundRect">
            <a:avLst>
              <a:gd name="adj" fmla="val 4000"/>
            </a:avLst>
          </a:prstGeom>
          <a:solidFill>
            <a:srgbClr val="F8FAFC"/>
          </a:solidFill>
          <a:ln w="12700">
            <a:solidFill>
              <a:srgbClr val="94A3B8"/>
            </a:solidFill>
          </a:ln>
        </p:spPr>
        <p:txBody>
          <a:bodyPr wrap="square" lIns="73152" tIns="54864" rIns="73152" bIns="54864" anchor="t"/>
          <a:lstStyle/>
          <a:p>
            <a:pPr marL="0" indent="0" algn="l">
              <a:spcBef>
                <a:spcPts val="0"/>
              </a:spcBef>
              <a:spcAft>
                <a:spcPts val="400"/>
              </a:spcAft>
              <a:buNone/>
            </a:pPr>
            <a:r>
              <a:rPr lang="en-US" sz="1050" b="1" i="0" dirty="0">
                <a:solidFill>
                  <a:srgbClr val="007A78"/>
                </a:solidFill>
                <a:latin typeface="Calibri"/>
                <a:cs typeface="Calibri"/>
              </a:rPr>
              <a:t>Actual R Code from Project (.Rmd):</a:t>
            </a:r>
          </a:p>
          <a:p>
            <a:pPr marL="0" indent="0" algn="l">
              <a:spcBef>
                <a:spcPts val="0"/>
              </a:spcBef>
              <a:spcAft>
                <a:spcPts val="400"/>
              </a:spcAft>
              <a:buNone/>
            </a:pPr>
            <a:r>
              <a:rPr lang="en-US" sz="800" b="0" i="0" dirty="0">
                <a:solidFill>
                  <a:srgbClr val="0F2342"/>
                </a:solidFill>
                <a:latin typeface="Courier New"/>
                <a:cs typeface="Courier New"/>
              </a:rPr>
              <a:t># 1. Select valid non-missing pairs (BOD &lt;= 50 mg/L)
ml_data &lt;- df_cpcb_master %&gt;%
  select(station, sample_datetime,
         dissolved_oxygen_mg_l, bod_mg_l) %&gt;%
  filter(!is.na(dissolved_oxygen_mg_l),
         !is.na(bod_mg_l), bod_mg_l &lt;= 50)
# 2. Reproducible 80:20 Train-Test Split
set.seed(513)
n_total   &lt;- nrow(ml_data)
train_idx &lt;- sample(seq_len(n_total),
                    size = floor(0.80 * n_total))
train_data &lt;- ml_data[train_idx, ]
test_data  &lt;- ml_data[-train_idx, ]
# 3. Train linear model on training set ONLY
do_lm_model &lt;- lm(
  dissolved_oxygen_mg_l ~ bod_mg_l,
  data = train_data
)
# 4. Predict on unseen 20% test set
test_data$predicted_do &lt;- predict(
  do_lm_model, newdata = test_data
)</a:t>
            </a:r>
          </a:p>
        </p:txBody>
      </p:sp>
      <p:sp>
        <p:nvSpPr>
          <p:cNvPr id="10" name="TextBox 10"/>
          <p:cNvSpPr txBox="1"/>
          <p:nvPr/>
        </p:nvSpPr>
        <p:spPr>
          <a:xfrm>
            <a:off x="4709160" y="1719072"/>
            <a:ext cx="4114800" cy="3035808"/>
          </a:xfrm>
          <a:prstGeom prst="roundRect">
            <a:avLst>
              <a:gd name="adj" fmla="val 4000"/>
            </a:avLst>
          </a:prstGeom>
          <a:solidFill>
            <a:srgbClr val="F4F7FA"/>
          </a:solidFill>
          <a:ln w="12700">
            <a:solidFill>
              <a:srgbClr val="CBD5E1"/>
            </a:solidFill>
          </a:ln>
        </p:spPr>
        <p:txBody>
          <a:bodyPr wrap="square" lIns="73152" tIns="54864" rIns="73152" bIns="54864" anchor="t"/>
          <a:lstStyle/>
          <a:p>
            <a:pPr marL="0" indent="0" algn="l">
              <a:spcBef>
                <a:spcPts val="0"/>
              </a:spcBef>
              <a:spcAft>
                <a:spcPts val="600"/>
              </a:spcAft>
              <a:buNone/>
            </a:pPr>
            <a:r>
              <a:rPr lang="en-US" sz="1150" b="1" i="0" dirty="0">
                <a:solidFill>
                  <a:srgbClr val="1B365D"/>
                </a:solidFill>
                <a:latin typeface="Calibri"/>
                <a:cs typeface="Calibri"/>
              </a:rPr>
              <a:t>What Each Step in the Code Does</a:t>
            </a:r>
          </a:p>
          <a:p>
            <a:pPr marL="190500" indent="-142875" algn="l">
              <a:spcBef>
                <a:spcPts val="0"/>
              </a:spcBef>
              <a:spcAft>
                <a:spcPts val="500"/>
              </a:spcAft>
              <a:buFont typeface="Arial"/>
              <a:buChar char="•"/>
            </a:pPr>
            <a:r>
              <a:rPr lang="en-US" sz="930" b="0" i="0" dirty="0">
                <a:solidFill>
                  <a:srgbClr val="1E293B"/>
                </a:solidFill>
                <a:latin typeface="Calibri"/>
                <a:cs typeface="Calibri"/>
              </a:rPr>
              <a:t>1. set.seed(513) &amp; sample(): Fixes the random number generator so the exact same 63,893 training rows and 15,974 test rows are selected every time the report is knitted.</a:t>
            </a:r>
          </a:p>
          <a:p>
            <a:pPr marL="190500" indent="-142875" algn="l">
              <a:spcBef>
                <a:spcPts val="0"/>
              </a:spcBef>
              <a:spcAft>
                <a:spcPts val="500"/>
              </a:spcAft>
              <a:buFont typeface="Arial"/>
              <a:buChar char="•"/>
            </a:pPr>
            <a:r>
              <a:rPr lang="en-US" sz="930" b="0" i="0" dirty="0">
                <a:solidFill>
                  <a:srgbClr val="1E293B"/>
                </a:solidFill>
                <a:latin typeface="Calibri"/>
                <a:cs typeface="Calibri"/>
              </a:rPr>
              <a:t>2. Formula dissolved_oxygen_mg_l ~ bod_mg_l: Tells R that Dissolved Oxygen is the response variable (Y) on the left of '~' and BOD is the predictor variable (X) on the right.</a:t>
            </a:r>
          </a:p>
          <a:p>
            <a:pPr marL="190500" indent="-142875" algn="l">
              <a:spcBef>
                <a:spcPts val="0"/>
              </a:spcBef>
              <a:spcAft>
                <a:spcPts val="500"/>
              </a:spcAft>
              <a:buFont typeface="Arial"/>
              <a:buChar char="•"/>
            </a:pPr>
            <a:r>
              <a:rPr lang="en-US" sz="930" b="0" i="0" dirty="0">
                <a:solidFill>
                  <a:srgbClr val="1E293B"/>
                </a:solidFill>
                <a:latin typeface="Calibri"/>
                <a:cs typeface="Calibri"/>
              </a:rPr>
              <a:t>3. lm(..., data = train_data): Computes the Ordinary Least Squares (OLS) line minimizing the sum of squared residuals strictly on the 80% training set.</a:t>
            </a:r>
          </a:p>
          <a:p>
            <a:pPr marL="190500" indent="-142875" algn="l">
              <a:spcBef>
                <a:spcPts val="0"/>
              </a:spcBef>
              <a:spcAft>
                <a:spcPts val="400"/>
              </a:spcAft>
              <a:buFont typeface="Arial"/>
              <a:buChar char="•"/>
            </a:pPr>
            <a:r>
              <a:rPr lang="en-US" sz="930" b="0" i="0" dirty="0">
                <a:solidFill>
                  <a:srgbClr val="1E293B"/>
                </a:solidFill>
                <a:latin typeface="Calibri"/>
                <a:cs typeface="Calibri"/>
              </a:rPr>
              <a:t>4. predict(do_lm_model, newdata = test_data): Applies the learned equation (7.0745 - 0.1784 * BOD) to each row's BOD value in the held-out 20% test set to return predicted DO (mg/L).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2"/>
          <p:cNvSpPr/>
          <p:nvPr/>
        </p:nvSpPr>
        <p:spPr>
          <a:xfrm>
            <a:off x="0" y="0"/>
            <a:ext cx="9144000" cy="713232"/>
          </a:xfrm>
          <a:prstGeom prst="rect">
            <a:avLst/>
          </a:prstGeom>
          <a:solidFill>
            <a:srgbClr val="1B365D"/>
          </a:solidFill>
          <a:ln>
            <a:noFill/>
          </a:ln>
        </p:spPr>
      </p:sp>
      <p:sp>
        <p:nvSpPr>
          <p:cNvPr id="3" name="Rect 3"/>
          <p:cNvSpPr/>
          <p:nvPr/>
        </p:nvSpPr>
        <p:spPr>
          <a:xfrm>
            <a:off x="0" y="713232"/>
            <a:ext cx="9144000" cy="36576"/>
          </a:xfrm>
          <a:prstGeom prst="rect">
            <a:avLst/>
          </a:prstGeom>
          <a:solidFill>
            <a:srgbClr val="007A78"/>
          </a:solidFill>
          <a:ln>
            <a:noFill/>
          </a:ln>
        </p:spPr>
      </p:sp>
      <p:sp>
        <p:nvSpPr>
          <p:cNvPr id="4" name="TextBox 4"/>
          <p:cNvSpPr txBox="1"/>
          <p:nvPr/>
        </p:nvSpPr>
        <p:spPr>
          <a:xfrm>
            <a:off x="320040" y="54864"/>
            <a:ext cx="8503920" cy="621792"/>
          </a:xfrm>
          <a:prstGeom prst="rect">
            <a:avLst/>
          </a:prstGeom>
          <a:noFill/>
          <a:ln>
            <a:noFill/>
          </a:ln>
        </p:spPr>
        <p:txBody>
          <a:bodyPr wrap="square" lIns="18288" tIns="18288" rIns="18288" bIns="18288" anchor="t"/>
          <a:lstStyle/>
          <a:p>
            <a:pPr marL="0" indent="0" algn="l">
              <a:spcBef>
                <a:spcPts val="0"/>
              </a:spcBef>
              <a:spcAft>
                <a:spcPts val="100"/>
              </a:spcAft>
              <a:buNone/>
            </a:pPr>
            <a:r>
              <a:rPr lang="en-US" sz="850" b="1" i="0" dirty="0">
                <a:solidFill>
                  <a:srgbClr val="7FD4D2"/>
                </a:solidFill>
                <a:latin typeface="Calibri"/>
                <a:cs typeface="Calibri"/>
              </a:rPr>
              <a:t>SECTION 6  |  QUANTITATIVE EVALUATION</a:t>
            </a:r>
          </a:p>
          <a:p>
            <a:pPr marL="0" indent="0" algn="l">
              <a:spcBef>
                <a:spcPts val="0"/>
              </a:spcBef>
              <a:spcAft>
                <a:spcPts val="100"/>
              </a:spcAft>
              <a:buNone/>
            </a:pPr>
            <a:r>
              <a:rPr lang="en-US" sz="1750" b="1" i="0" dirty="0">
                <a:solidFill>
                  <a:srgbClr val="FFFFFF"/>
                </a:solidFill>
                <a:latin typeface="Calibri"/>
                <a:cs typeface="Calibri"/>
              </a:rPr>
              <a:t>Training, Testing, and Model Evaluation Metrics</a:t>
            </a:r>
          </a:p>
          <a:p>
            <a:pPr marL="0" indent="0" algn="l">
              <a:spcBef>
                <a:spcPts val="0"/>
              </a:spcBef>
              <a:spcAft>
                <a:spcPts val="0"/>
              </a:spcAft>
              <a:buNone/>
            </a:pPr>
            <a:r>
              <a:rPr lang="en-US" sz="950" b="0" i="1" dirty="0">
                <a:solidFill>
                  <a:srgbClr val="DCE6F1"/>
                </a:solidFill>
                <a:latin typeface="Calibri"/>
                <a:cs typeface="Calibri"/>
              </a:rPr>
              <a:t>Verified observation counts, parameter estimates, and test-set accuracy metrics (RMSE, MAE, R²)</a:t>
            </a:r>
          </a:p>
        </p:txBody>
      </p:sp>
      <p:sp>
        <p:nvSpPr>
          <p:cNvPr id="5" name="Rect 5"/>
          <p:cNvSpPr/>
          <p:nvPr/>
        </p:nvSpPr>
        <p:spPr>
          <a:xfrm>
            <a:off x="0" y="4864608"/>
            <a:ext cx="9144000" cy="278892"/>
          </a:xfrm>
          <a:prstGeom prst="rect">
            <a:avLst/>
          </a:prstGeom>
          <a:solidFill>
            <a:srgbClr val="EEF2F6"/>
          </a:solidFill>
          <a:ln>
            <a:noFill/>
          </a:ln>
        </p:spPr>
      </p:sp>
      <p:sp>
        <p:nvSpPr>
          <p:cNvPr id="6" name="TextBox 6"/>
          <p:cNvSpPr txBox="1"/>
          <p:nvPr/>
        </p:nvSpPr>
        <p:spPr>
          <a:xfrm>
            <a:off x="320040" y="4882896"/>
            <a:ext cx="6858000" cy="228600"/>
          </a:xfrm>
          <a:prstGeom prst="rect">
            <a:avLst/>
          </a:prstGeom>
          <a:noFill/>
          <a:ln>
            <a:noFill/>
          </a:ln>
        </p:spPr>
        <p:txBody>
          <a:bodyPr wrap="square" lIns="0" tIns="18288" rIns="0" bIns="0" anchor="t"/>
          <a:lstStyle/>
          <a:p>
            <a:pPr marL="0" indent="0" algn="l">
              <a:spcBef>
                <a:spcPts val="0"/>
              </a:spcBef>
              <a:spcAft>
                <a:spcPts val="400"/>
              </a:spcAft>
              <a:buNone/>
            </a:pPr>
            <a:r>
              <a:rPr lang="en-US" sz="850" b="0" i="0" dirty="0">
                <a:solidFill>
                  <a:srgbClr val="475569"/>
                </a:solidFill>
                <a:latin typeface="Calibri"/>
                <a:cs typeface="Calibri"/>
              </a:rPr>
              <a:t>Emmanuel Jobin (2026EMAI20054)  |  DSC 513: Introduction to Data Science  |  IIIT Kottayam</a:t>
            </a:r>
          </a:p>
        </p:txBody>
      </p:sp>
      <p:sp>
        <p:nvSpPr>
          <p:cNvPr id="7" name="TextBox 7"/>
          <p:cNvSpPr txBox="1"/>
          <p:nvPr/>
        </p:nvSpPr>
        <p:spPr>
          <a:xfrm>
            <a:off x="7315200" y="4882896"/>
            <a:ext cx="1508760" cy="228600"/>
          </a:xfrm>
          <a:prstGeom prst="rect">
            <a:avLst/>
          </a:prstGeom>
          <a:noFill/>
          <a:ln>
            <a:noFill/>
          </a:ln>
        </p:spPr>
        <p:txBody>
          <a:bodyPr wrap="square" lIns="0" tIns="18288" rIns="0" bIns="0" anchor="t"/>
          <a:lstStyle/>
          <a:p>
            <a:pPr marL="0" indent="0" algn="r">
              <a:spcBef>
                <a:spcPts val="0"/>
              </a:spcBef>
              <a:spcAft>
                <a:spcPts val="400"/>
              </a:spcAft>
              <a:buNone/>
            </a:pPr>
            <a:r>
              <a:rPr lang="en-US" sz="850" b="1" i="0" dirty="0">
                <a:solidFill>
                  <a:srgbClr val="1B365D"/>
                </a:solidFill>
                <a:latin typeface="Calibri"/>
                <a:cs typeface="Calibri"/>
              </a:rPr>
              <a:t>Slide 14 of 18</a:t>
            </a:r>
          </a:p>
        </p:txBody>
      </p:sp>
      <p:graphicFrame>
        <p:nvGraphicFramePr>
          <p:cNvPr id="8" name="Table 8"/>
          <p:cNvGraphicFramePr>
            <a:graphicFrameLocks noGrp="1"/>
          </p:cNvGraphicFramePr>
          <p:nvPr/>
        </p:nvGraphicFramePr>
        <p:xfrm>
          <a:off x="320040" y="868680"/>
          <a:ext cx="4251960" cy="2423160"/>
        </p:xfrm>
        <a:graphic>
          <a:graphicData uri="http://schemas.openxmlformats.org/drawingml/2006/table">
            <a:tbl>
              <a:tblPr firstRow="1" bandRow="1"/>
              <a:tblGrid>
                <a:gridCol w="2551176"/>
                <a:gridCol w="1700784"/>
              </a:tblGrid>
              <a:tr h="201930">
                <a:tc>
                  <a:txBody>
                    <a:bodyPr lIns="55000" rIns="55000" tIns="32000" bIns="32000" anchor="ctr"/>
                    <a:lstStyle/>
                    <a:p>
                      <a:pPr algn="l">
                        <a:buNone/>
                      </a:pPr>
                      <a:r>
                        <a:rPr lang="en-US" sz="890" b="1" dirty="0">
                          <a:solidFill>
                            <a:srgbClr val="FFFFFF"/>
                          </a:solidFill>
                          <a:latin typeface="Calibri"/>
                        </a:rPr>
                        <a:t>Model Quantity / Evaluation Metric</a:t>
                      </a:r>
                    </a:p>
                  </a:txBody>
                  <a:tcPr>
                    <a:lnL w="6350">
                      <a:solidFill>
                        <a:srgbClr val="CBD5E1"/>
                      </a:solidFill>
                    </a:lnL>
                    <a:lnR w="6350">
                      <a:solidFill>
                        <a:srgbClr val="CBD5E1"/>
                      </a:solidFill>
                    </a:lnR>
                    <a:lnT w="6350">
                      <a:solidFill>
                        <a:srgbClr val="CBD5E1"/>
                      </a:solidFill>
                    </a:lnT>
                    <a:lnB w="6350">
                      <a:solidFill>
                        <a:srgbClr val="CBD5E1"/>
                      </a:solidFill>
                    </a:lnB>
                    <a:solidFill>
                      <a:srgbClr val="1B365D"/>
                    </a:solidFill>
                  </a:tcPr>
                </a:tc>
                <a:tc>
                  <a:txBody>
                    <a:bodyPr lIns="55000" rIns="55000" tIns="32000" bIns="32000" anchor="ctr"/>
                    <a:lstStyle/>
                    <a:p>
                      <a:pPr algn="ctr">
                        <a:buNone/>
                      </a:pPr>
                      <a:r>
                        <a:rPr lang="en-US" sz="890" b="1" dirty="0">
                          <a:solidFill>
                            <a:srgbClr val="FFFFFF"/>
                          </a:solidFill>
                          <a:latin typeface="Calibri"/>
                        </a:rPr>
                        <a:t>Verified Value</a:t>
                      </a:r>
                    </a:p>
                  </a:txBody>
                  <a:tcPr>
                    <a:lnL w="6350">
                      <a:solidFill>
                        <a:srgbClr val="CBD5E1"/>
                      </a:solidFill>
                    </a:lnL>
                    <a:lnR w="6350">
                      <a:solidFill>
                        <a:srgbClr val="CBD5E1"/>
                      </a:solidFill>
                    </a:lnR>
                    <a:lnT w="6350">
                      <a:solidFill>
                        <a:srgbClr val="CBD5E1"/>
                      </a:solidFill>
                    </a:lnT>
                    <a:lnB w="6350">
                      <a:solidFill>
                        <a:srgbClr val="CBD5E1"/>
                      </a:solidFill>
                    </a:lnB>
                    <a:solidFill>
                      <a:srgbClr val="1B365D"/>
                    </a:solidFill>
                  </a:tcPr>
                </a:tc>
              </a:tr>
              <a:tr h="201930">
                <a:tc>
                  <a:txBody>
                    <a:bodyPr lIns="55000" rIns="55000" tIns="32000" bIns="32000" anchor="ctr"/>
                    <a:lstStyle/>
                    <a:p>
                      <a:pPr algn="l">
                        <a:buNone/>
                      </a:pPr>
                      <a:r>
                        <a:rPr lang="en-US" sz="840" b="1" dirty="0">
                          <a:solidFill>
                            <a:srgbClr val="1E293B"/>
                          </a:solidFill>
                          <a:latin typeface="Calibri"/>
                        </a:rPr>
                        <a:t>All Valid (DO, BOD) Pairs in Cleaned CPCB</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l">
                        <a:buNone/>
                      </a:pPr>
                      <a:r>
                        <a:rPr lang="en-US" sz="840" b="0" dirty="0">
                          <a:solidFill>
                            <a:srgbClr val="1E293B"/>
                          </a:solidFill>
                          <a:latin typeface="Calibri"/>
                        </a:rPr>
                        <a:t>80,223 observations</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201930">
                <a:tc>
                  <a:txBody>
                    <a:bodyPr lIns="55000" rIns="55000" tIns="32000" bIns="32000" anchor="ctr"/>
                    <a:lstStyle/>
                    <a:p>
                      <a:pPr algn="l">
                        <a:buNone/>
                      </a:pPr>
                      <a:r>
                        <a:rPr lang="en-US" sz="840" b="1" dirty="0">
                          <a:solidFill>
                            <a:srgbClr val="1E293B"/>
                          </a:solidFill>
                          <a:latin typeface="Calibri"/>
                        </a:rPr>
                        <a:t>Retained Pairs (Analytical Cutoff BOD &lt;= 50)</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l">
                        <a:buNone/>
                      </a:pPr>
                      <a:r>
                        <a:rPr lang="en-US" sz="840" b="0" dirty="0">
                          <a:solidFill>
                            <a:srgbClr val="1E293B"/>
                          </a:solidFill>
                          <a:latin typeface="Calibri"/>
                        </a:rPr>
                        <a:t>79,867 (99.56% of valid pairs)</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r>
              <a:tr h="201930">
                <a:tc>
                  <a:txBody>
                    <a:bodyPr lIns="55000" rIns="55000" tIns="32000" bIns="32000" anchor="ctr"/>
                    <a:lstStyle/>
                    <a:p>
                      <a:pPr algn="l">
                        <a:buNone/>
                      </a:pPr>
                      <a:r>
                        <a:rPr lang="en-US" sz="840" b="1" dirty="0">
                          <a:solidFill>
                            <a:srgbClr val="1E293B"/>
                          </a:solidFill>
                          <a:latin typeface="Calibri"/>
                        </a:rPr>
                        <a:t>Excluded Extreme Pairs (BOD &gt; 50 mg/L)</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l">
                        <a:buNone/>
                      </a:pPr>
                      <a:r>
                        <a:rPr lang="en-US" sz="840" b="0" dirty="0">
                          <a:solidFill>
                            <a:srgbClr val="1E293B"/>
                          </a:solidFill>
                          <a:latin typeface="Calibri"/>
                        </a:rPr>
                        <a:t>356 (0.44%, BOD 51–486 mg/L)</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201930">
                <a:tc>
                  <a:txBody>
                    <a:bodyPr lIns="55000" rIns="55000" tIns="32000" bIns="32000" anchor="ctr"/>
                    <a:lstStyle/>
                    <a:p>
                      <a:pPr algn="l">
                        <a:buNone/>
                      </a:pPr>
                      <a:r>
                        <a:rPr lang="en-US" sz="840" b="1" dirty="0">
                          <a:solidFill>
                            <a:srgbClr val="1E293B"/>
                          </a:solidFill>
                          <a:latin typeface="Calibri"/>
                        </a:rPr>
                        <a:t>Training Set Size (80%, set.seed(513))</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l">
                        <a:buNone/>
                      </a:pPr>
                      <a:r>
                        <a:rPr lang="en-US" sz="840" b="0" dirty="0">
                          <a:solidFill>
                            <a:srgbClr val="1E293B"/>
                          </a:solidFill>
                          <a:latin typeface="Calibri"/>
                        </a:rPr>
                        <a:t>63,893 observations</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r>
              <a:tr h="201930">
                <a:tc>
                  <a:txBody>
                    <a:bodyPr lIns="55000" rIns="55000" tIns="32000" bIns="32000" anchor="ctr"/>
                    <a:lstStyle/>
                    <a:p>
                      <a:pPr algn="l">
                        <a:buNone/>
                      </a:pPr>
                      <a:r>
                        <a:rPr lang="en-US" sz="840" b="1" dirty="0">
                          <a:solidFill>
                            <a:srgbClr val="1E293B"/>
                          </a:solidFill>
                          <a:latin typeface="Calibri"/>
                        </a:rPr>
                        <a:t>Testing Set Size (20%, held-out)</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l">
                        <a:buNone/>
                      </a:pPr>
                      <a:r>
                        <a:rPr lang="en-US" sz="840" b="0" dirty="0">
                          <a:solidFill>
                            <a:srgbClr val="1E293B"/>
                          </a:solidFill>
                          <a:latin typeface="Calibri"/>
                        </a:rPr>
                        <a:t>15,974 observations</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201930">
                <a:tc>
                  <a:txBody>
                    <a:bodyPr lIns="55000" rIns="55000" tIns="32000" bIns="32000" anchor="ctr"/>
                    <a:lstStyle/>
                    <a:p>
                      <a:pPr algn="l">
                        <a:buNone/>
                      </a:pPr>
                      <a:r>
                        <a:rPr lang="en-US" sz="840" b="1" dirty="0">
                          <a:solidFill>
                            <a:srgbClr val="1E293B"/>
                          </a:solidFill>
                          <a:latin typeface="Calibri"/>
                        </a:rPr>
                        <a:t>Intercept (β₀) [Baseline DO at BOD = 0]</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l">
                        <a:buNone/>
                      </a:pPr>
                      <a:r>
                        <a:rPr lang="en-US" sz="840" b="0" dirty="0">
                          <a:solidFill>
                            <a:srgbClr val="1E293B"/>
                          </a:solidFill>
                          <a:latin typeface="Calibri"/>
                        </a:rPr>
                        <a:t>7.0745 mg/L (p &lt; 2e-16)</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r>
              <a:tr h="201930">
                <a:tc>
                  <a:txBody>
                    <a:bodyPr lIns="55000" rIns="55000" tIns="32000" bIns="32000" anchor="ctr"/>
                    <a:lstStyle/>
                    <a:p>
                      <a:pPr algn="l">
                        <a:buNone/>
                      </a:pPr>
                      <a:r>
                        <a:rPr lang="en-US" sz="840" b="1" dirty="0">
                          <a:solidFill>
                            <a:srgbClr val="1E293B"/>
                          </a:solidFill>
                          <a:latin typeface="Calibri"/>
                        </a:rPr>
                        <a:t>Slope (β₁) [DO change per +1 mg/L BOD]</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l">
                        <a:buNone/>
                      </a:pPr>
                      <a:r>
                        <a:rPr lang="en-US" sz="840" b="0" dirty="0">
                          <a:solidFill>
                            <a:srgbClr val="1E293B"/>
                          </a:solidFill>
                          <a:latin typeface="Calibri"/>
                        </a:rPr>
                        <a:t>-0.1784 mg/L (t = -145.9)</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201930">
                <a:tc>
                  <a:txBody>
                    <a:bodyPr lIns="55000" rIns="55000" tIns="32000" bIns="32000" anchor="ctr"/>
                    <a:lstStyle/>
                    <a:p>
                      <a:pPr algn="l">
                        <a:buNone/>
                      </a:pPr>
                      <a:r>
                        <a:rPr lang="en-US" sz="840" b="1" dirty="0">
                          <a:solidFill>
                            <a:srgbClr val="1E293B"/>
                          </a:solidFill>
                          <a:latin typeface="Calibri"/>
                        </a:rPr>
                        <a:t>Training Set R-squared (R²)</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l">
                        <a:buNone/>
                      </a:pPr>
                      <a:r>
                        <a:rPr lang="en-US" sz="840" b="0" dirty="0">
                          <a:solidFill>
                            <a:srgbClr val="1E293B"/>
                          </a:solidFill>
                          <a:latin typeface="Calibri"/>
                        </a:rPr>
                        <a:t>0.2499 (24.99% variance)</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r>
              <a:tr h="201930">
                <a:tc>
                  <a:txBody>
                    <a:bodyPr lIns="55000" rIns="55000" tIns="32000" bIns="32000" anchor="ctr"/>
                    <a:lstStyle/>
                    <a:p>
                      <a:pPr algn="l">
                        <a:buNone/>
                      </a:pPr>
                      <a:r>
                        <a:rPr lang="en-US" sz="840" b="1" dirty="0">
                          <a:solidFill>
                            <a:srgbClr val="1E293B"/>
                          </a:solidFill>
                          <a:latin typeface="Calibri"/>
                        </a:rPr>
                        <a:t>Test Set R-squared (R²)</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l">
                        <a:buNone/>
                      </a:pPr>
                      <a:r>
                        <a:rPr lang="en-US" sz="840" b="0" dirty="0">
                          <a:solidFill>
                            <a:srgbClr val="1E293B"/>
                          </a:solidFill>
                          <a:latin typeface="Calibri"/>
                        </a:rPr>
                        <a:t>0.2370 (23.70% variance)</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201930">
                <a:tc>
                  <a:txBody>
                    <a:bodyPr lIns="55000" rIns="55000" tIns="32000" bIns="32000" anchor="ctr"/>
                    <a:lstStyle/>
                    <a:p>
                      <a:pPr algn="l">
                        <a:buNone/>
                      </a:pPr>
                      <a:r>
                        <a:rPr lang="en-US" sz="840" b="1" dirty="0">
                          <a:solidFill>
                            <a:srgbClr val="1E293B"/>
                          </a:solidFill>
                          <a:latin typeface="Calibri"/>
                        </a:rPr>
                        <a:t>Test Set RMSE (Root Mean Squared Error)</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ctr">
                        <a:buNone/>
                      </a:pPr>
                      <a:r>
                        <a:rPr lang="en-US" sz="840" b="0" dirty="0">
                          <a:solidFill>
                            <a:srgbClr val="1E293B"/>
                          </a:solidFill>
                          <a:latin typeface="Calibri"/>
                        </a:rPr>
                        <a:t>1.6508 mg/L</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r>
              <a:tr h="201930">
                <a:tc>
                  <a:txBody>
                    <a:bodyPr lIns="55000" rIns="55000" tIns="32000" bIns="32000" anchor="ctr"/>
                    <a:lstStyle/>
                    <a:p>
                      <a:pPr algn="l">
                        <a:buNone/>
                      </a:pPr>
                      <a:r>
                        <a:rPr lang="en-US" sz="840" b="1" dirty="0">
                          <a:solidFill>
                            <a:srgbClr val="1E293B"/>
                          </a:solidFill>
                          <a:latin typeface="Calibri"/>
                        </a:rPr>
                        <a:t>Test Set MAE (Mean Absolute Error)</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ctr">
                        <a:buNone/>
                      </a:pPr>
                      <a:r>
                        <a:rPr lang="en-US" sz="840" b="0" dirty="0">
                          <a:solidFill>
                            <a:srgbClr val="1E293B"/>
                          </a:solidFill>
                          <a:latin typeface="Calibri"/>
                        </a:rPr>
                        <a:t>1.1750 mg/L</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bl>
          </a:graphicData>
        </a:graphic>
      </p:graphicFrame>
      <p:sp>
        <p:nvSpPr>
          <p:cNvPr id="9" name="TextBox 9"/>
          <p:cNvSpPr txBox="1"/>
          <p:nvPr/>
        </p:nvSpPr>
        <p:spPr>
          <a:xfrm>
            <a:off x="4709160" y="868680"/>
            <a:ext cx="4114800" cy="2423160"/>
          </a:xfrm>
          <a:prstGeom prst="roundRect">
            <a:avLst>
              <a:gd name="adj" fmla="val 4000"/>
            </a:avLst>
          </a:prstGeom>
          <a:solidFill>
            <a:srgbClr val="F4F7FA"/>
          </a:solidFill>
          <a:ln w="12700">
            <a:solidFill>
              <a:srgbClr val="CBD5E1"/>
            </a:solidFill>
          </a:ln>
        </p:spPr>
        <p:txBody>
          <a:bodyPr wrap="square" lIns="73152" tIns="54864" rIns="73152" bIns="54864" anchor="t"/>
          <a:lstStyle/>
          <a:p>
            <a:pPr marL="0" indent="0" algn="l">
              <a:spcBef>
                <a:spcPts val="0"/>
              </a:spcBef>
              <a:spcAft>
                <a:spcPts val="500"/>
              </a:spcAft>
              <a:buNone/>
            </a:pPr>
            <a:r>
              <a:rPr lang="en-US" sz="1150" b="1" i="0" dirty="0">
                <a:solidFill>
                  <a:srgbClr val="1B365D"/>
                </a:solidFill>
                <a:latin typeface="Calibri"/>
                <a:cs typeface="Calibri"/>
              </a:rPr>
              <a:t>Understanding the Evaluation Metrics Simply</a:t>
            </a:r>
          </a:p>
          <a:p>
            <a:pPr marL="0" indent="0" algn="l">
              <a:spcBef>
                <a:spcPts val="0"/>
              </a:spcBef>
              <a:spcAft>
                <a:spcPts val="600"/>
              </a:spcAft>
              <a:buNone/>
            </a:pPr>
            <a:r>
              <a:rPr lang="en-US" sz="980" b="1" i="0" dirty="0">
                <a:solidFill>
                  <a:srgbClr val="D95F02"/>
                </a:solidFill>
                <a:latin typeface="Calibri"/>
                <a:cs typeface="Calibri"/>
              </a:rPr>
              <a:t>1. RMSE (1.6508 mg/L): </a:t>
            </a:r>
            <a:r>
              <a:rPr lang="en-US" sz="930" b="0" i="0" dirty="0">
                <a:solidFill>
                  <a:srgbClr val="1E293B"/>
                </a:solidFill>
                <a:latin typeface="Calibri"/>
                <a:cs typeface="Calibri"/>
              </a:rPr>
              <a:t>Root Mean Squared Error = sqrt(mean((actual - predicted)^2)). It measures the typical prediction error in mg/L, penalizing large errors more heavily.</a:t>
            </a:r>
          </a:p>
          <a:p>
            <a:pPr marL="0" indent="0" algn="l">
              <a:spcBef>
                <a:spcPts val="0"/>
              </a:spcBef>
              <a:spcAft>
                <a:spcPts val="600"/>
              </a:spcAft>
              <a:buNone/>
            </a:pPr>
            <a:r>
              <a:rPr lang="en-US" sz="980" b="1" i="0" dirty="0">
                <a:solidFill>
                  <a:srgbClr val="007A78"/>
                </a:solidFill>
                <a:latin typeface="Calibri"/>
                <a:cs typeface="Calibri"/>
              </a:rPr>
              <a:t>2. MAE (1.1750 mg/L): </a:t>
            </a:r>
            <a:r>
              <a:rPr lang="en-US" sz="930" b="0" i="0" dirty="0">
                <a:solidFill>
                  <a:srgbClr val="1E293B"/>
                </a:solidFill>
                <a:latin typeface="Calibri"/>
                <a:cs typeface="Calibri"/>
              </a:rPr>
              <a:t>Mean Absolute Error = mean(abs(actual - predicted)). On average, our linear prediction differs from actual test-set DO by 1.18 mg/L.</a:t>
            </a:r>
          </a:p>
          <a:p>
            <a:pPr marL="0" indent="0" algn="l">
              <a:spcBef>
                <a:spcPts val="0"/>
              </a:spcBef>
              <a:spcAft>
                <a:spcPts val="400"/>
              </a:spcAft>
              <a:buNone/>
            </a:pPr>
            <a:r>
              <a:rPr lang="en-US" sz="980" b="1" i="0" dirty="0">
                <a:solidFill>
                  <a:srgbClr val="1B365D"/>
                </a:solidFill>
                <a:latin typeface="Calibri"/>
                <a:cs typeface="Calibri"/>
              </a:rPr>
              <a:t>3. Test R-squared (0.2370): </a:t>
            </a:r>
            <a:r>
              <a:rPr lang="en-US" sz="930" b="0" i="0" dirty="0">
                <a:solidFill>
                  <a:srgbClr val="1E293B"/>
                </a:solidFill>
                <a:latin typeface="Calibri"/>
                <a:cs typeface="Calibri"/>
              </a:rPr>
              <a:t>Proportion of variance in test-set DO explained by BOD (23.70%). Because Test R² (0.2370) is very close to Train R² (0.2499), the model does not overfit.</a:t>
            </a:r>
          </a:p>
        </p:txBody>
      </p:sp>
      <p:sp>
        <p:nvSpPr>
          <p:cNvPr id="10" name="TextBox 10"/>
          <p:cNvSpPr txBox="1"/>
          <p:nvPr/>
        </p:nvSpPr>
        <p:spPr>
          <a:xfrm>
            <a:off x="320040" y="3401568"/>
            <a:ext cx="8503920" cy="1353312"/>
          </a:xfrm>
          <a:prstGeom prst="roundRect">
            <a:avLst>
              <a:gd name="adj" fmla="val 4000"/>
            </a:avLst>
          </a:prstGeom>
          <a:solidFill>
            <a:srgbClr val="E6F4F1"/>
          </a:solidFill>
          <a:ln w="12700">
            <a:solidFill>
              <a:srgbClr val="007A78"/>
            </a:solidFill>
          </a:ln>
        </p:spPr>
        <p:txBody>
          <a:bodyPr wrap="square" lIns="73152" tIns="54864" rIns="73152" bIns="54864" anchor="t"/>
          <a:lstStyle/>
          <a:p>
            <a:pPr marL="0" indent="0" algn="l">
              <a:spcBef>
                <a:spcPts val="0"/>
              </a:spcBef>
              <a:spcAft>
                <a:spcPts val="400"/>
              </a:spcAft>
              <a:buNone/>
            </a:pPr>
            <a:r>
              <a:rPr lang="en-US" sz="1100" b="1" i="0" dirty="0">
                <a:solidFill>
                  <a:srgbClr val="007A78"/>
                </a:solidFill>
                <a:latin typeface="Calibri"/>
                <a:cs typeface="Calibri"/>
              </a:rPr>
              <a:t>What the Slope (-0.1784) and Metrics Mean in Practice</a:t>
            </a:r>
          </a:p>
          <a:p>
            <a:pPr marL="190500" indent="-142875" algn="l">
              <a:spcBef>
                <a:spcPts val="0"/>
              </a:spcBef>
              <a:spcAft>
                <a:spcPts val="300"/>
              </a:spcAft>
              <a:buFont typeface="Arial"/>
              <a:buChar char="•"/>
            </a:pPr>
            <a:r>
              <a:rPr lang="en-US" sz="930" b="0" i="0" dirty="0">
                <a:solidFill>
                  <a:srgbClr val="1E293B"/>
                </a:solidFill>
                <a:latin typeface="Calibri"/>
                <a:cs typeface="Calibri"/>
              </a:rPr>
              <a:t>Physical Meaning of Slope: Each 1 mg/L increase in BOD is associated with an average decrease of 0.1784 mg/L in Dissolved Oxygen. When BOD reaches ~17.2 mg/L, predicted DO falls below the CPCB Class C threshold of 4.0 mg/L.</a:t>
            </a:r>
          </a:p>
          <a:p>
            <a:pPr marL="190500" indent="-142875" algn="l">
              <a:spcBef>
                <a:spcPts val="0"/>
              </a:spcBef>
              <a:spcAft>
                <a:spcPts val="400"/>
              </a:spcAft>
              <a:buFont typeface="Arial"/>
              <a:buChar char="•"/>
            </a:pPr>
            <a:r>
              <a:rPr lang="en-US" sz="930" b="0" i="0" dirty="0">
                <a:solidFill>
                  <a:srgbClr val="1E293B"/>
                </a:solidFill>
                <a:latin typeface="Calibri"/>
                <a:cs typeface="Calibri"/>
              </a:rPr>
              <a:t>Honest Assessment of Accuracy: A Test R² of 0.2370 and RMSE of 1.6508 mg/L represent modest predictive accuracy. BOD alone captures ~23.7% of DO variation, while the remaining ~76.3% depends on water temperature, flow turbulence/re-aeration, salinity, and photosynthesis.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2"/>
          <p:cNvSpPr/>
          <p:nvPr/>
        </p:nvSpPr>
        <p:spPr>
          <a:xfrm>
            <a:off x="0" y="0"/>
            <a:ext cx="9144000" cy="713232"/>
          </a:xfrm>
          <a:prstGeom prst="rect">
            <a:avLst/>
          </a:prstGeom>
          <a:solidFill>
            <a:srgbClr val="1B365D"/>
          </a:solidFill>
          <a:ln>
            <a:noFill/>
          </a:ln>
        </p:spPr>
      </p:sp>
      <p:sp>
        <p:nvSpPr>
          <p:cNvPr id="3" name="Rect 3"/>
          <p:cNvSpPr/>
          <p:nvPr/>
        </p:nvSpPr>
        <p:spPr>
          <a:xfrm>
            <a:off x="0" y="713232"/>
            <a:ext cx="9144000" cy="36576"/>
          </a:xfrm>
          <a:prstGeom prst="rect">
            <a:avLst/>
          </a:prstGeom>
          <a:solidFill>
            <a:srgbClr val="007A78"/>
          </a:solidFill>
          <a:ln>
            <a:noFill/>
          </a:ln>
        </p:spPr>
      </p:sp>
      <p:sp>
        <p:nvSpPr>
          <p:cNvPr id="4" name="TextBox 4"/>
          <p:cNvSpPr txBox="1"/>
          <p:nvPr/>
        </p:nvSpPr>
        <p:spPr>
          <a:xfrm>
            <a:off x="320040" y="54864"/>
            <a:ext cx="8503920" cy="621792"/>
          </a:xfrm>
          <a:prstGeom prst="rect">
            <a:avLst/>
          </a:prstGeom>
          <a:noFill/>
          <a:ln>
            <a:noFill/>
          </a:ln>
        </p:spPr>
        <p:txBody>
          <a:bodyPr wrap="square" lIns="18288" tIns="18288" rIns="18288" bIns="18288" anchor="t"/>
          <a:lstStyle/>
          <a:p>
            <a:pPr marL="0" indent="0" algn="l">
              <a:spcBef>
                <a:spcPts val="0"/>
              </a:spcBef>
              <a:spcAft>
                <a:spcPts val="100"/>
              </a:spcAft>
              <a:buNone/>
            </a:pPr>
            <a:r>
              <a:rPr lang="en-US" sz="850" b="1" i="0" dirty="0">
                <a:solidFill>
                  <a:srgbClr val="7FD4D2"/>
                </a:solidFill>
                <a:latin typeface="Calibri"/>
                <a:cs typeface="Calibri"/>
              </a:rPr>
              <a:t>SECTION 6  |  VISUAL MODEL DIAGNOSTICS</a:t>
            </a:r>
          </a:p>
          <a:p>
            <a:pPr marL="0" indent="0" algn="l">
              <a:spcBef>
                <a:spcPts val="0"/>
              </a:spcBef>
              <a:spcAft>
                <a:spcPts val="100"/>
              </a:spcAft>
              <a:buNone/>
            </a:pPr>
            <a:r>
              <a:rPr lang="en-US" sz="1750" b="1" i="0" dirty="0">
                <a:solidFill>
                  <a:srgbClr val="FFFFFF"/>
                </a:solidFill>
                <a:latin typeface="Calibri"/>
                <a:cs typeface="Calibri"/>
              </a:rPr>
              <a:t>Test Set Evaluation: Actual vs. Predicted Dissolved Oxygen</a:t>
            </a:r>
          </a:p>
          <a:p>
            <a:pPr marL="0" indent="0" algn="l">
              <a:spcBef>
                <a:spcPts val="0"/>
              </a:spcBef>
              <a:spcAft>
                <a:spcPts val="0"/>
              </a:spcAft>
              <a:buNone/>
            </a:pPr>
            <a:r>
              <a:rPr lang="en-US" sz="950" b="0" i="1" dirty="0">
                <a:solidFill>
                  <a:srgbClr val="DCE6F1"/>
                </a:solidFill>
                <a:latin typeface="Calibri"/>
                <a:cs typeface="Calibri"/>
              </a:rPr>
              <a:t>Visualizing predictions across the 15,974 held-out test observations against the 1:1 reference line</a:t>
            </a:r>
          </a:p>
        </p:txBody>
      </p:sp>
      <p:sp>
        <p:nvSpPr>
          <p:cNvPr id="5" name="Rect 5"/>
          <p:cNvSpPr/>
          <p:nvPr/>
        </p:nvSpPr>
        <p:spPr>
          <a:xfrm>
            <a:off x="0" y="4864608"/>
            <a:ext cx="9144000" cy="278892"/>
          </a:xfrm>
          <a:prstGeom prst="rect">
            <a:avLst/>
          </a:prstGeom>
          <a:solidFill>
            <a:srgbClr val="EEF2F6"/>
          </a:solidFill>
          <a:ln>
            <a:noFill/>
          </a:ln>
        </p:spPr>
      </p:sp>
      <p:sp>
        <p:nvSpPr>
          <p:cNvPr id="6" name="TextBox 6"/>
          <p:cNvSpPr txBox="1"/>
          <p:nvPr/>
        </p:nvSpPr>
        <p:spPr>
          <a:xfrm>
            <a:off x="320040" y="4882896"/>
            <a:ext cx="6858000" cy="228600"/>
          </a:xfrm>
          <a:prstGeom prst="rect">
            <a:avLst/>
          </a:prstGeom>
          <a:noFill/>
          <a:ln>
            <a:noFill/>
          </a:ln>
        </p:spPr>
        <p:txBody>
          <a:bodyPr wrap="square" lIns="0" tIns="18288" rIns="0" bIns="0" anchor="t"/>
          <a:lstStyle/>
          <a:p>
            <a:pPr marL="0" indent="0" algn="l">
              <a:spcBef>
                <a:spcPts val="0"/>
              </a:spcBef>
              <a:spcAft>
                <a:spcPts val="400"/>
              </a:spcAft>
              <a:buNone/>
            </a:pPr>
            <a:r>
              <a:rPr lang="en-US" sz="850" b="0" i="0" dirty="0">
                <a:solidFill>
                  <a:srgbClr val="475569"/>
                </a:solidFill>
                <a:latin typeface="Calibri"/>
                <a:cs typeface="Calibri"/>
              </a:rPr>
              <a:t>Emmanuel Jobin (2026EMAI20054)  |  DSC 513: Introduction to Data Science  |  IIIT Kottayam</a:t>
            </a:r>
          </a:p>
        </p:txBody>
      </p:sp>
      <p:sp>
        <p:nvSpPr>
          <p:cNvPr id="7" name="TextBox 7"/>
          <p:cNvSpPr txBox="1"/>
          <p:nvPr/>
        </p:nvSpPr>
        <p:spPr>
          <a:xfrm>
            <a:off x="7315200" y="4882896"/>
            <a:ext cx="1508760" cy="228600"/>
          </a:xfrm>
          <a:prstGeom prst="rect">
            <a:avLst/>
          </a:prstGeom>
          <a:noFill/>
          <a:ln>
            <a:noFill/>
          </a:ln>
        </p:spPr>
        <p:txBody>
          <a:bodyPr wrap="square" lIns="0" tIns="18288" rIns="0" bIns="0" anchor="t"/>
          <a:lstStyle/>
          <a:p>
            <a:pPr marL="0" indent="0" algn="r">
              <a:spcBef>
                <a:spcPts val="0"/>
              </a:spcBef>
              <a:spcAft>
                <a:spcPts val="400"/>
              </a:spcAft>
              <a:buNone/>
            </a:pPr>
            <a:r>
              <a:rPr lang="en-US" sz="850" b="1" i="0" dirty="0">
                <a:solidFill>
                  <a:srgbClr val="1B365D"/>
                </a:solidFill>
                <a:latin typeface="Calibri"/>
                <a:cs typeface="Calibri"/>
              </a:rPr>
              <a:t>Slide 15 of 18</a:t>
            </a:r>
          </a:p>
        </p:txBody>
      </p:sp>
      <p:sp>
        <p:nvSpPr>
          <p:cNvPr id="8" name="Rect 8"/>
          <p:cNvSpPr/>
          <p:nvPr/>
        </p:nvSpPr>
        <p:spPr>
          <a:xfrm>
            <a:off x="292608" y="1122998"/>
            <a:ext cx="4946904" cy="3112389"/>
          </a:xfrm>
          <a:prstGeom prst="rect">
            <a:avLst/>
          </a:prstGeom>
          <a:solidFill>
            <a:srgbClr val="FFFFFF"/>
          </a:solidFill>
          <a:ln w="9525">
            <a:solidFill>
              <a:srgbClr val="CBD5E1"/>
            </a:solidFill>
          </a:ln>
        </p:spPr>
      </p:sp>
      <p:pic>
        <p:nvPicPr>
          <p:cNvPr id="9" name="Picture 9" descr="12_linear_regression_actual_vs_predicted.png"/>
          <p:cNvPicPr>
            <a:picLocks noGrp="1" noChangeAspect="1"/>
          </p:cNvPicPr>
          <p:nvPr/>
        </p:nvPicPr>
        <p:blipFill>
          <a:blip r:embed="rId3"/>
          <a:stretch>
            <a:fillRect/>
          </a:stretch>
        </p:blipFill>
        <p:spPr bwMode="auto">
          <a:xfrm>
            <a:off x="320040" y="1150430"/>
            <a:ext cx="4892040" cy="3057525"/>
          </a:xfrm>
          <a:prstGeom prst="rect">
            <a:avLst/>
          </a:prstGeom>
          <a:noFill/>
        </p:spPr>
      </p:pic>
      <p:sp>
        <p:nvSpPr>
          <p:cNvPr id="10" name="TextBox 10"/>
          <p:cNvSpPr txBox="1"/>
          <p:nvPr/>
        </p:nvSpPr>
        <p:spPr>
          <a:xfrm>
            <a:off x="320040" y="4244530"/>
            <a:ext cx="4892040" cy="201168"/>
          </a:xfrm>
          <a:prstGeom prst="rect">
            <a:avLst/>
          </a:prstGeom>
          <a:noFill/>
          <a:ln>
            <a:noFill/>
          </a:ln>
        </p:spPr>
        <p:txBody>
          <a:bodyPr wrap="square" lIns="18288" tIns="9144" rIns="18288" bIns="9144" anchor="t"/>
          <a:lstStyle/>
          <a:p>
            <a:pPr marL="0" indent="0" algn="ctr">
              <a:spcBef>
                <a:spcPts val="0"/>
              </a:spcBef>
              <a:spcAft>
                <a:spcPts val="400"/>
              </a:spcAft>
              <a:buNone/>
            </a:pPr>
            <a:r>
              <a:rPr lang="en-US" sz="850" b="0" i="1" dirty="0">
                <a:solidFill>
                  <a:srgbClr val="475569"/>
                </a:solidFill>
                <a:latin typeface="Calibri"/>
                <a:cs typeface="Calibri"/>
              </a:rPr>
              <a:t>Figure 12: Actual vs. Predicted DO on the 20% Test Set (N = 15,974, RMSE = 1.65 mg/L, R² = 0.24)</a:t>
            </a:r>
          </a:p>
        </p:txBody>
      </p:sp>
      <p:sp>
        <p:nvSpPr>
          <p:cNvPr id="11" name="TextBox 11"/>
          <p:cNvSpPr txBox="1"/>
          <p:nvPr/>
        </p:nvSpPr>
        <p:spPr>
          <a:xfrm>
            <a:off x="5349240" y="868680"/>
            <a:ext cx="3474720" cy="3840480"/>
          </a:xfrm>
          <a:prstGeom prst="roundRect">
            <a:avLst>
              <a:gd name="adj" fmla="val 4000"/>
            </a:avLst>
          </a:prstGeom>
          <a:solidFill>
            <a:srgbClr val="F4F7FA"/>
          </a:solidFill>
          <a:ln w="12700">
            <a:solidFill>
              <a:srgbClr val="CBD5E1"/>
            </a:solidFill>
          </a:ln>
        </p:spPr>
        <p:txBody>
          <a:bodyPr wrap="square" lIns="73152" tIns="54864" rIns="73152" bIns="54864" anchor="t"/>
          <a:lstStyle/>
          <a:p>
            <a:pPr marL="0" indent="0" algn="l">
              <a:spcBef>
                <a:spcPts val="0"/>
              </a:spcBef>
              <a:spcAft>
                <a:spcPts val="600"/>
              </a:spcAft>
              <a:buNone/>
            </a:pPr>
            <a:r>
              <a:rPr lang="en-US" sz="1150" b="1" i="0" dirty="0">
                <a:solidFill>
                  <a:srgbClr val="1B365D"/>
                </a:solidFill>
                <a:latin typeface="Calibri"/>
                <a:cs typeface="Calibri"/>
              </a:rPr>
              <a:t>How to Read This Diagnostic Plot</a:t>
            </a:r>
          </a:p>
          <a:p>
            <a:pPr marL="190500" indent="-142875" algn="l">
              <a:spcBef>
                <a:spcPts val="0"/>
              </a:spcBef>
              <a:spcAft>
                <a:spcPts val="600"/>
              </a:spcAft>
              <a:buFont typeface="Arial"/>
              <a:buChar char="•"/>
            </a:pPr>
            <a:r>
              <a:rPr lang="en-US" sz="930" b="0" i="0" dirty="0">
                <a:solidFill>
                  <a:srgbClr val="1E293B"/>
                </a:solidFill>
                <a:latin typeface="Calibri"/>
                <a:cs typeface="Calibri"/>
              </a:rPr>
              <a:t>1. The 1:1 Reference Line (Dashed Orange): Represents perfect prediction (Predicted DO = Actual DO). Points lying close to this diagonal line are accurately predicted by the model.</a:t>
            </a:r>
          </a:p>
          <a:p>
            <a:pPr marL="190500" indent="-142875" algn="l">
              <a:spcBef>
                <a:spcPts val="0"/>
              </a:spcBef>
              <a:spcAft>
                <a:spcPts val="600"/>
              </a:spcAft>
              <a:buFont typeface="Arial"/>
              <a:buChar char="•"/>
            </a:pPr>
            <a:r>
              <a:rPr lang="en-US" sz="930" b="0" i="0" dirty="0">
                <a:solidFill>
                  <a:srgbClr val="1E293B"/>
                </a:solidFill>
                <a:latin typeface="Calibri"/>
                <a:cs typeface="Calibri"/>
              </a:rPr>
              <a:t>2. Dense Cluster Around 6.0–7.1 mg/L: Most Indian surface waters have low BOD (1–3 mg/L) and actual DO between 6 and 8 mg/L, where the points cluster tightly around the 1:1 line.</a:t>
            </a:r>
          </a:p>
          <a:p>
            <a:pPr marL="190500" indent="-142875" algn="l">
              <a:spcBef>
                <a:spcPts val="0"/>
              </a:spcBef>
              <a:spcAft>
                <a:spcPts val="600"/>
              </a:spcAft>
              <a:buFont typeface="Arial"/>
              <a:buChar char="•"/>
            </a:pPr>
            <a:r>
              <a:rPr lang="en-US" sz="930" b="0" i="0" dirty="0">
                <a:solidFill>
                  <a:srgbClr val="1E293B"/>
                </a:solidFill>
                <a:latin typeface="Calibri"/>
                <a:cs typeface="Calibri"/>
              </a:rPr>
              <a:t>3. Why Predictions Cap at 7.07 mg/L (Horizontal Upper Ceiling): Because BOD &gt;= 0 and the slope (-0.1784) is negative, the equation 7.0745 - 0.1784 * BOD can never predict a value higher than its intercept (7.0745 mg/L). Actual DO values between 8 and 15 mg/L (caused by cold water or algal photosynthesis) lie to the right of the line.</a:t>
            </a:r>
          </a:p>
          <a:p>
            <a:pPr marL="190500" indent="-142875" algn="l">
              <a:spcBef>
                <a:spcPts val="0"/>
              </a:spcBef>
              <a:spcAft>
                <a:spcPts val="400"/>
              </a:spcAft>
              <a:buFont typeface="Arial"/>
              <a:buChar char="•"/>
            </a:pPr>
            <a:r>
              <a:rPr lang="en-US" sz="930" b="0" i="0" dirty="0">
                <a:solidFill>
                  <a:srgbClr val="1E293B"/>
                </a:solidFill>
                <a:latin typeface="Calibri"/>
                <a:cs typeface="Calibri"/>
              </a:rPr>
              <a:t>4. Scatter in Polluted Waters (DO &lt; 4 mg/L): While higher BOD correctly pulls predicted DO downward along the diagonal, vertical spread reflects unmodeled local re-aeration.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2"/>
          <p:cNvSpPr/>
          <p:nvPr/>
        </p:nvSpPr>
        <p:spPr>
          <a:xfrm>
            <a:off x="0" y="0"/>
            <a:ext cx="9144000" cy="713232"/>
          </a:xfrm>
          <a:prstGeom prst="rect">
            <a:avLst/>
          </a:prstGeom>
          <a:solidFill>
            <a:srgbClr val="1B365D"/>
          </a:solidFill>
          <a:ln>
            <a:noFill/>
          </a:ln>
        </p:spPr>
      </p:sp>
      <p:sp>
        <p:nvSpPr>
          <p:cNvPr id="3" name="Rect 3"/>
          <p:cNvSpPr/>
          <p:nvPr/>
        </p:nvSpPr>
        <p:spPr>
          <a:xfrm>
            <a:off x="0" y="713232"/>
            <a:ext cx="9144000" cy="36576"/>
          </a:xfrm>
          <a:prstGeom prst="rect">
            <a:avLst/>
          </a:prstGeom>
          <a:solidFill>
            <a:srgbClr val="007A78"/>
          </a:solidFill>
          <a:ln>
            <a:noFill/>
          </a:ln>
        </p:spPr>
      </p:sp>
      <p:sp>
        <p:nvSpPr>
          <p:cNvPr id="4" name="TextBox 4"/>
          <p:cNvSpPr txBox="1"/>
          <p:nvPr/>
        </p:nvSpPr>
        <p:spPr>
          <a:xfrm>
            <a:off x="320040" y="54864"/>
            <a:ext cx="8503920" cy="621792"/>
          </a:xfrm>
          <a:prstGeom prst="rect">
            <a:avLst/>
          </a:prstGeom>
          <a:noFill/>
          <a:ln>
            <a:noFill/>
          </a:ln>
        </p:spPr>
        <p:txBody>
          <a:bodyPr wrap="square" lIns="18288" tIns="18288" rIns="18288" bIns="18288" anchor="t"/>
          <a:lstStyle/>
          <a:p>
            <a:pPr marL="0" indent="0" algn="l">
              <a:spcBef>
                <a:spcPts val="0"/>
              </a:spcBef>
              <a:spcAft>
                <a:spcPts val="100"/>
              </a:spcAft>
              <a:buNone/>
            </a:pPr>
            <a:r>
              <a:rPr lang="en-US" sz="850" b="1" i="0" dirty="0">
                <a:solidFill>
                  <a:srgbClr val="7FD4D2"/>
                </a:solidFill>
                <a:latin typeface="Calibri"/>
                <a:cs typeface="Calibri"/>
              </a:rPr>
              <a:t>SECTION 6  |  ROBUSTNESS &amp; METHODOLOGICAL RIGOR</a:t>
            </a:r>
          </a:p>
          <a:p>
            <a:pPr marL="0" indent="0" algn="l">
              <a:spcBef>
                <a:spcPts val="0"/>
              </a:spcBef>
              <a:spcAft>
                <a:spcPts val="100"/>
              </a:spcAft>
              <a:buNone/>
            </a:pPr>
            <a:r>
              <a:rPr lang="en-US" sz="1750" b="1" i="0" dirty="0">
                <a:solidFill>
                  <a:srgbClr val="FFFFFF"/>
                </a:solidFill>
                <a:latin typeface="Calibri"/>
                <a:cs typeface="Calibri"/>
              </a:rPr>
              <a:t>Sensitivity Checks and Model Limitations</a:t>
            </a:r>
          </a:p>
          <a:p>
            <a:pPr marL="0" indent="0" algn="l">
              <a:spcBef>
                <a:spcPts val="0"/>
              </a:spcBef>
              <a:spcAft>
                <a:spcPts val="0"/>
              </a:spcAft>
              <a:buNone/>
            </a:pPr>
            <a:r>
              <a:rPr lang="en-US" sz="950" b="0" i="1" dirty="0">
                <a:solidFill>
                  <a:srgbClr val="DCE6F1"/>
                </a:solidFill>
                <a:latin typeface="Calibri"/>
                <a:cs typeface="Calibri"/>
              </a:rPr>
              <a:t>Evaluating the BOD &lt;= 50 mg/L analytical cutoff and testing generalization to unseen stations</a:t>
            </a:r>
          </a:p>
        </p:txBody>
      </p:sp>
      <p:sp>
        <p:nvSpPr>
          <p:cNvPr id="5" name="Rect 5"/>
          <p:cNvSpPr/>
          <p:nvPr/>
        </p:nvSpPr>
        <p:spPr>
          <a:xfrm>
            <a:off x="0" y="4864608"/>
            <a:ext cx="9144000" cy="278892"/>
          </a:xfrm>
          <a:prstGeom prst="rect">
            <a:avLst/>
          </a:prstGeom>
          <a:solidFill>
            <a:srgbClr val="EEF2F6"/>
          </a:solidFill>
          <a:ln>
            <a:noFill/>
          </a:ln>
        </p:spPr>
      </p:sp>
      <p:sp>
        <p:nvSpPr>
          <p:cNvPr id="6" name="TextBox 6"/>
          <p:cNvSpPr txBox="1"/>
          <p:nvPr/>
        </p:nvSpPr>
        <p:spPr>
          <a:xfrm>
            <a:off x="320040" y="4882896"/>
            <a:ext cx="6858000" cy="228600"/>
          </a:xfrm>
          <a:prstGeom prst="rect">
            <a:avLst/>
          </a:prstGeom>
          <a:noFill/>
          <a:ln>
            <a:noFill/>
          </a:ln>
        </p:spPr>
        <p:txBody>
          <a:bodyPr wrap="square" lIns="0" tIns="18288" rIns="0" bIns="0" anchor="t"/>
          <a:lstStyle/>
          <a:p>
            <a:pPr marL="0" indent="0" algn="l">
              <a:spcBef>
                <a:spcPts val="0"/>
              </a:spcBef>
              <a:spcAft>
                <a:spcPts val="400"/>
              </a:spcAft>
              <a:buNone/>
            </a:pPr>
            <a:r>
              <a:rPr lang="en-US" sz="850" b="0" i="0" dirty="0">
                <a:solidFill>
                  <a:srgbClr val="475569"/>
                </a:solidFill>
                <a:latin typeface="Calibri"/>
                <a:cs typeface="Calibri"/>
              </a:rPr>
              <a:t>Emmanuel Jobin (2026EMAI20054)  |  DSC 513: Introduction to Data Science  |  IIIT Kottayam</a:t>
            </a:r>
          </a:p>
        </p:txBody>
      </p:sp>
      <p:sp>
        <p:nvSpPr>
          <p:cNvPr id="7" name="TextBox 7"/>
          <p:cNvSpPr txBox="1"/>
          <p:nvPr/>
        </p:nvSpPr>
        <p:spPr>
          <a:xfrm>
            <a:off x="7315200" y="4882896"/>
            <a:ext cx="1508760" cy="228600"/>
          </a:xfrm>
          <a:prstGeom prst="rect">
            <a:avLst/>
          </a:prstGeom>
          <a:noFill/>
          <a:ln>
            <a:noFill/>
          </a:ln>
        </p:spPr>
        <p:txBody>
          <a:bodyPr wrap="square" lIns="0" tIns="18288" rIns="0" bIns="0" anchor="t"/>
          <a:lstStyle/>
          <a:p>
            <a:pPr marL="0" indent="0" algn="r">
              <a:spcBef>
                <a:spcPts val="0"/>
              </a:spcBef>
              <a:spcAft>
                <a:spcPts val="400"/>
              </a:spcAft>
              <a:buNone/>
            </a:pPr>
            <a:r>
              <a:rPr lang="en-US" sz="850" b="1" i="0" dirty="0">
                <a:solidFill>
                  <a:srgbClr val="1B365D"/>
                </a:solidFill>
                <a:latin typeface="Calibri"/>
                <a:cs typeface="Calibri"/>
              </a:rPr>
              <a:t>Slide 16 of 18</a:t>
            </a:r>
          </a:p>
        </p:txBody>
      </p:sp>
      <p:graphicFrame>
        <p:nvGraphicFramePr>
          <p:cNvPr id="8" name="Table 8"/>
          <p:cNvGraphicFramePr>
            <a:graphicFrameLocks noGrp="1"/>
          </p:cNvGraphicFramePr>
          <p:nvPr/>
        </p:nvGraphicFramePr>
        <p:xfrm>
          <a:off x="320040" y="868680"/>
          <a:ext cx="8503920" cy="1691640"/>
        </p:xfrm>
        <a:graphic>
          <a:graphicData uri="http://schemas.openxmlformats.org/drawingml/2006/table">
            <a:tbl>
              <a:tblPr firstRow="1" bandRow="1"/>
              <a:tblGrid>
                <a:gridCol w="2721254"/>
                <a:gridCol w="680314"/>
                <a:gridCol w="680314"/>
                <a:gridCol w="765353"/>
                <a:gridCol w="680314"/>
                <a:gridCol w="680314"/>
                <a:gridCol w="680314"/>
                <a:gridCol w="850392"/>
                <a:gridCol w="765353"/>
              </a:tblGrid>
              <a:tr h="422910">
                <a:tc>
                  <a:txBody>
                    <a:bodyPr lIns="55000" rIns="55000" tIns="32000" bIns="32000" anchor="ctr"/>
                    <a:lstStyle/>
                    <a:p>
                      <a:pPr algn="l">
                        <a:buNone/>
                      </a:pPr>
                      <a:r>
                        <a:rPr lang="en-US" sz="890" b="1" dirty="0">
                          <a:solidFill>
                            <a:srgbClr val="FFFFFF"/>
                          </a:solidFill>
                          <a:latin typeface="Calibri"/>
                        </a:rPr>
                        <a:t>Model Specification (all with set.seed(513))</a:t>
                      </a:r>
                    </a:p>
                  </a:txBody>
                  <a:tcPr>
                    <a:lnL w="6350">
                      <a:solidFill>
                        <a:srgbClr val="CBD5E1"/>
                      </a:solidFill>
                    </a:lnL>
                    <a:lnR w="6350">
                      <a:solidFill>
                        <a:srgbClr val="CBD5E1"/>
                      </a:solidFill>
                    </a:lnR>
                    <a:lnT w="6350">
                      <a:solidFill>
                        <a:srgbClr val="CBD5E1"/>
                      </a:solidFill>
                    </a:lnT>
                    <a:lnB w="6350">
                      <a:solidFill>
                        <a:srgbClr val="CBD5E1"/>
                      </a:solidFill>
                    </a:lnB>
                    <a:solidFill>
                      <a:srgbClr val="1B365D"/>
                    </a:solidFill>
                  </a:tcPr>
                </a:tc>
                <a:tc>
                  <a:txBody>
                    <a:bodyPr lIns="55000" rIns="55000" tIns="32000" bIns="32000" anchor="ctr"/>
                    <a:lstStyle/>
                    <a:p>
                      <a:pPr algn="ctr">
                        <a:buNone/>
                      </a:pPr>
                      <a:r>
                        <a:rPr lang="en-US" sz="890" b="1" dirty="0">
                          <a:solidFill>
                            <a:srgbClr val="FFFFFF"/>
                          </a:solidFill>
                          <a:latin typeface="Calibri"/>
                        </a:rPr>
                        <a:t>Train N</a:t>
                      </a:r>
                    </a:p>
                  </a:txBody>
                  <a:tcPr>
                    <a:lnL w="6350">
                      <a:solidFill>
                        <a:srgbClr val="CBD5E1"/>
                      </a:solidFill>
                    </a:lnL>
                    <a:lnR w="6350">
                      <a:solidFill>
                        <a:srgbClr val="CBD5E1"/>
                      </a:solidFill>
                    </a:lnR>
                    <a:lnT w="6350">
                      <a:solidFill>
                        <a:srgbClr val="CBD5E1"/>
                      </a:solidFill>
                    </a:lnT>
                    <a:lnB w="6350">
                      <a:solidFill>
                        <a:srgbClr val="CBD5E1"/>
                      </a:solidFill>
                    </a:lnB>
                    <a:solidFill>
                      <a:srgbClr val="1B365D"/>
                    </a:solidFill>
                  </a:tcPr>
                </a:tc>
                <a:tc>
                  <a:txBody>
                    <a:bodyPr lIns="55000" rIns="55000" tIns="32000" bIns="32000" anchor="ctr"/>
                    <a:lstStyle/>
                    <a:p>
                      <a:pPr algn="ctr">
                        <a:buNone/>
                      </a:pPr>
                      <a:r>
                        <a:rPr lang="en-US" sz="890" b="1" dirty="0">
                          <a:solidFill>
                            <a:srgbClr val="FFFFFF"/>
                          </a:solidFill>
                          <a:latin typeface="Calibri"/>
                        </a:rPr>
                        <a:t>Test N</a:t>
                      </a:r>
                    </a:p>
                  </a:txBody>
                  <a:tcPr>
                    <a:lnL w="6350">
                      <a:solidFill>
                        <a:srgbClr val="CBD5E1"/>
                      </a:solidFill>
                    </a:lnL>
                    <a:lnR w="6350">
                      <a:solidFill>
                        <a:srgbClr val="CBD5E1"/>
                      </a:solidFill>
                    </a:lnR>
                    <a:lnT w="6350">
                      <a:solidFill>
                        <a:srgbClr val="CBD5E1"/>
                      </a:solidFill>
                    </a:lnT>
                    <a:lnB w="6350">
                      <a:solidFill>
                        <a:srgbClr val="CBD5E1"/>
                      </a:solidFill>
                    </a:lnB>
                    <a:solidFill>
                      <a:srgbClr val="1B365D"/>
                    </a:solidFill>
                  </a:tcPr>
                </a:tc>
                <a:tc>
                  <a:txBody>
                    <a:bodyPr lIns="55000" rIns="55000" tIns="32000" bIns="32000" anchor="ctr"/>
                    <a:lstStyle/>
                    <a:p>
                      <a:pPr algn="ctr">
                        <a:buNone/>
                      </a:pPr>
                      <a:r>
                        <a:rPr lang="en-US" sz="890" b="1" dirty="0">
                          <a:solidFill>
                            <a:srgbClr val="FFFFFF"/>
                          </a:solidFill>
                          <a:latin typeface="Calibri"/>
                        </a:rPr>
                        <a:t>Intercept (β₀)</a:t>
                      </a:r>
                    </a:p>
                  </a:txBody>
                  <a:tcPr>
                    <a:lnL w="6350">
                      <a:solidFill>
                        <a:srgbClr val="CBD5E1"/>
                      </a:solidFill>
                    </a:lnL>
                    <a:lnR w="6350">
                      <a:solidFill>
                        <a:srgbClr val="CBD5E1"/>
                      </a:solidFill>
                    </a:lnR>
                    <a:lnT w="6350">
                      <a:solidFill>
                        <a:srgbClr val="CBD5E1"/>
                      </a:solidFill>
                    </a:lnT>
                    <a:lnB w="6350">
                      <a:solidFill>
                        <a:srgbClr val="CBD5E1"/>
                      </a:solidFill>
                    </a:lnB>
                    <a:solidFill>
                      <a:srgbClr val="1B365D"/>
                    </a:solidFill>
                  </a:tcPr>
                </a:tc>
                <a:tc>
                  <a:txBody>
                    <a:bodyPr lIns="55000" rIns="55000" tIns="32000" bIns="32000" anchor="ctr"/>
                    <a:lstStyle/>
                    <a:p>
                      <a:pPr algn="ctr">
                        <a:buNone/>
                      </a:pPr>
                      <a:r>
                        <a:rPr lang="en-US" sz="890" b="1" dirty="0">
                          <a:solidFill>
                            <a:srgbClr val="FFFFFF"/>
                          </a:solidFill>
                          <a:latin typeface="Calibri"/>
                        </a:rPr>
                        <a:t>Slope (β₁)</a:t>
                      </a:r>
                    </a:p>
                  </a:txBody>
                  <a:tcPr>
                    <a:lnL w="6350">
                      <a:solidFill>
                        <a:srgbClr val="CBD5E1"/>
                      </a:solidFill>
                    </a:lnL>
                    <a:lnR w="6350">
                      <a:solidFill>
                        <a:srgbClr val="CBD5E1"/>
                      </a:solidFill>
                    </a:lnR>
                    <a:lnT w="6350">
                      <a:solidFill>
                        <a:srgbClr val="CBD5E1"/>
                      </a:solidFill>
                    </a:lnT>
                    <a:lnB w="6350">
                      <a:solidFill>
                        <a:srgbClr val="CBD5E1"/>
                      </a:solidFill>
                    </a:lnB>
                    <a:solidFill>
                      <a:srgbClr val="1B365D"/>
                    </a:solidFill>
                  </a:tcPr>
                </a:tc>
                <a:tc>
                  <a:txBody>
                    <a:bodyPr lIns="55000" rIns="55000" tIns="32000" bIns="32000" anchor="ctr"/>
                    <a:lstStyle/>
                    <a:p>
                      <a:pPr algn="ctr">
                        <a:buNone/>
                      </a:pPr>
                      <a:r>
                        <a:rPr lang="en-US" sz="890" b="1" dirty="0">
                          <a:solidFill>
                            <a:srgbClr val="FFFFFF"/>
                          </a:solidFill>
                          <a:latin typeface="Calibri"/>
                        </a:rPr>
                        <a:t>Train R²</a:t>
                      </a:r>
                    </a:p>
                  </a:txBody>
                  <a:tcPr>
                    <a:lnL w="6350">
                      <a:solidFill>
                        <a:srgbClr val="CBD5E1"/>
                      </a:solidFill>
                    </a:lnL>
                    <a:lnR w="6350">
                      <a:solidFill>
                        <a:srgbClr val="CBD5E1"/>
                      </a:solidFill>
                    </a:lnR>
                    <a:lnT w="6350">
                      <a:solidFill>
                        <a:srgbClr val="CBD5E1"/>
                      </a:solidFill>
                    </a:lnT>
                    <a:lnB w="6350">
                      <a:solidFill>
                        <a:srgbClr val="CBD5E1"/>
                      </a:solidFill>
                    </a:lnB>
                    <a:solidFill>
                      <a:srgbClr val="1B365D"/>
                    </a:solidFill>
                  </a:tcPr>
                </a:tc>
                <a:tc>
                  <a:txBody>
                    <a:bodyPr lIns="55000" rIns="55000" tIns="32000" bIns="32000" anchor="ctr"/>
                    <a:lstStyle/>
                    <a:p>
                      <a:pPr algn="ctr">
                        <a:buNone/>
                      </a:pPr>
                      <a:r>
                        <a:rPr lang="en-US" sz="890" b="1" dirty="0">
                          <a:solidFill>
                            <a:srgbClr val="FFFFFF"/>
                          </a:solidFill>
                          <a:latin typeface="Calibri"/>
                        </a:rPr>
                        <a:t>Test R²</a:t>
                      </a:r>
                    </a:p>
                  </a:txBody>
                  <a:tcPr>
                    <a:lnL w="6350">
                      <a:solidFill>
                        <a:srgbClr val="CBD5E1"/>
                      </a:solidFill>
                    </a:lnL>
                    <a:lnR w="6350">
                      <a:solidFill>
                        <a:srgbClr val="CBD5E1"/>
                      </a:solidFill>
                    </a:lnR>
                    <a:lnT w="6350">
                      <a:solidFill>
                        <a:srgbClr val="CBD5E1"/>
                      </a:solidFill>
                    </a:lnT>
                    <a:lnB w="6350">
                      <a:solidFill>
                        <a:srgbClr val="CBD5E1"/>
                      </a:solidFill>
                    </a:lnB>
                    <a:solidFill>
                      <a:srgbClr val="1B365D"/>
                    </a:solidFill>
                  </a:tcPr>
                </a:tc>
                <a:tc>
                  <a:txBody>
                    <a:bodyPr lIns="55000" rIns="55000" tIns="32000" bIns="32000" anchor="ctr"/>
                    <a:lstStyle/>
                    <a:p>
                      <a:pPr algn="ctr">
                        <a:buNone/>
                      </a:pPr>
                      <a:r>
                        <a:rPr lang="en-US" sz="890" b="1" dirty="0">
                          <a:solidFill>
                            <a:srgbClr val="FFFFFF"/>
                          </a:solidFill>
                          <a:latin typeface="Calibri"/>
                        </a:rPr>
                        <a:t>Test RMSE</a:t>
                      </a:r>
                    </a:p>
                  </a:txBody>
                  <a:tcPr>
                    <a:lnL w="6350">
                      <a:solidFill>
                        <a:srgbClr val="CBD5E1"/>
                      </a:solidFill>
                    </a:lnL>
                    <a:lnR w="6350">
                      <a:solidFill>
                        <a:srgbClr val="CBD5E1"/>
                      </a:solidFill>
                    </a:lnR>
                    <a:lnT w="6350">
                      <a:solidFill>
                        <a:srgbClr val="CBD5E1"/>
                      </a:solidFill>
                    </a:lnT>
                    <a:lnB w="6350">
                      <a:solidFill>
                        <a:srgbClr val="CBD5E1"/>
                      </a:solidFill>
                    </a:lnB>
                    <a:solidFill>
                      <a:srgbClr val="1B365D"/>
                    </a:solidFill>
                  </a:tcPr>
                </a:tc>
                <a:tc>
                  <a:txBody>
                    <a:bodyPr lIns="55000" rIns="55000" tIns="32000" bIns="32000" anchor="ctr"/>
                    <a:lstStyle/>
                    <a:p>
                      <a:pPr algn="ctr">
                        <a:buNone/>
                      </a:pPr>
                      <a:r>
                        <a:rPr lang="en-US" sz="890" b="1" dirty="0">
                          <a:solidFill>
                            <a:srgbClr val="FFFFFF"/>
                          </a:solidFill>
                          <a:latin typeface="Calibri"/>
                        </a:rPr>
                        <a:t>Test MAE</a:t>
                      </a:r>
                    </a:p>
                  </a:txBody>
                  <a:tcPr>
                    <a:lnL w="6350">
                      <a:solidFill>
                        <a:srgbClr val="CBD5E1"/>
                      </a:solidFill>
                    </a:lnL>
                    <a:lnR w="6350">
                      <a:solidFill>
                        <a:srgbClr val="CBD5E1"/>
                      </a:solidFill>
                    </a:lnR>
                    <a:lnT w="6350">
                      <a:solidFill>
                        <a:srgbClr val="CBD5E1"/>
                      </a:solidFill>
                    </a:lnT>
                    <a:lnB w="6350">
                      <a:solidFill>
                        <a:srgbClr val="CBD5E1"/>
                      </a:solidFill>
                    </a:lnB>
                    <a:solidFill>
                      <a:srgbClr val="1B365D"/>
                    </a:solidFill>
                  </a:tcPr>
                </a:tc>
              </a:tr>
              <a:tr h="422910">
                <a:tc>
                  <a:txBody>
                    <a:bodyPr lIns="55000" rIns="55000" tIns="32000" bIns="32000" anchor="ctr"/>
                    <a:lstStyle/>
                    <a:p>
                      <a:pPr algn="l">
                        <a:buNone/>
                      </a:pPr>
                      <a:r>
                        <a:rPr lang="en-US" sz="840" b="1" dirty="0">
                          <a:solidFill>
                            <a:srgbClr val="1E293B"/>
                          </a:solidFill>
                          <a:latin typeface="Calibri"/>
                        </a:rPr>
                        <a:t>1. Primary Model (BOD &lt;= 50 mg/L, Random 80:20 Split)</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ctr">
                        <a:buNone/>
                      </a:pPr>
                      <a:r>
                        <a:rPr lang="en-US" sz="840" b="0" dirty="0">
                          <a:solidFill>
                            <a:srgbClr val="1E293B"/>
                          </a:solidFill>
                          <a:latin typeface="Calibri"/>
                        </a:rPr>
                        <a:t>63,893</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ctr">
                        <a:buNone/>
                      </a:pPr>
                      <a:r>
                        <a:rPr lang="en-US" sz="840" b="0" dirty="0">
                          <a:solidFill>
                            <a:srgbClr val="1E293B"/>
                          </a:solidFill>
                          <a:latin typeface="Calibri"/>
                        </a:rPr>
                        <a:t>15,974</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ctr">
                        <a:buNone/>
                      </a:pPr>
                      <a:r>
                        <a:rPr lang="en-US" sz="840" b="0" dirty="0">
                          <a:solidFill>
                            <a:srgbClr val="1E293B"/>
                          </a:solidFill>
                          <a:latin typeface="Calibri"/>
                        </a:rPr>
                        <a:t>7.0745</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ctr">
                        <a:buNone/>
                      </a:pPr>
                      <a:r>
                        <a:rPr lang="en-US" sz="840" b="0" dirty="0">
                          <a:solidFill>
                            <a:srgbClr val="1E293B"/>
                          </a:solidFill>
                          <a:latin typeface="Calibri"/>
                        </a:rPr>
                        <a:t>-0.1784</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ctr">
                        <a:buNone/>
                      </a:pPr>
                      <a:r>
                        <a:rPr lang="en-US" sz="840" b="0" dirty="0">
                          <a:solidFill>
                            <a:srgbClr val="1E293B"/>
                          </a:solidFill>
                          <a:latin typeface="Calibri"/>
                        </a:rPr>
                        <a:t>0.2499</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ctr">
                        <a:buNone/>
                      </a:pPr>
                      <a:r>
                        <a:rPr lang="en-US" sz="840" b="0" dirty="0">
                          <a:solidFill>
                            <a:srgbClr val="1E293B"/>
                          </a:solidFill>
                          <a:latin typeface="Calibri"/>
                        </a:rPr>
                        <a:t>0.2370</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ctr">
                        <a:buNone/>
                      </a:pPr>
                      <a:r>
                        <a:rPr lang="en-US" sz="840" b="0" dirty="0">
                          <a:solidFill>
                            <a:srgbClr val="1E293B"/>
                          </a:solidFill>
                          <a:latin typeface="Calibri"/>
                        </a:rPr>
                        <a:t>1.6508 mg/L</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ctr">
                        <a:buNone/>
                      </a:pPr>
                      <a:r>
                        <a:rPr lang="en-US" sz="840" b="0" dirty="0">
                          <a:solidFill>
                            <a:srgbClr val="1E293B"/>
                          </a:solidFill>
                          <a:latin typeface="Calibri"/>
                        </a:rPr>
                        <a:t>1.1750 mg/L</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r h="422910">
                <a:tc>
                  <a:txBody>
                    <a:bodyPr lIns="55000" rIns="55000" tIns="32000" bIns="32000" anchor="ctr"/>
                    <a:lstStyle/>
                    <a:p>
                      <a:pPr algn="l">
                        <a:buNone/>
                      </a:pPr>
                      <a:r>
                        <a:rPr lang="en-US" sz="840" b="1" dirty="0">
                          <a:solidFill>
                            <a:srgbClr val="1E293B"/>
                          </a:solidFill>
                          <a:latin typeface="Calibri"/>
                        </a:rPr>
                        <a:t>2. Sensitivity Check 1 (All 80,223 Valid Pairs, No Cutoff)</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ctr">
                        <a:buNone/>
                      </a:pPr>
                      <a:r>
                        <a:rPr lang="en-US" sz="840" b="0" dirty="0">
                          <a:solidFill>
                            <a:srgbClr val="1E293B"/>
                          </a:solidFill>
                          <a:latin typeface="Calibri"/>
                        </a:rPr>
                        <a:t>64,178</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ctr">
                        <a:buNone/>
                      </a:pPr>
                      <a:r>
                        <a:rPr lang="en-US" sz="840" b="0" dirty="0">
                          <a:solidFill>
                            <a:srgbClr val="1E293B"/>
                          </a:solidFill>
                          <a:latin typeface="Calibri"/>
                        </a:rPr>
                        <a:t>16,045</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ctr">
                        <a:buNone/>
                      </a:pPr>
                      <a:r>
                        <a:rPr lang="en-US" sz="840" b="0" dirty="0">
                          <a:solidFill>
                            <a:srgbClr val="1E293B"/>
                          </a:solidFill>
                          <a:latin typeface="Calibri"/>
                        </a:rPr>
                        <a:t>6.7236</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ctr">
                        <a:buNone/>
                      </a:pPr>
                      <a:r>
                        <a:rPr lang="en-US" sz="840" b="0" dirty="0">
                          <a:solidFill>
                            <a:srgbClr val="1E293B"/>
                          </a:solidFill>
                          <a:latin typeface="Calibri"/>
                        </a:rPr>
                        <a:t>-0.0849</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ctr">
                        <a:buNone/>
                      </a:pPr>
                      <a:r>
                        <a:rPr lang="en-US" sz="840" b="0" dirty="0">
                          <a:solidFill>
                            <a:srgbClr val="1E293B"/>
                          </a:solidFill>
                          <a:latin typeface="Calibri"/>
                        </a:rPr>
                        <a:t>0.1502</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ctr">
                        <a:buNone/>
                      </a:pPr>
                      <a:r>
                        <a:rPr lang="en-US" sz="840" b="0" dirty="0">
                          <a:solidFill>
                            <a:srgbClr val="1E293B"/>
                          </a:solidFill>
                          <a:latin typeface="Calibri"/>
                        </a:rPr>
                        <a:t>0.1598</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ctr">
                        <a:buNone/>
                      </a:pPr>
                      <a:r>
                        <a:rPr lang="en-US" sz="840" b="0" dirty="0">
                          <a:solidFill>
                            <a:srgbClr val="1E293B"/>
                          </a:solidFill>
                          <a:latin typeface="Calibri"/>
                        </a:rPr>
                        <a:t>1.7528 mg/L</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c>
                  <a:txBody>
                    <a:bodyPr lIns="55000" rIns="55000" tIns="32000" bIns="32000" anchor="ctr"/>
                    <a:lstStyle/>
                    <a:p>
                      <a:pPr algn="ctr">
                        <a:buNone/>
                      </a:pPr>
                      <a:r>
                        <a:rPr lang="en-US" sz="840" b="0" dirty="0">
                          <a:solidFill>
                            <a:srgbClr val="1E293B"/>
                          </a:solidFill>
                          <a:latin typeface="Calibri"/>
                        </a:rPr>
                        <a:t>1.2655 mg/L</a:t>
                      </a:r>
                    </a:p>
                  </a:txBody>
                  <a:tcPr>
                    <a:lnL w="6350">
                      <a:solidFill>
                        <a:srgbClr val="CBD5E1"/>
                      </a:solidFill>
                    </a:lnL>
                    <a:lnR w="6350">
                      <a:solidFill>
                        <a:srgbClr val="CBD5E1"/>
                      </a:solidFill>
                    </a:lnR>
                    <a:lnT w="6350">
                      <a:solidFill>
                        <a:srgbClr val="CBD5E1"/>
                      </a:solidFill>
                    </a:lnT>
                    <a:lnB w="6350">
                      <a:solidFill>
                        <a:srgbClr val="CBD5E1"/>
                      </a:solidFill>
                    </a:lnB>
                    <a:solidFill>
                      <a:srgbClr val="EBF1F6"/>
                    </a:solidFill>
                  </a:tcPr>
                </a:tc>
              </a:tr>
              <a:tr h="422910">
                <a:tc>
                  <a:txBody>
                    <a:bodyPr lIns="55000" rIns="55000" tIns="32000" bIns="32000" anchor="ctr"/>
                    <a:lstStyle/>
                    <a:p>
                      <a:pPr algn="l">
                        <a:buNone/>
                      </a:pPr>
                      <a:r>
                        <a:rPr lang="en-US" sz="840" b="1" dirty="0">
                          <a:solidFill>
                            <a:srgbClr val="1E293B"/>
                          </a:solidFill>
                          <a:latin typeface="Calibri"/>
                        </a:rPr>
                        <a:t>3. Sensitivity Check 2 (BOD &lt;= 50, Station-Grouped 80:20 Split)</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ctr">
                        <a:buNone/>
                      </a:pPr>
                      <a:r>
                        <a:rPr lang="en-US" sz="840" b="0" dirty="0">
                          <a:solidFill>
                            <a:srgbClr val="1E293B"/>
                          </a:solidFill>
                          <a:latin typeface="Calibri"/>
                        </a:rPr>
                        <a:t>64,122</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ctr">
                        <a:buNone/>
                      </a:pPr>
                      <a:r>
                        <a:rPr lang="en-US" sz="840" b="0" dirty="0">
                          <a:solidFill>
                            <a:srgbClr val="1E293B"/>
                          </a:solidFill>
                          <a:latin typeface="Calibri"/>
                        </a:rPr>
                        <a:t>15,745</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ctr">
                        <a:buNone/>
                      </a:pPr>
                      <a:r>
                        <a:rPr lang="en-US" sz="840" b="0" dirty="0">
                          <a:solidFill>
                            <a:srgbClr val="1E293B"/>
                          </a:solidFill>
                          <a:latin typeface="Calibri"/>
                        </a:rPr>
                        <a:t>7.0576</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ctr">
                        <a:buNone/>
                      </a:pPr>
                      <a:r>
                        <a:rPr lang="en-US" sz="840" b="0" dirty="0">
                          <a:solidFill>
                            <a:srgbClr val="1E293B"/>
                          </a:solidFill>
                          <a:latin typeface="Calibri"/>
                        </a:rPr>
                        <a:t>-0.1719</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ctr">
                        <a:buNone/>
                      </a:pPr>
                      <a:r>
                        <a:rPr lang="en-US" sz="840" b="0" dirty="0">
                          <a:solidFill>
                            <a:srgbClr val="1E293B"/>
                          </a:solidFill>
                          <a:latin typeface="Calibri"/>
                        </a:rPr>
                        <a:t>0.2248</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ctr">
                        <a:buNone/>
                      </a:pPr>
                      <a:r>
                        <a:rPr lang="en-US" sz="840" b="0" dirty="0">
                          <a:solidFill>
                            <a:srgbClr val="1E293B"/>
                          </a:solidFill>
                          <a:latin typeface="Calibri"/>
                        </a:rPr>
                        <a:t>0.3369</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ctr">
                        <a:buNone/>
                      </a:pPr>
                      <a:r>
                        <a:rPr lang="en-US" sz="840" b="0" dirty="0">
                          <a:solidFill>
                            <a:srgbClr val="1E293B"/>
                          </a:solidFill>
                          <a:latin typeface="Calibri"/>
                        </a:rPr>
                        <a:t>1.5429 mg/L</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c>
                  <a:txBody>
                    <a:bodyPr lIns="55000" rIns="55000" tIns="32000" bIns="32000" anchor="ctr"/>
                    <a:lstStyle/>
                    <a:p>
                      <a:pPr algn="ctr">
                        <a:buNone/>
                      </a:pPr>
                      <a:r>
                        <a:rPr lang="en-US" sz="840" b="0" dirty="0">
                          <a:solidFill>
                            <a:srgbClr val="1E293B"/>
                          </a:solidFill>
                          <a:latin typeface="Calibri"/>
                        </a:rPr>
                        <a:t>1.1343 mg/L</a:t>
                      </a:r>
                    </a:p>
                  </a:txBody>
                  <a:tcPr>
                    <a:lnL w="6350">
                      <a:solidFill>
                        <a:srgbClr val="CBD5E1"/>
                      </a:solidFill>
                    </a:lnL>
                    <a:lnR w="6350">
                      <a:solidFill>
                        <a:srgbClr val="CBD5E1"/>
                      </a:solidFill>
                    </a:lnR>
                    <a:lnT w="6350">
                      <a:solidFill>
                        <a:srgbClr val="CBD5E1"/>
                      </a:solidFill>
                    </a:lnT>
                    <a:lnB w="6350">
                      <a:solidFill>
                        <a:srgbClr val="CBD5E1"/>
                      </a:solidFill>
                    </a:lnB>
                    <a:solidFill>
                      <a:srgbClr val="FFFFFF"/>
                    </a:solidFill>
                  </a:tcPr>
                </a:tc>
              </a:tr>
            </a:tbl>
          </a:graphicData>
        </a:graphic>
      </p:graphicFrame>
      <p:sp>
        <p:nvSpPr>
          <p:cNvPr id="9" name="TextBox 9"/>
          <p:cNvSpPr txBox="1"/>
          <p:nvPr/>
        </p:nvSpPr>
        <p:spPr>
          <a:xfrm>
            <a:off x="320040" y="2670048"/>
            <a:ext cx="4160520" cy="2084832"/>
          </a:xfrm>
          <a:prstGeom prst="roundRect">
            <a:avLst>
              <a:gd name="adj" fmla="val 4000"/>
            </a:avLst>
          </a:prstGeom>
          <a:solidFill>
            <a:srgbClr val="F4F7FA"/>
          </a:solidFill>
          <a:ln w="12700">
            <a:solidFill>
              <a:srgbClr val="CBD5E1"/>
            </a:solidFill>
          </a:ln>
        </p:spPr>
        <p:txBody>
          <a:bodyPr wrap="square" lIns="73152" tIns="54864" rIns="73152" bIns="54864" anchor="t"/>
          <a:lstStyle/>
          <a:p>
            <a:pPr marL="0" indent="0" algn="l">
              <a:spcBef>
                <a:spcPts val="0"/>
              </a:spcBef>
              <a:spcAft>
                <a:spcPts val="400"/>
              </a:spcAft>
              <a:buNone/>
            </a:pPr>
            <a:r>
              <a:rPr lang="en-US" sz="1050" b="1" i="0" dirty="0">
                <a:solidFill>
                  <a:srgbClr val="1B365D"/>
                </a:solidFill>
                <a:latin typeface="Calibri"/>
                <a:cs typeface="Calibri"/>
              </a:rPr>
              <a:t>Why BOD &lt;= 50 mg/L is an Analytical Choice (Check 1)</a:t>
            </a:r>
          </a:p>
          <a:p>
            <a:pPr marL="190500" indent="-142875" algn="l">
              <a:spcBef>
                <a:spcPts val="0"/>
              </a:spcBef>
              <a:spcAft>
                <a:spcPts val="300"/>
              </a:spcAft>
              <a:buFont typeface="Arial"/>
              <a:buChar char="•"/>
            </a:pPr>
            <a:r>
              <a:rPr lang="en-US" sz="890" b="0" i="0" dirty="0">
                <a:solidFill>
                  <a:srgbClr val="1E293B"/>
                </a:solidFill>
                <a:latin typeface="Calibri"/>
                <a:cs typeface="Calibri"/>
              </a:rPr>
              <a:t>50 mg/L is an analytical filtering choice (not a universal standard) that excludes 356 extreme rows (0.44%, BOD 51–486 mg/L).</a:t>
            </a:r>
          </a:p>
          <a:p>
            <a:pPr marL="190500" indent="-142875" algn="l">
              <a:spcBef>
                <a:spcPts val="0"/>
              </a:spcBef>
              <a:spcAft>
                <a:spcPts val="300"/>
              </a:spcAft>
              <a:buFont typeface="Arial"/>
              <a:buChar char="•"/>
            </a:pPr>
            <a:r>
              <a:rPr lang="en-US" sz="890" b="0" i="0" dirty="0">
                <a:solidFill>
                  <a:srgbClr val="1E293B"/>
                </a:solidFill>
                <a:latin typeface="Calibri"/>
                <a:cs typeface="Calibri"/>
              </a:rPr>
              <a:t>Why the 356 rows distort OLS: DO has a physical floor at 0 mg/L (49.2% of excluded rows already have DO &lt;= 1 mg/L). Fitting a straight line out to BOD = 486 mg/L pulls the slope from -0.1784 to -0.0849 (predicting impossible DO = -34.5 mg/L at BOD = 486) and lowers Test R² from 0.2370 to 0.1598.</a:t>
            </a:r>
          </a:p>
          <a:p>
            <a:pPr marL="190500" indent="-142875" algn="l">
              <a:spcBef>
                <a:spcPts val="0"/>
              </a:spcBef>
              <a:spcAft>
                <a:spcPts val="400"/>
              </a:spcAft>
              <a:buFont typeface="Arial"/>
              <a:buChar char="•"/>
            </a:pPr>
            <a:r>
              <a:rPr lang="en-US" sz="890" b="0" i="0" dirty="0">
                <a:solidFill>
                  <a:srgbClr val="1E293B"/>
                </a:solidFill>
                <a:latin typeface="Calibri"/>
                <a:cs typeface="Calibri"/>
              </a:rPr>
              <a:t>Also, 36 excluded rows report DO &gt; 6 mg/L despite BOD &gt; 50 mg/L (aerated outfalls or reporting anomalies with high leverage).</a:t>
            </a:r>
          </a:p>
        </p:txBody>
      </p:sp>
      <p:sp>
        <p:nvSpPr>
          <p:cNvPr id="10" name="TextBox 10"/>
          <p:cNvSpPr txBox="1"/>
          <p:nvPr/>
        </p:nvSpPr>
        <p:spPr>
          <a:xfrm>
            <a:off x="4663440" y="2670048"/>
            <a:ext cx="4160520" cy="2084832"/>
          </a:xfrm>
          <a:prstGeom prst="roundRect">
            <a:avLst>
              <a:gd name="adj" fmla="val 4000"/>
            </a:avLst>
          </a:prstGeom>
          <a:solidFill>
            <a:srgbClr val="E6F4F1"/>
          </a:solidFill>
          <a:ln w="12700">
            <a:solidFill>
              <a:srgbClr val="007A78"/>
            </a:solidFill>
          </a:ln>
        </p:spPr>
        <p:txBody>
          <a:bodyPr wrap="square" lIns="73152" tIns="54864" rIns="73152" bIns="54864" anchor="t"/>
          <a:lstStyle/>
          <a:p>
            <a:pPr marL="0" indent="0" algn="l">
              <a:spcBef>
                <a:spcPts val="0"/>
              </a:spcBef>
              <a:spcAft>
                <a:spcPts val="400"/>
              </a:spcAft>
              <a:buNone/>
            </a:pPr>
            <a:r>
              <a:rPr lang="en-US" sz="1050" b="1" i="0" dirty="0">
                <a:solidFill>
                  <a:srgbClr val="007A78"/>
                </a:solidFill>
                <a:latin typeface="Calibri"/>
                <a:cs typeface="Calibri"/>
              </a:rPr>
              <a:t>Station-Level Leakage &amp; Limitations (Check 2)</a:t>
            </a:r>
          </a:p>
          <a:p>
            <a:pPr marL="190500" indent="-142875" algn="l">
              <a:spcBef>
                <a:spcPts val="0"/>
              </a:spcBef>
              <a:spcAft>
                <a:spcPts val="300"/>
              </a:spcAft>
              <a:buFont typeface="Arial"/>
              <a:buChar char="•"/>
            </a:pPr>
            <a:r>
              <a:rPr lang="en-US" sz="890" b="0" i="0" dirty="0">
                <a:solidFill>
                  <a:srgbClr val="1E293B"/>
                </a:solidFill>
                <a:latin typeface="Calibri"/>
                <a:cs typeface="Calibri"/>
              </a:rPr>
              <a:t>Station Split Check: Under a random row split, repeated samples from the same station (2,978 unique stations) appear in both train and test sets.</a:t>
            </a:r>
          </a:p>
          <a:p>
            <a:pPr marL="190500" indent="-142875" algn="l">
              <a:spcBef>
                <a:spcPts val="0"/>
              </a:spcBef>
              <a:spcAft>
                <a:spcPts val="300"/>
              </a:spcAft>
              <a:buFont typeface="Arial"/>
              <a:buChar char="•"/>
            </a:pPr>
            <a:r>
              <a:rPr lang="en-US" sz="890" b="0" i="0" dirty="0">
                <a:solidFill>
                  <a:srgbClr val="1E293B"/>
                </a:solidFill>
                <a:latin typeface="Calibri"/>
                <a:cs typeface="Calibri"/>
              </a:rPr>
              <a:t>Holding out 20% of completely unseen stations (596 test stations vs. 2,382 train stations) yields virtually identical slope (-0.1719) and strong generalization (Test RMSE = 1.5429 mg/L, Test R² = 0.3369).</a:t>
            </a:r>
          </a:p>
          <a:p>
            <a:pPr marL="190500" indent="-142875" algn="l">
              <a:spcBef>
                <a:spcPts val="0"/>
              </a:spcBef>
              <a:spcAft>
                <a:spcPts val="400"/>
              </a:spcAft>
              <a:buFont typeface="Arial"/>
              <a:buChar char="•"/>
            </a:pPr>
            <a:r>
              <a:rPr lang="en-US" sz="890" b="1" i="0" dirty="0">
                <a:solidFill>
                  <a:srgbClr val="D95F02"/>
                </a:solidFill>
                <a:latin typeface="Calibri"/>
                <a:cs typeface="Calibri"/>
              </a:rPr>
              <a:t>Remaining Limitations: Observational data cannot prove causation; repeated seasonal samples within the same river basins share spatial/temporal autocorrelation; single predictor omits temperature and flow.</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2"/>
          <p:cNvSpPr/>
          <p:nvPr/>
        </p:nvSpPr>
        <p:spPr>
          <a:xfrm>
            <a:off x="0" y="0"/>
            <a:ext cx="9144000" cy="713232"/>
          </a:xfrm>
          <a:prstGeom prst="rect">
            <a:avLst/>
          </a:prstGeom>
          <a:solidFill>
            <a:srgbClr val="1B365D"/>
          </a:solidFill>
          <a:ln>
            <a:noFill/>
          </a:ln>
        </p:spPr>
      </p:sp>
      <p:sp>
        <p:nvSpPr>
          <p:cNvPr id="3" name="Rect 3"/>
          <p:cNvSpPr/>
          <p:nvPr/>
        </p:nvSpPr>
        <p:spPr>
          <a:xfrm>
            <a:off x="0" y="713232"/>
            <a:ext cx="9144000" cy="36576"/>
          </a:xfrm>
          <a:prstGeom prst="rect">
            <a:avLst/>
          </a:prstGeom>
          <a:solidFill>
            <a:srgbClr val="007A78"/>
          </a:solidFill>
          <a:ln>
            <a:noFill/>
          </a:ln>
        </p:spPr>
      </p:sp>
      <p:sp>
        <p:nvSpPr>
          <p:cNvPr id="4" name="TextBox 4"/>
          <p:cNvSpPr txBox="1"/>
          <p:nvPr/>
        </p:nvSpPr>
        <p:spPr>
          <a:xfrm>
            <a:off x="320040" y="54864"/>
            <a:ext cx="8503920" cy="621792"/>
          </a:xfrm>
          <a:prstGeom prst="rect">
            <a:avLst/>
          </a:prstGeom>
          <a:noFill/>
          <a:ln>
            <a:noFill/>
          </a:ln>
        </p:spPr>
        <p:txBody>
          <a:bodyPr wrap="square" lIns="18288" tIns="18288" rIns="18288" bIns="18288" anchor="t"/>
          <a:lstStyle/>
          <a:p>
            <a:pPr marL="0" indent="0" algn="l">
              <a:spcBef>
                <a:spcPts val="0"/>
              </a:spcBef>
              <a:spcAft>
                <a:spcPts val="100"/>
              </a:spcAft>
              <a:buNone/>
            </a:pPr>
            <a:r>
              <a:rPr lang="en-US" sz="850" b="1" i="0" dirty="0">
                <a:solidFill>
                  <a:srgbClr val="7FD4D2"/>
                </a:solidFill>
                <a:latin typeface="Calibri"/>
                <a:cs typeface="Calibri"/>
              </a:rPr>
              <a:t>SECTION 7  |  SYNTHESIS</a:t>
            </a:r>
          </a:p>
          <a:p>
            <a:pPr marL="0" indent="0" algn="l">
              <a:spcBef>
                <a:spcPts val="0"/>
              </a:spcBef>
              <a:spcAft>
                <a:spcPts val="100"/>
              </a:spcAft>
              <a:buNone/>
            </a:pPr>
            <a:r>
              <a:rPr lang="en-US" sz="1750" b="1" i="0" dirty="0">
                <a:solidFill>
                  <a:srgbClr val="FFFFFF"/>
                </a:solidFill>
                <a:latin typeface="Calibri"/>
                <a:cs typeface="Calibri"/>
              </a:rPr>
              <a:t>Key Findings and Project Conclusion</a:t>
            </a:r>
          </a:p>
          <a:p>
            <a:pPr marL="0" indent="0" algn="l">
              <a:spcBef>
                <a:spcPts val="0"/>
              </a:spcBef>
              <a:spcAft>
                <a:spcPts val="0"/>
              </a:spcAft>
              <a:buNone/>
            </a:pPr>
            <a:r>
              <a:rPr lang="en-US" sz="950" b="0" i="1" dirty="0">
                <a:solidFill>
                  <a:srgbClr val="DCE6F1"/>
                </a:solidFill>
                <a:latin typeface="Calibri"/>
                <a:cs typeface="Calibri"/>
              </a:rPr>
              <a:t>Separating descriptive/inferential EDA findings from predictive machine learning conclusions</a:t>
            </a:r>
          </a:p>
        </p:txBody>
      </p:sp>
      <p:sp>
        <p:nvSpPr>
          <p:cNvPr id="5" name="Rect 5"/>
          <p:cNvSpPr/>
          <p:nvPr/>
        </p:nvSpPr>
        <p:spPr>
          <a:xfrm>
            <a:off x="0" y="4864608"/>
            <a:ext cx="9144000" cy="278892"/>
          </a:xfrm>
          <a:prstGeom prst="rect">
            <a:avLst/>
          </a:prstGeom>
          <a:solidFill>
            <a:srgbClr val="EEF2F6"/>
          </a:solidFill>
          <a:ln>
            <a:noFill/>
          </a:ln>
        </p:spPr>
      </p:sp>
      <p:sp>
        <p:nvSpPr>
          <p:cNvPr id="6" name="TextBox 6"/>
          <p:cNvSpPr txBox="1"/>
          <p:nvPr/>
        </p:nvSpPr>
        <p:spPr>
          <a:xfrm>
            <a:off x="320040" y="4882896"/>
            <a:ext cx="6858000" cy="228600"/>
          </a:xfrm>
          <a:prstGeom prst="rect">
            <a:avLst/>
          </a:prstGeom>
          <a:noFill/>
          <a:ln>
            <a:noFill/>
          </a:ln>
        </p:spPr>
        <p:txBody>
          <a:bodyPr wrap="square" lIns="0" tIns="18288" rIns="0" bIns="0" anchor="t"/>
          <a:lstStyle/>
          <a:p>
            <a:pPr marL="0" indent="0" algn="l">
              <a:spcBef>
                <a:spcPts val="0"/>
              </a:spcBef>
              <a:spcAft>
                <a:spcPts val="400"/>
              </a:spcAft>
              <a:buNone/>
            </a:pPr>
            <a:r>
              <a:rPr lang="en-US" sz="850" b="0" i="0" dirty="0">
                <a:solidFill>
                  <a:srgbClr val="475569"/>
                </a:solidFill>
                <a:latin typeface="Calibri"/>
                <a:cs typeface="Calibri"/>
              </a:rPr>
              <a:t>Emmanuel Jobin (2026EMAI20054)  |  DSC 513: Introduction to Data Science  |  IIIT Kottayam</a:t>
            </a:r>
          </a:p>
        </p:txBody>
      </p:sp>
      <p:sp>
        <p:nvSpPr>
          <p:cNvPr id="7" name="TextBox 7"/>
          <p:cNvSpPr txBox="1"/>
          <p:nvPr/>
        </p:nvSpPr>
        <p:spPr>
          <a:xfrm>
            <a:off x="7315200" y="4882896"/>
            <a:ext cx="1508760" cy="228600"/>
          </a:xfrm>
          <a:prstGeom prst="rect">
            <a:avLst/>
          </a:prstGeom>
          <a:noFill/>
          <a:ln>
            <a:noFill/>
          </a:ln>
        </p:spPr>
        <p:txBody>
          <a:bodyPr wrap="square" lIns="0" tIns="18288" rIns="0" bIns="0" anchor="t"/>
          <a:lstStyle/>
          <a:p>
            <a:pPr marL="0" indent="0" algn="r">
              <a:spcBef>
                <a:spcPts val="0"/>
              </a:spcBef>
              <a:spcAft>
                <a:spcPts val="400"/>
              </a:spcAft>
              <a:buNone/>
            </a:pPr>
            <a:r>
              <a:rPr lang="en-US" sz="850" b="1" i="0" dirty="0">
                <a:solidFill>
                  <a:srgbClr val="1B365D"/>
                </a:solidFill>
                <a:latin typeface="Calibri"/>
                <a:cs typeface="Calibri"/>
              </a:rPr>
              <a:t>Slide 17 of 18</a:t>
            </a:r>
          </a:p>
        </p:txBody>
      </p:sp>
      <p:sp>
        <p:nvSpPr>
          <p:cNvPr id="8" name="TextBox 8"/>
          <p:cNvSpPr txBox="1"/>
          <p:nvPr/>
        </p:nvSpPr>
        <p:spPr>
          <a:xfrm>
            <a:off x="320040" y="868680"/>
            <a:ext cx="4160520" cy="2971800"/>
          </a:xfrm>
          <a:prstGeom prst="roundRect">
            <a:avLst>
              <a:gd name="adj" fmla="val 4000"/>
            </a:avLst>
          </a:prstGeom>
          <a:solidFill>
            <a:srgbClr val="F4F7FA"/>
          </a:solidFill>
          <a:ln w="12700">
            <a:solidFill>
              <a:srgbClr val="CBD5E1"/>
            </a:solidFill>
          </a:ln>
        </p:spPr>
        <p:txBody>
          <a:bodyPr wrap="square" lIns="73152" tIns="54864" rIns="73152" bIns="54864" anchor="t"/>
          <a:lstStyle/>
          <a:p>
            <a:pPr marL="0" indent="0" algn="l">
              <a:spcBef>
                <a:spcPts val="0"/>
              </a:spcBef>
              <a:spcAft>
                <a:spcPts val="500"/>
              </a:spcAft>
              <a:buNone/>
            </a:pPr>
            <a:r>
              <a:rPr lang="en-US" sz="1150" b="1" i="0" dirty="0">
                <a:solidFill>
                  <a:srgbClr val="1B365D"/>
                </a:solidFill>
                <a:latin typeface="Calibri"/>
                <a:cs typeface="Calibri"/>
              </a:rPr>
              <a:t>Descriptive &amp; Inferential EDA Conclusions</a:t>
            </a:r>
          </a:p>
          <a:p>
            <a:pPr marL="190500" indent="-142875" algn="l">
              <a:spcBef>
                <a:spcPts val="0"/>
              </a:spcBef>
              <a:spcAft>
                <a:spcPts val="400"/>
              </a:spcAft>
              <a:buFont typeface="Arial"/>
              <a:buChar char="•"/>
            </a:pPr>
            <a:r>
              <a:rPr lang="en-US" sz="920" b="0" i="0" dirty="0">
                <a:solidFill>
                  <a:srgbClr val="1E293B"/>
                </a:solidFill>
                <a:latin typeface="Calibri"/>
                <a:cs typeface="Calibri"/>
              </a:rPr>
              <a:t>1. Data Engineering Integrity: Harmonized 315 CPCB CSVs (311,379 raw rows) into 109,422 station-date records and cleaned 1,990 Kaggle records while preserving valid co-measured parameters.</a:t>
            </a:r>
          </a:p>
          <a:p>
            <a:pPr marL="190500" indent="-142875" algn="l">
              <a:spcBef>
                <a:spcPts val="0"/>
              </a:spcBef>
              <a:spcAft>
                <a:spcPts val="400"/>
              </a:spcAft>
              <a:buFont typeface="Arial"/>
              <a:buChar char="•"/>
            </a:pPr>
            <a:r>
              <a:rPr lang="en-US" sz="920" b="0" i="0" dirty="0">
                <a:solidFill>
                  <a:srgbClr val="1E293B"/>
                </a:solidFill>
                <a:latin typeface="Calibri"/>
                <a:cs typeface="Calibri"/>
              </a:rPr>
              <a:t>2. Baseline Compliance vs. Skewed Hotspots: 90.8% of CPCB DO readings meet the &gt;= 4.0 mg/L threshold (Median = 6.80 mg/L), whereas BOD is heavily right-skewed (Median = 2.30, Mean = 5.76, Max = 1,315 mg/L).</a:t>
            </a:r>
          </a:p>
          <a:p>
            <a:pPr marL="190500" indent="-142875" algn="l">
              <a:spcBef>
                <a:spcPts val="0"/>
              </a:spcBef>
              <a:spcAft>
                <a:spcPts val="400"/>
              </a:spcAft>
              <a:buFont typeface="Arial"/>
              <a:buChar char="•"/>
            </a:pPr>
            <a:r>
              <a:rPr lang="en-US" sz="920" b="0" i="0" dirty="0">
                <a:solidFill>
                  <a:srgbClr val="1E293B"/>
                </a:solidFill>
                <a:latin typeface="Calibri"/>
                <a:cs typeface="Calibri"/>
              </a:rPr>
              <a:t>3. Verified Geographic &amp; Seasonal Differences: BOD differs significantly across states (Kruskal-Wallis p &lt; 2.2e-16), and Monsoon dilution lowers median BOD from 2.40 to 2.10 mg/L (Wilcoxon p = 5.48e-24).</a:t>
            </a:r>
          </a:p>
          <a:p>
            <a:pPr marL="190500" indent="-142875" algn="l">
              <a:spcBef>
                <a:spcPts val="0"/>
              </a:spcBef>
              <a:spcAft>
                <a:spcPts val="400"/>
              </a:spcAft>
              <a:buFont typeface="Arial"/>
              <a:buChar char="•"/>
            </a:pPr>
            <a:r>
              <a:rPr lang="en-US" sz="920" b="0" i="0" dirty="0">
                <a:solidFill>
                  <a:srgbClr val="1E293B"/>
                </a:solidFill>
                <a:latin typeface="Calibri"/>
                <a:cs typeface="Calibri"/>
              </a:rPr>
              <a:t>4. Decadal Context: State-level DO medians across 19 matched states remained stable between 2003–2014 and 2018–2024.</a:t>
            </a:r>
          </a:p>
        </p:txBody>
      </p:sp>
      <p:sp>
        <p:nvSpPr>
          <p:cNvPr id="9" name="TextBox 9"/>
          <p:cNvSpPr txBox="1"/>
          <p:nvPr/>
        </p:nvSpPr>
        <p:spPr>
          <a:xfrm>
            <a:off x="4663440" y="868680"/>
            <a:ext cx="4160520" cy="2971800"/>
          </a:xfrm>
          <a:prstGeom prst="roundRect">
            <a:avLst>
              <a:gd name="adj" fmla="val 4000"/>
            </a:avLst>
          </a:prstGeom>
          <a:solidFill>
            <a:srgbClr val="F4F7FA"/>
          </a:solidFill>
          <a:ln w="12700">
            <a:solidFill>
              <a:srgbClr val="CBD5E1"/>
            </a:solidFill>
          </a:ln>
        </p:spPr>
        <p:txBody>
          <a:bodyPr wrap="square" lIns="73152" tIns="54864" rIns="73152" bIns="54864" anchor="t"/>
          <a:lstStyle/>
          <a:p>
            <a:pPr marL="0" indent="0" algn="l">
              <a:spcBef>
                <a:spcPts val="0"/>
              </a:spcBef>
              <a:spcAft>
                <a:spcPts val="500"/>
              </a:spcAft>
              <a:buNone/>
            </a:pPr>
            <a:r>
              <a:rPr lang="en-US" sz="1150" b="1" i="0" dirty="0">
                <a:solidFill>
                  <a:srgbClr val="007A78"/>
                </a:solidFill>
                <a:latin typeface="Calibri"/>
                <a:cs typeface="Calibri"/>
              </a:rPr>
              <a:t>Predictive Machine Learning Conclusions</a:t>
            </a:r>
          </a:p>
          <a:p>
            <a:pPr marL="190500" indent="-142875" algn="l">
              <a:spcBef>
                <a:spcPts val="0"/>
              </a:spcBef>
              <a:spcAft>
                <a:spcPts val="400"/>
              </a:spcAft>
              <a:buFont typeface="Arial"/>
              <a:buChar char="•"/>
            </a:pPr>
            <a:r>
              <a:rPr lang="en-US" sz="920" b="0" i="0" dirty="0">
                <a:solidFill>
                  <a:srgbClr val="1E293B"/>
                </a:solidFill>
                <a:latin typeface="Calibri"/>
                <a:cs typeface="Calibri"/>
              </a:rPr>
              <a:t>1. Negative Linear Association: Simple Linear Regression (DO = 7.0745 - 0.1784 * BOD) confirms that each +1 mg/L of BOD is associated with a 0.1784 mg/L decrease in DO (p &lt; 2e-16).</a:t>
            </a:r>
          </a:p>
          <a:p>
            <a:pPr marL="190500" indent="-142875" algn="l">
              <a:spcBef>
                <a:spcPts val="0"/>
              </a:spcBef>
              <a:spcAft>
                <a:spcPts val="400"/>
              </a:spcAft>
              <a:buFont typeface="Arial"/>
              <a:buChar char="•"/>
            </a:pPr>
            <a:r>
              <a:rPr lang="en-US" sz="920" b="0" i="0" dirty="0">
                <a:solidFill>
                  <a:srgbClr val="1E293B"/>
                </a:solidFill>
                <a:latin typeface="Calibri"/>
                <a:cs typeface="Calibri"/>
              </a:rPr>
              <a:t>2. Modest Single-Predictor Accuracy: On the 20% test set (n = 15,974), BOD explains 23.70% of DO variance (Test RMSE = 1.6508 mg/L, MAE = 1.1750 mg/L) without overfitting.</a:t>
            </a:r>
          </a:p>
          <a:p>
            <a:pPr marL="190500" indent="-142875" algn="l">
              <a:spcBef>
                <a:spcPts val="0"/>
              </a:spcBef>
              <a:spcAft>
                <a:spcPts val="400"/>
              </a:spcAft>
              <a:buFont typeface="Arial"/>
              <a:buChar char="•"/>
            </a:pPr>
            <a:r>
              <a:rPr lang="en-US" sz="920" b="0" i="0" dirty="0">
                <a:solidFill>
                  <a:srgbClr val="1E293B"/>
                </a:solidFill>
                <a:latin typeface="Calibri"/>
                <a:cs typeface="Calibri"/>
              </a:rPr>
              <a:t>3. Sensitivity &amp; Generalization: Full-data OLS is levered by the 0.44% tail of BOD &gt; 50 mg/L due to the zero-DO floor, while station-grouped splitting confirms cross-station stability (slope = -0.1719).</a:t>
            </a:r>
          </a:p>
          <a:p>
            <a:pPr marL="190500" indent="-142875" algn="l">
              <a:spcBef>
                <a:spcPts val="0"/>
              </a:spcBef>
              <a:spcAft>
                <a:spcPts val="400"/>
              </a:spcAft>
              <a:buFont typeface="Arial"/>
              <a:buChar char="•"/>
            </a:pPr>
            <a:r>
              <a:rPr lang="en-US" sz="920" b="0" i="0" dirty="0">
                <a:solidFill>
                  <a:srgbClr val="1E293B"/>
                </a:solidFill>
                <a:latin typeface="Calibri"/>
                <a:cs typeface="Calibri"/>
              </a:rPr>
              <a:t>4. Scientific Discipline: All findings distinguish statistical association from causation and account for network expansion.</a:t>
            </a:r>
          </a:p>
        </p:txBody>
      </p:sp>
      <p:sp>
        <p:nvSpPr>
          <p:cNvPr id="10" name="TextBox 10"/>
          <p:cNvSpPr txBox="1"/>
          <p:nvPr/>
        </p:nvSpPr>
        <p:spPr>
          <a:xfrm>
            <a:off x="320040" y="3950208"/>
            <a:ext cx="8503920" cy="804672"/>
          </a:xfrm>
          <a:prstGeom prst="roundRect">
            <a:avLst>
              <a:gd name="adj" fmla="val 4000"/>
            </a:avLst>
          </a:prstGeom>
          <a:solidFill>
            <a:srgbClr val="1B365D"/>
          </a:solidFill>
          <a:ln w="12700">
            <a:solidFill>
              <a:srgbClr val="007A78"/>
            </a:solidFill>
          </a:ln>
        </p:spPr>
        <p:txBody>
          <a:bodyPr wrap="square" lIns="73152" tIns="54864" rIns="73152" bIns="54864" anchor="ctr"/>
          <a:lstStyle/>
          <a:p>
            <a:pPr marL="0" indent="0" algn="ctr">
              <a:spcBef>
                <a:spcPts val="0"/>
              </a:spcBef>
              <a:spcAft>
                <a:spcPts val="400"/>
              </a:spcAft>
              <a:buNone/>
            </a:pPr>
            <a:r>
              <a:rPr lang="en-US" sz="1000" b="1" i="0" dirty="0">
                <a:solidFill>
                  <a:srgbClr val="FFFFFF"/>
                </a:solidFill>
                <a:latin typeface="Calibri"/>
                <a:cs typeface="Calibri"/>
              </a:rPr>
              <a:t>Achievement of Project Objectives: All 9 stated objectives—from multi-file schema inspection and range-validated preprocessing to non-parametric hypothesis testing, decadal comparison, and validated linear regression—have been fully achieved and verified in the rendered HTML and PDF reports.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2"/>
          <p:cNvSpPr/>
          <p:nvPr/>
        </p:nvSpPr>
        <p:spPr>
          <a:xfrm>
            <a:off x="0" y="0"/>
            <a:ext cx="9144000" cy="713232"/>
          </a:xfrm>
          <a:prstGeom prst="rect">
            <a:avLst/>
          </a:prstGeom>
          <a:solidFill>
            <a:srgbClr val="1B365D"/>
          </a:solidFill>
          <a:ln>
            <a:noFill/>
          </a:ln>
        </p:spPr>
      </p:sp>
      <p:sp>
        <p:nvSpPr>
          <p:cNvPr id="3" name="Rect 3"/>
          <p:cNvSpPr/>
          <p:nvPr/>
        </p:nvSpPr>
        <p:spPr>
          <a:xfrm>
            <a:off x="0" y="713232"/>
            <a:ext cx="9144000" cy="36576"/>
          </a:xfrm>
          <a:prstGeom prst="rect">
            <a:avLst/>
          </a:prstGeom>
          <a:solidFill>
            <a:srgbClr val="007A78"/>
          </a:solidFill>
          <a:ln>
            <a:noFill/>
          </a:ln>
        </p:spPr>
      </p:sp>
      <p:sp>
        <p:nvSpPr>
          <p:cNvPr id="4" name="TextBox 4"/>
          <p:cNvSpPr txBox="1"/>
          <p:nvPr/>
        </p:nvSpPr>
        <p:spPr>
          <a:xfrm>
            <a:off x="320040" y="54864"/>
            <a:ext cx="8503920" cy="621792"/>
          </a:xfrm>
          <a:prstGeom prst="rect">
            <a:avLst/>
          </a:prstGeom>
          <a:noFill/>
          <a:ln>
            <a:noFill/>
          </a:ln>
        </p:spPr>
        <p:txBody>
          <a:bodyPr wrap="square" lIns="18288" tIns="18288" rIns="18288" bIns="18288" anchor="t"/>
          <a:lstStyle/>
          <a:p>
            <a:pPr marL="0" indent="0" algn="l">
              <a:spcBef>
                <a:spcPts val="0"/>
              </a:spcBef>
              <a:spcAft>
                <a:spcPts val="100"/>
              </a:spcAft>
              <a:buNone/>
            </a:pPr>
            <a:r>
              <a:rPr lang="en-US" sz="850" b="1" i="0" dirty="0">
                <a:solidFill>
                  <a:srgbClr val="7FD4D2"/>
                </a:solidFill>
                <a:latin typeface="Calibri"/>
                <a:cs typeface="Calibri"/>
              </a:rPr>
              <a:t>SECTION 7  |  NEXT STEPS &amp; CITATIONS</a:t>
            </a:r>
          </a:p>
          <a:p>
            <a:pPr marL="0" indent="0" algn="l">
              <a:spcBef>
                <a:spcPts val="0"/>
              </a:spcBef>
              <a:spcAft>
                <a:spcPts val="100"/>
              </a:spcAft>
              <a:buNone/>
            </a:pPr>
            <a:r>
              <a:rPr lang="en-US" sz="1750" b="1" i="0" dirty="0">
                <a:solidFill>
                  <a:srgbClr val="FFFFFF"/>
                </a:solidFill>
                <a:latin typeface="Calibri"/>
                <a:cs typeface="Calibri"/>
              </a:rPr>
              <a:t>Future Improvements and Verified References</a:t>
            </a:r>
          </a:p>
          <a:p>
            <a:pPr marL="0" indent="0" algn="l">
              <a:spcBef>
                <a:spcPts val="0"/>
              </a:spcBef>
              <a:spcAft>
                <a:spcPts val="0"/>
              </a:spcAft>
              <a:buNone/>
            </a:pPr>
            <a:r>
              <a:rPr lang="en-US" sz="950" b="0" i="1" dirty="0">
                <a:solidFill>
                  <a:srgbClr val="DCE6F1"/>
                </a:solidFill>
                <a:latin typeface="Calibri"/>
                <a:cs typeface="Calibri"/>
              </a:rPr>
              <a:t>Methodological extensions for future work and official data sources used in this project</a:t>
            </a:r>
          </a:p>
        </p:txBody>
      </p:sp>
      <p:sp>
        <p:nvSpPr>
          <p:cNvPr id="5" name="Rect 5"/>
          <p:cNvSpPr/>
          <p:nvPr/>
        </p:nvSpPr>
        <p:spPr>
          <a:xfrm>
            <a:off x="0" y="4864608"/>
            <a:ext cx="9144000" cy="278892"/>
          </a:xfrm>
          <a:prstGeom prst="rect">
            <a:avLst/>
          </a:prstGeom>
          <a:solidFill>
            <a:srgbClr val="EEF2F6"/>
          </a:solidFill>
          <a:ln>
            <a:noFill/>
          </a:ln>
        </p:spPr>
      </p:sp>
      <p:sp>
        <p:nvSpPr>
          <p:cNvPr id="6" name="TextBox 6"/>
          <p:cNvSpPr txBox="1"/>
          <p:nvPr/>
        </p:nvSpPr>
        <p:spPr>
          <a:xfrm>
            <a:off x="320040" y="4882896"/>
            <a:ext cx="6858000" cy="228600"/>
          </a:xfrm>
          <a:prstGeom prst="rect">
            <a:avLst/>
          </a:prstGeom>
          <a:noFill/>
          <a:ln>
            <a:noFill/>
          </a:ln>
        </p:spPr>
        <p:txBody>
          <a:bodyPr wrap="square" lIns="0" tIns="18288" rIns="0" bIns="0" anchor="t"/>
          <a:lstStyle/>
          <a:p>
            <a:pPr marL="0" indent="0" algn="l">
              <a:spcBef>
                <a:spcPts val="0"/>
              </a:spcBef>
              <a:spcAft>
                <a:spcPts val="400"/>
              </a:spcAft>
              <a:buNone/>
            </a:pPr>
            <a:r>
              <a:rPr lang="en-US" sz="850" b="0" i="0" dirty="0">
                <a:solidFill>
                  <a:srgbClr val="475569"/>
                </a:solidFill>
                <a:latin typeface="Calibri"/>
                <a:cs typeface="Calibri"/>
              </a:rPr>
              <a:t>Emmanuel Jobin (2026EMAI20054)  |  DSC 513: Introduction to Data Science  |  IIIT Kottayam</a:t>
            </a:r>
          </a:p>
        </p:txBody>
      </p:sp>
      <p:sp>
        <p:nvSpPr>
          <p:cNvPr id="7" name="TextBox 7"/>
          <p:cNvSpPr txBox="1"/>
          <p:nvPr/>
        </p:nvSpPr>
        <p:spPr>
          <a:xfrm>
            <a:off x="7315200" y="4882896"/>
            <a:ext cx="1508760" cy="228600"/>
          </a:xfrm>
          <a:prstGeom prst="rect">
            <a:avLst/>
          </a:prstGeom>
          <a:noFill/>
          <a:ln>
            <a:noFill/>
          </a:ln>
        </p:spPr>
        <p:txBody>
          <a:bodyPr wrap="square" lIns="0" tIns="18288" rIns="0" bIns="0" anchor="t"/>
          <a:lstStyle/>
          <a:p>
            <a:pPr marL="0" indent="0" algn="r">
              <a:spcBef>
                <a:spcPts val="0"/>
              </a:spcBef>
              <a:spcAft>
                <a:spcPts val="400"/>
              </a:spcAft>
              <a:buNone/>
            </a:pPr>
            <a:r>
              <a:rPr lang="en-US" sz="850" b="1" i="0" dirty="0">
                <a:solidFill>
                  <a:srgbClr val="1B365D"/>
                </a:solidFill>
                <a:latin typeface="Calibri"/>
                <a:cs typeface="Calibri"/>
              </a:rPr>
              <a:t>Slide 18 of 18</a:t>
            </a:r>
          </a:p>
        </p:txBody>
      </p:sp>
      <p:sp>
        <p:nvSpPr>
          <p:cNvPr id="8" name="TextBox 8"/>
          <p:cNvSpPr txBox="1"/>
          <p:nvPr/>
        </p:nvSpPr>
        <p:spPr>
          <a:xfrm>
            <a:off x="320040" y="868680"/>
            <a:ext cx="4160520" cy="3840480"/>
          </a:xfrm>
          <a:prstGeom prst="roundRect">
            <a:avLst>
              <a:gd name="adj" fmla="val 4000"/>
            </a:avLst>
          </a:prstGeom>
          <a:solidFill>
            <a:srgbClr val="F4F7FA"/>
          </a:solidFill>
          <a:ln w="12700">
            <a:solidFill>
              <a:srgbClr val="CBD5E1"/>
            </a:solidFill>
          </a:ln>
        </p:spPr>
        <p:txBody>
          <a:bodyPr wrap="square" lIns="73152" tIns="54864" rIns="73152" bIns="54864" anchor="t"/>
          <a:lstStyle/>
          <a:p>
            <a:pPr marL="0" indent="0" algn="l">
              <a:spcBef>
                <a:spcPts val="0"/>
              </a:spcBef>
              <a:spcAft>
                <a:spcPts val="600"/>
              </a:spcAft>
              <a:buNone/>
            </a:pPr>
            <a:r>
              <a:rPr lang="en-US" sz="1200" b="1" i="0" dirty="0">
                <a:solidFill>
                  <a:srgbClr val="1B365D"/>
                </a:solidFill>
                <a:latin typeface="Calibri"/>
                <a:cs typeface="Calibri"/>
              </a:rPr>
              <a:t>Future Improvements &amp; Extensions</a:t>
            </a:r>
          </a:p>
          <a:p>
            <a:pPr marL="190500" indent="-142875" algn="l">
              <a:spcBef>
                <a:spcPts val="0"/>
              </a:spcBef>
              <a:spcAft>
                <a:spcPts val="600"/>
              </a:spcAft>
              <a:buFont typeface="Arial"/>
              <a:buChar char="•"/>
            </a:pPr>
            <a:r>
              <a:rPr lang="en-US" sz="940" b="0" i="0" dirty="0">
                <a:solidFill>
                  <a:srgbClr val="1E293B"/>
                </a:solidFill>
                <a:latin typeface="Calibri"/>
                <a:cs typeface="Calibri"/>
              </a:rPr>
              <a:t>1. Include Additional Physical &amp; Chemical Predictors: Extend the regression model to include water temperature, pH, electrical conductivity, flow rate, and seasonal indicators to account for the remaining ~76% of DO variance.</a:t>
            </a:r>
          </a:p>
          <a:p>
            <a:pPr marL="190500" indent="-142875" algn="l">
              <a:spcBef>
                <a:spcPts val="0"/>
              </a:spcBef>
              <a:spcAft>
                <a:spcPts val="600"/>
              </a:spcAft>
              <a:buFont typeface="Arial"/>
              <a:buChar char="•"/>
            </a:pPr>
            <a:r>
              <a:rPr lang="en-US" sz="940" b="0" i="0" dirty="0">
                <a:solidFill>
                  <a:srgbClr val="1E293B"/>
                </a:solidFill>
                <a:latin typeface="Calibri"/>
                <a:cs typeface="Calibri"/>
              </a:rPr>
              <a:t>2. Non-Linear &amp; Bounded Regression Models: Use log-transformed BOD, Generalized Additive Models (GAMs), or tree-based models (Random Forests) that naturally respect the physical zero floor of Dissolved Oxygen (DO &gt;= 0 mg/L) across extreme BOD ranges.</a:t>
            </a:r>
          </a:p>
          <a:p>
            <a:pPr marL="190500" indent="-142875" algn="l">
              <a:spcBef>
                <a:spcPts val="0"/>
              </a:spcBef>
              <a:spcAft>
                <a:spcPts val="600"/>
              </a:spcAft>
              <a:buFont typeface="Arial"/>
              <a:buChar char="•"/>
            </a:pPr>
            <a:r>
              <a:rPr lang="en-US" sz="940" b="0" i="0" dirty="0">
                <a:solidFill>
                  <a:srgbClr val="1E293B"/>
                </a:solidFill>
                <a:latin typeface="Calibri"/>
                <a:cs typeface="Calibri"/>
              </a:rPr>
              <a:t>3. Spatiotemporal Cross-Validation: Implement river-basin-blocked and year-blocked cross-validation to evaluate forecasting performance across future monitoring years.</a:t>
            </a:r>
          </a:p>
          <a:p>
            <a:pPr marL="190500" indent="-142875" algn="l">
              <a:spcBef>
                <a:spcPts val="0"/>
              </a:spcBef>
              <a:spcAft>
                <a:spcPts val="400"/>
              </a:spcAft>
              <a:buFont typeface="Arial"/>
              <a:buChar char="•"/>
            </a:pPr>
            <a:r>
              <a:rPr lang="en-US" sz="940" b="0" i="0" dirty="0">
                <a:solidFill>
                  <a:srgbClr val="1E293B"/>
                </a:solidFill>
                <a:latin typeface="Calibri"/>
                <a:cs typeface="Calibri"/>
              </a:rPr>
              <a:t>4. Automated Sensor &amp; Lab QA Checks: Flag anomalous high-DO / high-BOD pairs at data ingestion.</a:t>
            </a:r>
          </a:p>
        </p:txBody>
      </p:sp>
      <p:sp>
        <p:nvSpPr>
          <p:cNvPr id="9" name="TextBox 9"/>
          <p:cNvSpPr txBox="1"/>
          <p:nvPr/>
        </p:nvSpPr>
        <p:spPr>
          <a:xfrm>
            <a:off x="4663440" y="868680"/>
            <a:ext cx="4160520" cy="3840480"/>
          </a:xfrm>
          <a:prstGeom prst="roundRect">
            <a:avLst>
              <a:gd name="adj" fmla="val 4000"/>
            </a:avLst>
          </a:prstGeom>
          <a:solidFill>
            <a:srgbClr val="E6F4F1"/>
          </a:solidFill>
          <a:ln w="12700">
            <a:solidFill>
              <a:srgbClr val="007A78"/>
            </a:solidFill>
          </a:ln>
        </p:spPr>
        <p:txBody>
          <a:bodyPr wrap="square" lIns="73152" tIns="54864" rIns="73152" bIns="54864" anchor="t"/>
          <a:lstStyle/>
          <a:p>
            <a:pPr marL="0" indent="0" algn="l">
              <a:spcBef>
                <a:spcPts val="0"/>
              </a:spcBef>
              <a:spcAft>
                <a:spcPts val="600"/>
              </a:spcAft>
              <a:buNone/>
            </a:pPr>
            <a:r>
              <a:rPr lang="en-US" sz="1200" b="1" i="0" dirty="0">
                <a:solidFill>
                  <a:srgbClr val="007A78"/>
                </a:solidFill>
                <a:latin typeface="Calibri"/>
                <a:cs typeface="Calibri"/>
              </a:rPr>
              <a:t>Official Data Sources &amp; References Used</a:t>
            </a:r>
          </a:p>
          <a:p>
            <a:pPr marL="190500" indent="-142875" algn="l">
              <a:spcBef>
                <a:spcPts val="0"/>
              </a:spcBef>
              <a:spcAft>
                <a:spcPts val="600"/>
              </a:spcAft>
              <a:buFont typeface="Arial"/>
              <a:buChar char="•"/>
            </a:pPr>
            <a:r>
              <a:rPr lang="en-US" sz="920" b="0" i="0" dirty="0">
                <a:solidFill>
                  <a:srgbClr val="1E293B"/>
                </a:solidFill>
                <a:latin typeface="Calibri"/>
                <a:cs typeface="Calibri"/>
              </a:rPr>
              <a:t>1. Primary Dataset — CPCB / NWDP (Govt. of India): Central Pollution Control Board (CPCB) &amp; National Water Data Portal (NWDP / National Water Informatics Centre, Ministry of Jal Shakti). Surface Water Quality Monitoring Data (Physical, Chemical, and Biological Categories, 315 state-wise CSV files, 2018–2024).</a:t>
            </a:r>
          </a:p>
          <a:p>
            <a:pPr marL="190500" indent="-142875" algn="l">
              <a:spcBef>
                <a:spcPts val="0"/>
              </a:spcBef>
              <a:spcAft>
                <a:spcPts val="600"/>
              </a:spcAft>
              <a:buFont typeface="Arial"/>
              <a:buChar char="•"/>
            </a:pPr>
            <a:r>
              <a:rPr lang="en-US" sz="920" b="0" i="0" dirty="0">
                <a:solidFill>
                  <a:srgbClr val="1E293B"/>
                </a:solidFill>
                <a:latin typeface="Calibri"/>
                <a:cs typeface="Calibri"/>
              </a:rPr>
              <a:t>2. Supplementary Historical Dataset — Kaggle: Indian Water Quality Data (water_dataX.csv, 1,991 raw records covering historical CPCB/NWMP station annual summaries from 2003–2014).</a:t>
            </a:r>
          </a:p>
          <a:p>
            <a:pPr marL="190500" indent="-142875" algn="l">
              <a:spcBef>
                <a:spcPts val="0"/>
              </a:spcBef>
              <a:spcAft>
                <a:spcPts val="600"/>
              </a:spcAft>
              <a:buFont typeface="Arial"/>
              <a:buChar char="•"/>
            </a:pPr>
            <a:r>
              <a:rPr lang="en-US" sz="920" b="0" i="0" dirty="0">
                <a:solidFill>
                  <a:srgbClr val="1E293B"/>
                </a:solidFill>
                <a:latin typeface="Calibri"/>
                <a:cs typeface="Calibri"/>
              </a:rPr>
              <a:t>3. Regulatory Water-Quality Thresholds: CPCB Designated Best Use Water Quality Criteria (Class C: Drinking water source after conventional treatment and disinfection: DO &gt;= 4.0 mg/L, BOD &lt;= 3.0 mg/L, pH 6.5–8.5).</a:t>
            </a:r>
          </a:p>
          <a:p>
            <a:pPr marL="190500" indent="-142875" algn="l">
              <a:spcBef>
                <a:spcPts val="0"/>
              </a:spcBef>
              <a:spcAft>
                <a:spcPts val="400"/>
              </a:spcAft>
              <a:buFont typeface="Arial"/>
              <a:buChar char="•"/>
            </a:pPr>
            <a:r>
              <a:rPr lang="en-US" sz="920" b="0" i="0" dirty="0">
                <a:solidFill>
                  <a:srgbClr val="1E293B"/>
                </a:solidFill>
                <a:latin typeface="Calibri"/>
                <a:cs typeface="Calibri"/>
              </a:rPr>
              <a:t>4. Software &amp; Reproducible Tooling: R (base R stats, lm, predict), dplyr, tidyr, readr, stringr, ggplot2, knitr, and rmarkdown.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Geographic and Seasonal Analysis of Surface Water Quality in India Using CPCB Monitoring Data</dc:title>
  <dc:creator>Emmanuel Jobin (2026EMAI20054)</dc:creator>
  <dc:subject>DSC 513 Introduction to Data Science Mini Project</dc:subject>
  <dc:description>18-Slide Academic Presentation with Speaker Notes</dc:description>
</cp:coreProperties>
</file>